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26" r:id="rId1"/>
  </p:sldMasterIdLst>
  <p:notesMasterIdLst>
    <p:notesMasterId r:id="rId24"/>
  </p:notesMasterIdLst>
  <p:handoutMasterIdLst>
    <p:handoutMasterId r:id="rId25"/>
  </p:handoutMasterIdLst>
  <p:sldIdLst>
    <p:sldId id="256" r:id="rId2"/>
    <p:sldId id="257" r:id="rId3"/>
    <p:sldId id="306" r:id="rId4"/>
    <p:sldId id="299" r:id="rId5"/>
    <p:sldId id="307" r:id="rId6"/>
    <p:sldId id="302" r:id="rId7"/>
    <p:sldId id="303" r:id="rId8"/>
    <p:sldId id="308" r:id="rId9"/>
    <p:sldId id="304" r:id="rId10"/>
    <p:sldId id="305" r:id="rId11"/>
    <p:sldId id="309" r:id="rId12"/>
    <p:sldId id="283" r:id="rId13"/>
    <p:sldId id="273" r:id="rId14"/>
    <p:sldId id="291" r:id="rId15"/>
    <p:sldId id="263" r:id="rId16"/>
    <p:sldId id="292" r:id="rId17"/>
    <p:sldId id="294" r:id="rId18"/>
    <p:sldId id="298" r:id="rId19"/>
    <p:sldId id="301" r:id="rId20"/>
    <p:sldId id="300" r:id="rId21"/>
    <p:sldId id="269" r:id="rId22"/>
    <p:sldId id="270" r:id="rId23"/>
  </p:sldIdLst>
  <p:sldSz cx="9144000" cy="6858000" type="screen4x3"/>
  <p:notesSz cx="6950075" cy="9236075"/>
  <p:defaultTextStyle>
    <a:defPPr>
      <a:defRPr lang="en-US"/>
    </a:defPPr>
    <a:lvl1pPr algn="l" rtl="0" fontAlgn="base">
      <a:spcBef>
        <a:spcPct val="0"/>
      </a:spcBef>
      <a:spcAft>
        <a:spcPct val="0"/>
      </a:spcAft>
      <a:defRPr sz="3000" kern="1200">
        <a:solidFill>
          <a:schemeClr val="tx1"/>
        </a:solidFill>
        <a:latin typeface="Arial" charset="0"/>
        <a:ea typeface="+mn-ea"/>
        <a:cs typeface="Arial" charset="0"/>
      </a:defRPr>
    </a:lvl1pPr>
    <a:lvl2pPr marL="457200" algn="l" rtl="0" fontAlgn="base">
      <a:spcBef>
        <a:spcPct val="0"/>
      </a:spcBef>
      <a:spcAft>
        <a:spcPct val="0"/>
      </a:spcAft>
      <a:defRPr sz="3000" kern="1200">
        <a:solidFill>
          <a:schemeClr val="tx1"/>
        </a:solidFill>
        <a:latin typeface="Arial" charset="0"/>
        <a:ea typeface="+mn-ea"/>
        <a:cs typeface="Arial" charset="0"/>
      </a:defRPr>
    </a:lvl2pPr>
    <a:lvl3pPr marL="914400" algn="l" rtl="0" fontAlgn="base">
      <a:spcBef>
        <a:spcPct val="0"/>
      </a:spcBef>
      <a:spcAft>
        <a:spcPct val="0"/>
      </a:spcAft>
      <a:defRPr sz="3000" kern="1200">
        <a:solidFill>
          <a:schemeClr val="tx1"/>
        </a:solidFill>
        <a:latin typeface="Arial" charset="0"/>
        <a:ea typeface="+mn-ea"/>
        <a:cs typeface="Arial" charset="0"/>
      </a:defRPr>
    </a:lvl3pPr>
    <a:lvl4pPr marL="1371600" algn="l" rtl="0" fontAlgn="base">
      <a:spcBef>
        <a:spcPct val="0"/>
      </a:spcBef>
      <a:spcAft>
        <a:spcPct val="0"/>
      </a:spcAft>
      <a:defRPr sz="3000" kern="1200">
        <a:solidFill>
          <a:schemeClr val="tx1"/>
        </a:solidFill>
        <a:latin typeface="Arial" charset="0"/>
        <a:ea typeface="+mn-ea"/>
        <a:cs typeface="Arial" charset="0"/>
      </a:defRPr>
    </a:lvl4pPr>
    <a:lvl5pPr marL="1828800" algn="l" rtl="0" fontAlgn="base">
      <a:spcBef>
        <a:spcPct val="0"/>
      </a:spcBef>
      <a:spcAft>
        <a:spcPct val="0"/>
      </a:spcAft>
      <a:defRPr sz="3000" kern="1200">
        <a:solidFill>
          <a:schemeClr val="tx1"/>
        </a:solidFill>
        <a:latin typeface="Arial" charset="0"/>
        <a:ea typeface="+mn-ea"/>
        <a:cs typeface="Arial" charset="0"/>
      </a:defRPr>
    </a:lvl5pPr>
    <a:lvl6pPr marL="2286000" algn="l" defTabSz="914400" rtl="0" eaLnBrk="1" latinLnBrk="0" hangingPunct="1">
      <a:defRPr sz="3000" kern="1200">
        <a:solidFill>
          <a:schemeClr val="tx1"/>
        </a:solidFill>
        <a:latin typeface="Arial" charset="0"/>
        <a:ea typeface="+mn-ea"/>
        <a:cs typeface="Arial" charset="0"/>
      </a:defRPr>
    </a:lvl6pPr>
    <a:lvl7pPr marL="2743200" algn="l" defTabSz="914400" rtl="0" eaLnBrk="1" latinLnBrk="0" hangingPunct="1">
      <a:defRPr sz="3000" kern="1200">
        <a:solidFill>
          <a:schemeClr val="tx1"/>
        </a:solidFill>
        <a:latin typeface="Arial" charset="0"/>
        <a:ea typeface="+mn-ea"/>
        <a:cs typeface="Arial" charset="0"/>
      </a:defRPr>
    </a:lvl7pPr>
    <a:lvl8pPr marL="3200400" algn="l" defTabSz="914400" rtl="0" eaLnBrk="1" latinLnBrk="0" hangingPunct="1">
      <a:defRPr sz="3000" kern="1200">
        <a:solidFill>
          <a:schemeClr val="tx1"/>
        </a:solidFill>
        <a:latin typeface="Arial" charset="0"/>
        <a:ea typeface="+mn-ea"/>
        <a:cs typeface="Arial" charset="0"/>
      </a:defRPr>
    </a:lvl8pPr>
    <a:lvl9pPr marL="3657600" algn="l" defTabSz="914400" rtl="0" eaLnBrk="1" latinLnBrk="0" hangingPunct="1">
      <a:defRPr sz="30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userDrawn="1">
          <p15:clr>
            <a:srgbClr val="A4A3A4"/>
          </p15:clr>
        </p15:guide>
        <p15:guide id="2" pos="218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0298EC"/>
    <a:srgbClr val="FFCC00"/>
    <a:srgbClr val="DDF0D4"/>
    <a:srgbClr val="D9F2C6"/>
    <a:srgbClr val="0000FF"/>
    <a:srgbClr val="FF33CC"/>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67" autoAdjust="0"/>
    <p:restoredTop sz="93333" autoAdjust="0"/>
  </p:normalViewPr>
  <p:slideViewPr>
    <p:cSldViewPr>
      <p:cViewPr varScale="1">
        <p:scale>
          <a:sx n="114" d="100"/>
          <a:sy n="114" d="100"/>
        </p:scale>
        <p:origin x="172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1404" y="732"/>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2738" name="Rectangle 2"/>
          <p:cNvSpPr>
            <a:spLocks noGrp="1" noChangeArrowheads="1"/>
          </p:cNvSpPr>
          <p:nvPr>
            <p:ph type="hdr" sz="quarter"/>
          </p:nvPr>
        </p:nvSpPr>
        <p:spPr bwMode="auto">
          <a:xfrm>
            <a:off x="1"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spcBef>
                <a:spcPct val="20000"/>
              </a:spcBef>
              <a:buFontTx/>
              <a:buNone/>
              <a:defRPr sz="1300">
                <a:latin typeface="Tahoma" pitchFamily="34" charset="0"/>
                <a:cs typeface="+mn-cs"/>
              </a:defRPr>
            </a:lvl1pPr>
          </a:lstStyle>
          <a:p>
            <a:pPr>
              <a:defRPr/>
            </a:pPr>
            <a:endParaRPr lang="en-US" dirty="0"/>
          </a:p>
        </p:txBody>
      </p:sp>
      <p:sp>
        <p:nvSpPr>
          <p:cNvPr id="372739" name="Rectangle 3"/>
          <p:cNvSpPr>
            <a:spLocks noGrp="1" noChangeArrowheads="1"/>
          </p:cNvSpPr>
          <p:nvPr>
            <p:ph type="dt" sz="quarter" idx="1"/>
          </p:nvPr>
        </p:nvSpPr>
        <p:spPr bwMode="auto">
          <a:xfrm>
            <a:off x="3937748"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endParaRPr lang="en-US" dirty="0"/>
          </a:p>
        </p:txBody>
      </p:sp>
      <p:sp>
        <p:nvSpPr>
          <p:cNvPr id="372740" name="Rectangle 4"/>
          <p:cNvSpPr>
            <a:spLocks noGrp="1" noChangeArrowheads="1"/>
          </p:cNvSpPr>
          <p:nvPr>
            <p:ph type="ftr" sz="quarter" idx="2"/>
          </p:nvPr>
        </p:nvSpPr>
        <p:spPr bwMode="auto">
          <a:xfrm>
            <a:off x="1" y="8773958"/>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spcBef>
                <a:spcPct val="20000"/>
              </a:spcBef>
              <a:buFontTx/>
              <a:buNone/>
              <a:defRPr sz="1300">
                <a:latin typeface="Tahoma" pitchFamily="34" charset="0"/>
                <a:cs typeface="+mn-cs"/>
              </a:defRPr>
            </a:lvl1pPr>
          </a:lstStyle>
          <a:p>
            <a:pPr>
              <a:defRPr/>
            </a:pPr>
            <a:r>
              <a:rPr lang="en-US" dirty="0"/>
              <a:t>Enrollment Projections - Why and How</a:t>
            </a:r>
          </a:p>
        </p:txBody>
      </p:sp>
      <p:sp>
        <p:nvSpPr>
          <p:cNvPr id="372741" name="Rectangle 5"/>
          <p:cNvSpPr>
            <a:spLocks noGrp="1" noChangeArrowheads="1"/>
          </p:cNvSpPr>
          <p:nvPr>
            <p:ph type="sldNum" sz="quarter" idx="3"/>
          </p:nvPr>
        </p:nvSpPr>
        <p:spPr bwMode="auto">
          <a:xfrm>
            <a:off x="3937748" y="8773958"/>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fld id="{D4EA7CEE-2394-4F9B-8C99-0BD898ABC9E8}" type="slidenum">
              <a:rPr lang="en-US"/>
              <a:pPr>
                <a:defRPr/>
              </a:pPr>
              <a:t>‹#›</a:t>
            </a:fld>
            <a:endParaRPr lang="en-US" dirty="0"/>
          </a:p>
        </p:txBody>
      </p:sp>
    </p:spTree>
    <p:extLst>
      <p:ext uri="{BB962C8B-B14F-4D97-AF65-F5344CB8AC3E}">
        <p14:creationId xmlns:p14="http://schemas.microsoft.com/office/powerpoint/2010/main" val="2048531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2510" name="Rectangle 14"/>
          <p:cNvSpPr>
            <a:spLocks noGrp="1" noChangeArrowheads="1"/>
          </p:cNvSpPr>
          <p:nvPr>
            <p:ph type="hdr" sz="quarter"/>
          </p:nvPr>
        </p:nvSpPr>
        <p:spPr bwMode="auto">
          <a:xfrm>
            <a:off x="1"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dirty="0"/>
          </a:p>
        </p:txBody>
      </p:sp>
      <p:sp>
        <p:nvSpPr>
          <p:cNvPr id="27651" name="Rectangle 15"/>
          <p:cNvSpPr>
            <a:spLocks noGrp="1" noRot="1" noChangeAspect="1" noChangeArrowheads="1" noTextEdit="1"/>
          </p:cNvSpPr>
          <p:nvPr>
            <p:ph type="sldImg" idx="2"/>
          </p:nvPr>
        </p:nvSpPr>
        <p:spPr bwMode="auto">
          <a:xfrm>
            <a:off x="1166813" y="692150"/>
            <a:ext cx="4616450"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2512" name="Rectangle 16"/>
          <p:cNvSpPr>
            <a:spLocks noGrp="1" noChangeArrowheads="1"/>
          </p:cNvSpPr>
          <p:nvPr>
            <p:ph type="body" sz="quarter" idx="3"/>
          </p:nvPr>
        </p:nvSpPr>
        <p:spPr bwMode="auto">
          <a:xfrm>
            <a:off x="926993" y="4386190"/>
            <a:ext cx="5096092" cy="4157496"/>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2513" name="Rectangle 17"/>
          <p:cNvSpPr>
            <a:spLocks noGrp="1" noChangeArrowheads="1"/>
          </p:cNvSpPr>
          <p:nvPr>
            <p:ph type="dt" idx="1"/>
          </p:nvPr>
        </p:nvSpPr>
        <p:spPr bwMode="auto">
          <a:xfrm>
            <a:off x="3937748"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endParaRPr lang="en-US" dirty="0"/>
          </a:p>
        </p:txBody>
      </p:sp>
      <p:sp>
        <p:nvSpPr>
          <p:cNvPr id="362514" name="Rectangle 18"/>
          <p:cNvSpPr>
            <a:spLocks noGrp="1" noChangeArrowheads="1"/>
          </p:cNvSpPr>
          <p:nvPr>
            <p:ph type="ftr" sz="quarter" idx="4"/>
          </p:nvPr>
        </p:nvSpPr>
        <p:spPr bwMode="auto">
          <a:xfrm>
            <a:off x="1" y="8773958"/>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dirty="0"/>
          </a:p>
        </p:txBody>
      </p:sp>
      <p:sp>
        <p:nvSpPr>
          <p:cNvPr id="362515" name="Rectangle 19"/>
          <p:cNvSpPr>
            <a:spLocks noGrp="1" noChangeArrowheads="1"/>
          </p:cNvSpPr>
          <p:nvPr>
            <p:ph type="sldNum" sz="quarter" idx="5"/>
          </p:nvPr>
        </p:nvSpPr>
        <p:spPr bwMode="auto">
          <a:xfrm>
            <a:off x="3937748" y="8773958"/>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fld id="{C4A85720-D93E-4351-AF84-D93DA6C7213A}" type="slidenum">
              <a:rPr lang="en-US"/>
              <a:pPr>
                <a:defRPr/>
              </a:pPr>
              <a:t>‹#›</a:t>
            </a:fld>
            <a:endParaRPr lang="en-US" dirty="0"/>
          </a:p>
        </p:txBody>
      </p:sp>
    </p:spTree>
    <p:extLst>
      <p:ext uri="{BB962C8B-B14F-4D97-AF65-F5344CB8AC3E}">
        <p14:creationId xmlns:p14="http://schemas.microsoft.com/office/powerpoint/2010/main" val="6316168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9"/>
          <p:cNvSpPr>
            <a:spLocks noGrp="1" noChangeArrowheads="1"/>
          </p:cNvSpPr>
          <p:nvPr>
            <p:ph type="sldNum" sz="quarter" idx="5"/>
          </p:nvPr>
        </p:nvSpPr>
        <p:spPr/>
        <p:txBody>
          <a:bodyPr/>
          <a:lstStyle/>
          <a:p>
            <a:pPr>
              <a:defRPr/>
            </a:pPr>
            <a:fld id="{3436AA5D-F24A-48A3-B49F-1391C759B1F5}" type="slidenum">
              <a:rPr lang="en-US" smtClean="0"/>
              <a:pPr>
                <a:defRPr/>
              </a:pPr>
              <a:t>1</a:t>
            </a:fld>
            <a:endParaRPr lang="en-US" dirty="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Frequently, presenters must deliver material of a technical nature to an audience unfamiliar with the topic or vocabulary.  The material may be complex or heavy with detail.  To present technical material effectively, use the following guidelines from Dale Carnegie Training®.</a:t>
            </a:r>
          </a:p>
          <a:p>
            <a:r>
              <a:rPr lang="en-US" dirty="0"/>
              <a:t> </a:t>
            </a:r>
          </a:p>
          <a:p>
            <a:r>
              <a:rPr lang="en-US" dirty="0"/>
              <a:t>Consider the amount of time available and prepare to organize your material.  Narrow your topic.  Divide your presentation into clear segments. Follow a logical progression. Maintain your focus throughout. Close the presentation with a summary, repetition of the key steps, or a logical conclusion.</a:t>
            </a:r>
          </a:p>
          <a:p>
            <a:r>
              <a:rPr lang="en-US" dirty="0"/>
              <a:t> </a:t>
            </a:r>
          </a:p>
          <a:p>
            <a:r>
              <a:rPr lang="en-US" dirty="0"/>
              <a:t>Keep your audience in mind at all times.  For example, be sure data is clear and information is relevant.  Keep the level of detail and vocabulary appropriate for the audience.  Use visuals to support key points or steps.  Keep alert to the needs of your listeners, and you will have a more receptive audience.</a:t>
            </a:r>
          </a:p>
        </p:txBody>
      </p:sp>
    </p:spTree>
    <p:extLst>
      <p:ext uri="{BB962C8B-B14F-4D97-AF65-F5344CB8AC3E}">
        <p14:creationId xmlns:p14="http://schemas.microsoft.com/office/powerpoint/2010/main" val="535683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3DE0193-D1BF-4952-98EF-3903CD0E6D36}" type="datetime1">
              <a:rPr lang="en-US"/>
              <a:pPr>
                <a:defRPr/>
              </a:pPr>
              <a:t>4/5/2022</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17F6527C-09EA-4256-9CF7-89437F3A6D56}" type="slidenum">
              <a:rPr lang="en-US" altLang="en-US"/>
              <a:pPr>
                <a:defRPr/>
              </a:pPr>
              <a:t>‹#›</a:t>
            </a:fld>
            <a:endParaRPr lang="en-US" altLang="en-US" dirty="0"/>
          </a:p>
        </p:txBody>
      </p:sp>
    </p:spTree>
    <p:extLst>
      <p:ext uri="{BB962C8B-B14F-4D97-AF65-F5344CB8AC3E}">
        <p14:creationId xmlns:p14="http://schemas.microsoft.com/office/powerpoint/2010/main" val="2550263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5B004B1-B11D-4B2B-85C6-0EECC016E13F}" type="datetime1">
              <a:rPr lang="en-US"/>
              <a:pPr>
                <a:defRPr/>
              </a:pPr>
              <a:t>4/5/2022</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1A25CF7E-05FF-4B4A-9944-BE57E82D8571}" type="slidenum">
              <a:rPr lang="en-US" altLang="en-US"/>
              <a:pPr>
                <a:defRPr/>
              </a:pPr>
              <a:t>‹#›</a:t>
            </a:fld>
            <a:endParaRPr lang="en-US" altLang="en-US" dirty="0"/>
          </a:p>
        </p:txBody>
      </p:sp>
    </p:spTree>
    <p:extLst>
      <p:ext uri="{BB962C8B-B14F-4D97-AF65-F5344CB8AC3E}">
        <p14:creationId xmlns:p14="http://schemas.microsoft.com/office/powerpoint/2010/main" val="2156161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1A3FD60-6DEF-4021-A4BD-2ABEBDDE8F87}" type="datetime1">
              <a:rPr lang="en-US"/>
              <a:pPr>
                <a:defRPr/>
              </a:pPr>
              <a:t>4/5/2022</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141FDA88-53DF-491F-ACF1-54DC3129BB39}" type="slidenum">
              <a:rPr lang="en-US" altLang="en-US"/>
              <a:pPr>
                <a:defRPr/>
              </a:pPr>
              <a:t>‹#›</a:t>
            </a:fld>
            <a:endParaRPr lang="en-US" altLang="en-US" dirty="0"/>
          </a:p>
        </p:txBody>
      </p:sp>
    </p:spTree>
    <p:extLst>
      <p:ext uri="{BB962C8B-B14F-4D97-AF65-F5344CB8AC3E}">
        <p14:creationId xmlns:p14="http://schemas.microsoft.com/office/powerpoint/2010/main" val="979629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C1EA10C-0A2F-4B1C-AFD5-D695854A4BB0}" type="datetime1">
              <a:rPr lang="en-US"/>
              <a:pPr>
                <a:defRPr/>
              </a:pPr>
              <a:t>4/5/2022</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altLang="en-US" dirty="0"/>
          </a:p>
        </p:txBody>
      </p:sp>
      <p:sp>
        <p:nvSpPr>
          <p:cNvPr id="7" name="Slide Number Placeholder 5"/>
          <p:cNvSpPr>
            <a:spLocks noGrp="1"/>
          </p:cNvSpPr>
          <p:nvPr>
            <p:ph type="sldNum" sz="quarter" idx="12"/>
          </p:nvPr>
        </p:nvSpPr>
        <p:spPr/>
        <p:txBody>
          <a:bodyPr/>
          <a:lstStyle>
            <a:lvl1pPr>
              <a:defRPr/>
            </a:lvl1pPr>
          </a:lstStyle>
          <a:p>
            <a:pPr>
              <a:defRPr/>
            </a:pPr>
            <a:fld id="{453DE79C-EF84-454B-BCEC-3BC154D27F88}" type="slidenum">
              <a:rPr lang="en-US" altLang="en-US"/>
              <a:pPr>
                <a:defRPr/>
              </a:pPr>
              <a:t>‹#›</a:t>
            </a:fld>
            <a:endParaRPr lang="en-US" altLang="en-US" dirty="0"/>
          </a:p>
        </p:txBody>
      </p:sp>
    </p:spTree>
    <p:extLst>
      <p:ext uri="{BB962C8B-B14F-4D97-AF65-F5344CB8AC3E}">
        <p14:creationId xmlns:p14="http://schemas.microsoft.com/office/powerpoint/2010/main" val="2119755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53024006-7966-4ECD-A578-A76B2F86F361}" type="datetime1">
              <a:rPr lang="en-US"/>
              <a:pPr>
                <a:defRPr/>
              </a:pPr>
              <a:t>4/5/2022</a:t>
            </a:fld>
            <a:endParaRPr lang="en-US" altLang="en-US" dirty="0"/>
          </a:p>
        </p:txBody>
      </p:sp>
      <p:sp>
        <p:nvSpPr>
          <p:cNvPr id="8" name="Footer Placeholder 4"/>
          <p:cNvSpPr>
            <a:spLocks noGrp="1"/>
          </p:cNvSpPr>
          <p:nvPr>
            <p:ph type="ftr" sz="quarter" idx="11"/>
          </p:nvPr>
        </p:nvSpPr>
        <p:spPr/>
        <p:txBody>
          <a:bodyPr/>
          <a:lstStyle>
            <a:lvl1pPr>
              <a:defRPr/>
            </a:lvl1pPr>
          </a:lstStyle>
          <a:p>
            <a:pPr>
              <a:defRPr/>
            </a:pPr>
            <a:endParaRPr lang="en-US" altLang="en-US" dirty="0"/>
          </a:p>
        </p:txBody>
      </p:sp>
      <p:sp>
        <p:nvSpPr>
          <p:cNvPr id="9" name="Slide Number Placeholder 5"/>
          <p:cNvSpPr>
            <a:spLocks noGrp="1"/>
          </p:cNvSpPr>
          <p:nvPr>
            <p:ph type="sldNum" sz="quarter" idx="12"/>
          </p:nvPr>
        </p:nvSpPr>
        <p:spPr/>
        <p:txBody>
          <a:bodyPr/>
          <a:lstStyle>
            <a:lvl1pPr>
              <a:defRPr/>
            </a:lvl1pPr>
          </a:lstStyle>
          <a:p>
            <a:pPr>
              <a:defRPr/>
            </a:pPr>
            <a:fld id="{68C69CCE-16DC-4A83-BF74-B88FF4FECC36}" type="slidenum">
              <a:rPr lang="en-US" altLang="en-US"/>
              <a:pPr>
                <a:defRPr/>
              </a:pPr>
              <a:t>‹#›</a:t>
            </a:fld>
            <a:endParaRPr lang="en-US" altLang="en-US" dirty="0"/>
          </a:p>
        </p:txBody>
      </p:sp>
    </p:spTree>
    <p:extLst>
      <p:ext uri="{BB962C8B-B14F-4D97-AF65-F5344CB8AC3E}">
        <p14:creationId xmlns:p14="http://schemas.microsoft.com/office/powerpoint/2010/main" val="1364594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56A08AC-DA96-4507-9F67-1768BC2BD5B0}" type="datetime1">
              <a:rPr lang="en-US"/>
              <a:pPr>
                <a:defRPr/>
              </a:pPr>
              <a:t>4/5/2022</a:t>
            </a:fld>
            <a:endParaRPr lang="en-US" altLang="en-US" dirty="0"/>
          </a:p>
        </p:txBody>
      </p:sp>
      <p:sp>
        <p:nvSpPr>
          <p:cNvPr id="4" name="Footer Placeholder 4"/>
          <p:cNvSpPr>
            <a:spLocks noGrp="1"/>
          </p:cNvSpPr>
          <p:nvPr>
            <p:ph type="ftr" sz="quarter" idx="11"/>
          </p:nvPr>
        </p:nvSpPr>
        <p:spPr/>
        <p:txBody>
          <a:bodyPr/>
          <a:lstStyle>
            <a:lvl1pPr>
              <a:defRPr/>
            </a:lvl1pPr>
          </a:lstStyle>
          <a:p>
            <a:pPr>
              <a:defRPr/>
            </a:pPr>
            <a:endParaRPr lang="en-US" altLang="en-US" dirty="0"/>
          </a:p>
        </p:txBody>
      </p:sp>
      <p:sp>
        <p:nvSpPr>
          <p:cNvPr id="5" name="Slide Number Placeholder 5"/>
          <p:cNvSpPr>
            <a:spLocks noGrp="1"/>
          </p:cNvSpPr>
          <p:nvPr>
            <p:ph type="sldNum" sz="quarter" idx="12"/>
          </p:nvPr>
        </p:nvSpPr>
        <p:spPr/>
        <p:txBody>
          <a:bodyPr/>
          <a:lstStyle>
            <a:lvl1pPr>
              <a:defRPr/>
            </a:lvl1pPr>
          </a:lstStyle>
          <a:p>
            <a:pPr>
              <a:defRPr/>
            </a:pPr>
            <a:fld id="{D046D30B-1D77-4CBB-9C49-B44ACFBF2BED}" type="slidenum">
              <a:rPr lang="en-US" altLang="en-US"/>
              <a:pPr>
                <a:defRPr/>
              </a:pPr>
              <a:t>‹#›</a:t>
            </a:fld>
            <a:endParaRPr lang="en-US" altLang="en-US" dirty="0"/>
          </a:p>
        </p:txBody>
      </p:sp>
    </p:spTree>
    <p:extLst>
      <p:ext uri="{BB962C8B-B14F-4D97-AF65-F5344CB8AC3E}">
        <p14:creationId xmlns:p14="http://schemas.microsoft.com/office/powerpoint/2010/main" val="2060847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CE20353-6F25-40D7-B75D-60763B9D47E1}" type="datetime1">
              <a:rPr lang="en-US"/>
              <a:pPr>
                <a:defRPr/>
              </a:pPr>
              <a:t>4/5/2022</a:t>
            </a:fld>
            <a:endParaRPr lang="en-US" altLang="en-US" dirty="0"/>
          </a:p>
        </p:txBody>
      </p:sp>
      <p:sp>
        <p:nvSpPr>
          <p:cNvPr id="3" name="Footer Placeholder 4"/>
          <p:cNvSpPr>
            <a:spLocks noGrp="1"/>
          </p:cNvSpPr>
          <p:nvPr>
            <p:ph type="ftr" sz="quarter" idx="11"/>
          </p:nvPr>
        </p:nvSpPr>
        <p:spPr/>
        <p:txBody>
          <a:bodyPr/>
          <a:lstStyle>
            <a:lvl1pPr>
              <a:defRPr/>
            </a:lvl1pPr>
          </a:lstStyle>
          <a:p>
            <a:pPr>
              <a:defRPr/>
            </a:pPr>
            <a:endParaRPr lang="en-US" altLang="en-US" dirty="0"/>
          </a:p>
        </p:txBody>
      </p:sp>
      <p:sp>
        <p:nvSpPr>
          <p:cNvPr id="4" name="Slide Number Placeholder 5"/>
          <p:cNvSpPr>
            <a:spLocks noGrp="1"/>
          </p:cNvSpPr>
          <p:nvPr>
            <p:ph type="sldNum" sz="quarter" idx="12"/>
          </p:nvPr>
        </p:nvSpPr>
        <p:spPr/>
        <p:txBody>
          <a:bodyPr/>
          <a:lstStyle>
            <a:lvl1pPr>
              <a:defRPr/>
            </a:lvl1pPr>
          </a:lstStyle>
          <a:p>
            <a:pPr>
              <a:defRPr/>
            </a:pPr>
            <a:fld id="{81627D45-3680-4120-ADEC-2D4CED3EEEA1}" type="slidenum">
              <a:rPr lang="en-US" altLang="en-US"/>
              <a:pPr>
                <a:defRPr/>
              </a:pPr>
              <a:t>‹#›</a:t>
            </a:fld>
            <a:endParaRPr lang="en-US" altLang="en-US" dirty="0"/>
          </a:p>
        </p:txBody>
      </p:sp>
    </p:spTree>
    <p:extLst>
      <p:ext uri="{BB962C8B-B14F-4D97-AF65-F5344CB8AC3E}">
        <p14:creationId xmlns:p14="http://schemas.microsoft.com/office/powerpoint/2010/main" val="1407093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6D603D2-A6C6-48B0-812F-90F123834752}" type="datetime1">
              <a:rPr lang="en-US"/>
              <a:pPr>
                <a:defRPr/>
              </a:pPr>
              <a:t>4/5/2022</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altLang="en-US" dirty="0"/>
          </a:p>
        </p:txBody>
      </p:sp>
      <p:sp>
        <p:nvSpPr>
          <p:cNvPr id="7" name="Slide Number Placeholder 5"/>
          <p:cNvSpPr>
            <a:spLocks noGrp="1"/>
          </p:cNvSpPr>
          <p:nvPr>
            <p:ph type="sldNum" sz="quarter" idx="12"/>
          </p:nvPr>
        </p:nvSpPr>
        <p:spPr/>
        <p:txBody>
          <a:bodyPr/>
          <a:lstStyle>
            <a:lvl1pPr>
              <a:defRPr/>
            </a:lvl1pPr>
          </a:lstStyle>
          <a:p>
            <a:pPr>
              <a:defRPr/>
            </a:pPr>
            <a:fld id="{6ACF822A-BFFB-4365-AFE5-43BEEE997710}" type="slidenum">
              <a:rPr lang="en-US" altLang="en-US"/>
              <a:pPr>
                <a:defRPr/>
              </a:pPr>
              <a:t>‹#›</a:t>
            </a:fld>
            <a:endParaRPr lang="en-US" altLang="en-US" dirty="0"/>
          </a:p>
        </p:txBody>
      </p:sp>
    </p:spTree>
    <p:extLst>
      <p:ext uri="{BB962C8B-B14F-4D97-AF65-F5344CB8AC3E}">
        <p14:creationId xmlns:p14="http://schemas.microsoft.com/office/powerpoint/2010/main" val="1934487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FD799C1-8FC9-44B8-9522-2C9BF5C670C5}" type="datetime1">
              <a:rPr lang="en-US"/>
              <a:pPr>
                <a:defRPr/>
              </a:pPr>
              <a:t>4/5/2022</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altLang="en-US" dirty="0"/>
          </a:p>
        </p:txBody>
      </p:sp>
      <p:sp>
        <p:nvSpPr>
          <p:cNvPr id="7" name="Slide Number Placeholder 5"/>
          <p:cNvSpPr>
            <a:spLocks noGrp="1"/>
          </p:cNvSpPr>
          <p:nvPr>
            <p:ph type="sldNum" sz="quarter" idx="12"/>
          </p:nvPr>
        </p:nvSpPr>
        <p:spPr/>
        <p:txBody>
          <a:bodyPr/>
          <a:lstStyle>
            <a:lvl1pPr>
              <a:defRPr/>
            </a:lvl1pPr>
          </a:lstStyle>
          <a:p>
            <a:pPr>
              <a:defRPr/>
            </a:pPr>
            <a:fld id="{48354902-845C-42AB-8626-F072442D32F7}" type="slidenum">
              <a:rPr lang="en-US" altLang="en-US"/>
              <a:pPr>
                <a:defRPr/>
              </a:pPr>
              <a:t>‹#›</a:t>
            </a:fld>
            <a:endParaRPr lang="en-US" altLang="en-US" dirty="0"/>
          </a:p>
        </p:txBody>
      </p:sp>
    </p:spTree>
    <p:extLst>
      <p:ext uri="{BB962C8B-B14F-4D97-AF65-F5344CB8AC3E}">
        <p14:creationId xmlns:p14="http://schemas.microsoft.com/office/powerpoint/2010/main" val="3984554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CEEE49E-90D7-4DC4-B4A7-A2F2BE7F8A81}" type="datetime1">
              <a:rPr lang="en-US"/>
              <a:pPr>
                <a:defRPr/>
              </a:pPr>
              <a:t>4/5/2022</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1773F5B0-CD4F-4AC1-8324-39D68F78EFED}" type="slidenum">
              <a:rPr lang="en-US" altLang="en-US"/>
              <a:pPr>
                <a:defRPr/>
              </a:pPr>
              <a:t>‹#›</a:t>
            </a:fld>
            <a:endParaRPr lang="en-US" altLang="en-US" dirty="0"/>
          </a:p>
        </p:txBody>
      </p:sp>
    </p:spTree>
    <p:extLst>
      <p:ext uri="{BB962C8B-B14F-4D97-AF65-F5344CB8AC3E}">
        <p14:creationId xmlns:p14="http://schemas.microsoft.com/office/powerpoint/2010/main" val="3616181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9B0FEA6-688D-4F5C-93FE-DEECFF1AB383}" type="datetime1">
              <a:rPr lang="en-US"/>
              <a:pPr>
                <a:defRPr/>
              </a:pPr>
              <a:t>4/5/2022</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2E7AA040-820A-4231-839E-5B1AD38EE386}" type="slidenum">
              <a:rPr lang="en-US" altLang="en-US"/>
              <a:pPr>
                <a:defRPr/>
              </a:pPr>
              <a:t>‹#›</a:t>
            </a:fld>
            <a:endParaRPr lang="en-US" altLang="en-US" dirty="0"/>
          </a:p>
        </p:txBody>
      </p:sp>
    </p:spTree>
    <p:extLst>
      <p:ext uri="{BB962C8B-B14F-4D97-AF65-F5344CB8AC3E}">
        <p14:creationId xmlns:p14="http://schemas.microsoft.com/office/powerpoint/2010/main" val="3538952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19000"/>
            <a:lum/>
          </a:blip>
          <a:srcRect/>
          <a:stretch>
            <a:fillRect l="-16000" r="-16000"/>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FE7F0EA-49D4-45A4-9C97-6B9A48DA8217}" type="datetime1">
              <a:rPr lang="en-US"/>
              <a:pPr>
                <a:defRPr/>
              </a:pPr>
              <a:t>4/5/2022</a:t>
            </a:fld>
            <a:endParaRPr lang="en-US" alt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E7F75AF0-187E-407A-8136-888F64E12E5D}"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4127" r:id="rId1"/>
    <p:sldLayoutId id="2147484128" r:id="rId2"/>
    <p:sldLayoutId id="2147484129" r:id="rId3"/>
    <p:sldLayoutId id="2147484130" r:id="rId4"/>
    <p:sldLayoutId id="2147484131" r:id="rId5"/>
    <p:sldLayoutId id="2147484132" r:id="rId6"/>
    <p:sldLayoutId id="2147484133" r:id="rId7"/>
    <p:sldLayoutId id="2147484134" r:id="rId8"/>
    <p:sldLayoutId id="2147484135" r:id="rId9"/>
    <p:sldLayoutId id="2147484136" r:id="rId10"/>
    <p:sldLayoutId id="2147484137" r:id="rId11"/>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209800"/>
            <a:ext cx="466883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p:txBody>
          <a:bodyPr/>
          <a:lstStyle/>
          <a:p>
            <a:r>
              <a:rPr lang="en-US" b="1" dirty="0">
                <a:latin typeface="Times New Roman" panose="02020603050405020304" pitchFamily="18" charset="0"/>
                <a:ea typeface="Tahoma" panose="020B0604030504040204" pitchFamily="34" charset="0"/>
                <a:cs typeface="Times New Roman" panose="02020603050405020304" pitchFamily="18" charset="0"/>
              </a:rPr>
              <a:t>Business Services Update</a:t>
            </a:r>
          </a:p>
          <a:p>
            <a:r>
              <a:rPr lang="en-US" b="1" dirty="0">
                <a:latin typeface="Times New Roman" panose="02020603050405020304" pitchFamily="18" charset="0"/>
                <a:ea typeface="Tahoma" panose="020B0604030504040204" pitchFamily="34" charset="0"/>
                <a:cs typeface="Times New Roman" panose="02020603050405020304" pitchFamily="18" charset="0"/>
              </a:rPr>
              <a:t>Board of Education Workshop</a:t>
            </a:r>
          </a:p>
          <a:p>
            <a:r>
              <a:rPr lang="en-US" b="1" dirty="0">
                <a:latin typeface="Times New Roman" panose="02020603050405020304" pitchFamily="18" charset="0"/>
                <a:ea typeface="Tahoma" panose="020B0604030504040204" pitchFamily="34" charset="0"/>
                <a:cs typeface="Times New Roman" panose="02020603050405020304" pitchFamily="18" charset="0"/>
              </a:rPr>
              <a:t>April 5, 2022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Agenda</a:t>
            </a: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657600" y="6096000"/>
            <a:ext cx="2210525" cy="468994"/>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2</a:t>
            </a:fld>
            <a:endParaRPr lang="en-US" altLang="en-US" sz="1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609962" y="1690062"/>
            <a:ext cx="8305800" cy="3785652"/>
          </a:xfrm>
          <a:prstGeom prst="rect">
            <a:avLst/>
          </a:prstGeom>
          <a:noFill/>
        </p:spPr>
        <p:txBody>
          <a:bodyPr wrap="square" rtlCol="0">
            <a:spAutoFit/>
          </a:bodyPr>
          <a:lstStyle/>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2021-22 Ancillary Fund Budgets Amendment #1</a:t>
            </a:r>
          </a:p>
          <a:p>
            <a:pPr marL="914400" lvl="1"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Food Service Fund </a:t>
            </a:r>
          </a:p>
          <a:p>
            <a:pPr marL="914400" lvl="1"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Community Service Fund </a:t>
            </a:r>
          </a:p>
          <a:p>
            <a:pPr marL="914400" lvl="1"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Preschool Fund </a:t>
            </a:r>
          </a:p>
          <a:p>
            <a:pPr lvl="1"/>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2021-22 General Fund Budget Amendment #2</a:t>
            </a:r>
          </a:p>
          <a:p>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3 Year General Fund Projections </a:t>
            </a:r>
          </a:p>
          <a:p>
            <a:r>
              <a:rPr lang="en-US" sz="2000" b="1" dirty="0">
                <a:latin typeface="Times New Roman" panose="02020603050405020304" pitchFamily="18" charset="0"/>
                <a:cs typeface="Times New Roman" panose="02020603050405020304" pitchFamily="18" charset="0"/>
              </a:rPr>
              <a:t> </a:t>
            </a: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Budget Schedule </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660401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Food Service Amendment Highlights</a:t>
            </a: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810000" y="6277855"/>
            <a:ext cx="2210525" cy="468994"/>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3</a:t>
            </a:fld>
            <a:endParaRPr lang="en-US" altLang="en-US" sz="1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363984" y="1456616"/>
            <a:ext cx="8305800" cy="5016758"/>
          </a:xfrm>
          <a:prstGeom prst="rect">
            <a:avLst/>
          </a:prstGeom>
          <a:noFill/>
        </p:spPr>
        <p:txBody>
          <a:bodyPr wrap="square" rtlCol="0">
            <a:spAutoFit/>
          </a:bodyPr>
          <a:lstStyle/>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$1.35 Million Surplus</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62% increase in meals served per day; 72% increase in participation</a:t>
            </a:r>
          </a:p>
          <a:p>
            <a:pPr marL="457200" indent="-457200">
              <a:buFont typeface="Wingdings" panose="05000000000000000000" pitchFamily="2" charset="2"/>
              <a:buChar char="Ø"/>
            </a:pPr>
            <a:endParaRPr lang="en-US" sz="2000" b="1" dirty="0">
              <a:highlight>
                <a:srgbClr val="FFFF00"/>
              </a:highligh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24% increase in federal reimbursement rate from pre-pandemic: </a:t>
            </a:r>
          </a:p>
          <a:p>
            <a:pPr marL="1371600" lvl="2"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Pre-Pandemic: $3.48 </a:t>
            </a:r>
          </a:p>
          <a:p>
            <a:pPr marL="1371600" lvl="2"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Current: $4.32</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Contractual Obligation Reconciled</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$300K anticipated excess fund balance</a:t>
            </a:r>
          </a:p>
          <a:p>
            <a:pPr marL="914400" lvl="1"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Spend down plan will be developed including purchase of additional equipment.</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$1.64 Million Fund Balance</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769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C38953C-B5FA-4F62-B4D2-4BE99F0ABA5B}"/>
              </a:ext>
            </a:extLst>
          </p:cNvPr>
          <p:cNvSpPr>
            <a:spLocks noGrp="1"/>
          </p:cNvSpPr>
          <p:nvPr>
            <p:ph type="title"/>
          </p:nvPr>
        </p:nvSpPr>
        <p:spPr>
          <a:xfrm>
            <a:off x="495300" y="297656"/>
            <a:ext cx="8153400" cy="868362"/>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Food Service Fund Amendment #1</a:t>
            </a:r>
            <a:endParaRPr lang="en-US" sz="32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D5557A0-12FB-4B55-B393-8D5CB6609C45}"/>
              </a:ext>
            </a:extLst>
          </p:cNvPr>
          <p:cNvPicPr>
            <a:picLocks noChangeAspect="1"/>
          </p:cNvPicPr>
          <p:nvPr/>
        </p:nvPicPr>
        <p:blipFill>
          <a:blip r:embed="rId2"/>
          <a:stretch>
            <a:fillRect/>
          </a:stretch>
        </p:blipFill>
        <p:spPr>
          <a:xfrm>
            <a:off x="1066598" y="1181182"/>
            <a:ext cx="7010803" cy="5175168"/>
          </a:xfrm>
          <a:prstGeom prst="rect">
            <a:avLst/>
          </a:prstGeom>
          <a:noFill/>
        </p:spPr>
      </p:pic>
      <p:sp>
        <p:nvSpPr>
          <p:cNvPr id="16" name="Slide Number Placeholder 3">
            <a:extLst>
              <a:ext uri="{FF2B5EF4-FFF2-40B4-BE49-F238E27FC236}">
                <a16:creationId xmlns:a16="http://schemas.microsoft.com/office/drawing/2014/main" id="{4AA8DAD6-79E8-481A-BECE-D991492D7B58}"/>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1A25CF7E-05FF-4B4A-9944-BE57E82D8571}" type="slidenum">
              <a:rPr lang="en-US" altLang="en-US"/>
              <a:pPr>
                <a:spcAft>
                  <a:spcPts val="600"/>
                </a:spcAft>
                <a:defRPr/>
              </a:pPr>
              <a:t>4</a:t>
            </a:fld>
            <a:endParaRPr lang="en-US" altLang="en-US" dirty="0"/>
          </a:p>
        </p:txBody>
      </p:sp>
      <p:sp>
        <p:nvSpPr>
          <p:cNvPr id="4" name="Slide Number Placeholder 3" hidden="1">
            <a:extLst>
              <a:ext uri="{FF2B5EF4-FFF2-40B4-BE49-F238E27FC236}">
                <a16:creationId xmlns:a16="http://schemas.microsoft.com/office/drawing/2014/main" id="{7619BB8E-0483-4DED-849D-D298838F36A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4</a:t>
            </a:fld>
            <a:endParaRPr lang="en-US" altLang="en-US" dirty="0"/>
          </a:p>
        </p:txBody>
      </p:sp>
    </p:spTree>
    <p:extLst>
      <p:ext uri="{BB962C8B-B14F-4D97-AF65-F5344CB8AC3E}">
        <p14:creationId xmlns:p14="http://schemas.microsoft.com/office/powerpoint/2010/main" val="610849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Community Service Fund Amendment Highlights</a:t>
            </a: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657600" y="6096000"/>
            <a:ext cx="2210525" cy="468994"/>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5</a:t>
            </a:fld>
            <a:endParaRPr lang="en-US" altLang="en-US"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9738584-63E0-4AF5-B5BA-DF2281D1B722}"/>
              </a:ext>
            </a:extLst>
          </p:cNvPr>
          <p:cNvSpPr txBox="1"/>
          <p:nvPr/>
        </p:nvSpPr>
        <p:spPr>
          <a:xfrm>
            <a:off x="609962" y="1690062"/>
            <a:ext cx="8305800" cy="4401205"/>
          </a:xfrm>
          <a:prstGeom prst="rect">
            <a:avLst/>
          </a:prstGeom>
          <a:noFill/>
        </p:spPr>
        <p:txBody>
          <a:bodyPr wrap="square" rtlCol="0">
            <a:spAutoFit/>
          </a:bodyPr>
          <a:lstStyle/>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Care and Community Recreation</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$900K surplus; $1.2 million federal stabilization revenue; $800K transfer to GF (Live Program Cost Recovery)</a:t>
            </a:r>
          </a:p>
          <a:p>
            <a:pPr marL="914400" lvl="1"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1 month of no charge for care</a:t>
            </a:r>
          </a:p>
          <a:p>
            <a:pPr lvl="1"/>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Net $126 K surplus</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$1.2 million federal stabilization funds deferred</a:t>
            </a:r>
          </a:p>
          <a:p>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Expenditures reconciled and adjusted as necessary</a:t>
            </a:r>
          </a:p>
          <a:p>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$413K Fund balance</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9013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C38953C-B5FA-4F62-B4D2-4BE99F0ABA5B}"/>
              </a:ext>
            </a:extLst>
          </p:cNvPr>
          <p:cNvSpPr>
            <a:spLocks noGrp="1"/>
          </p:cNvSpPr>
          <p:nvPr>
            <p:ph type="title"/>
          </p:nvPr>
        </p:nvSpPr>
        <p:spPr>
          <a:xfrm>
            <a:off x="495300" y="259556"/>
            <a:ext cx="8153400" cy="807244"/>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Community Services Fund Amendment #1</a:t>
            </a:r>
            <a:endParaRPr lang="en-US" sz="3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72809A9-2B6C-439C-9F9D-626447BCDD6F}"/>
              </a:ext>
            </a:extLst>
          </p:cNvPr>
          <p:cNvPicPr>
            <a:picLocks noChangeAspect="1"/>
          </p:cNvPicPr>
          <p:nvPr/>
        </p:nvPicPr>
        <p:blipFill>
          <a:blip r:embed="rId2"/>
          <a:stretch>
            <a:fillRect/>
          </a:stretch>
        </p:blipFill>
        <p:spPr>
          <a:xfrm>
            <a:off x="1044462" y="1178080"/>
            <a:ext cx="7055075" cy="5420364"/>
          </a:xfrm>
          <a:prstGeom prst="rect">
            <a:avLst/>
          </a:prstGeom>
          <a:noFill/>
        </p:spPr>
      </p:pic>
      <p:sp>
        <p:nvSpPr>
          <p:cNvPr id="16" name="Slide Number Placeholder 3">
            <a:extLst>
              <a:ext uri="{FF2B5EF4-FFF2-40B4-BE49-F238E27FC236}">
                <a16:creationId xmlns:a16="http://schemas.microsoft.com/office/drawing/2014/main" id="{4AA8DAD6-79E8-481A-BECE-D991492D7B58}"/>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1A25CF7E-05FF-4B4A-9944-BE57E82D8571}" type="slidenum">
              <a:rPr lang="en-US" altLang="en-US"/>
              <a:pPr>
                <a:spcAft>
                  <a:spcPts val="600"/>
                </a:spcAft>
                <a:defRPr/>
              </a:pPr>
              <a:t>6</a:t>
            </a:fld>
            <a:endParaRPr lang="en-US" altLang="en-US" dirty="0"/>
          </a:p>
        </p:txBody>
      </p:sp>
      <p:sp>
        <p:nvSpPr>
          <p:cNvPr id="4" name="Slide Number Placeholder 3" hidden="1">
            <a:extLst>
              <a:ext uri="{FF2B5EF4-FFF2-40B4-BE49-F238E27FC236}">
                <a16:creationId xmlns:a16="http://schemas.microsoft.com/office/drawing/2014/main" id="{7619BB8E-0483-4DED-849D-D298838F36A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6</a:t>
            </a:fld>
            <a:endParaRPr lang="en-US" altLang="en-US" dirty="0"/>
          </a:p>
        </p:txBody>
      </p:sp>
    </p:spTree>
    <p:extLst>
      <p:ext uri="{BB962C8B-B14F-4D97-AF65-F5344CB8AC3E}">
        <p14:creationId xmlns:p14="http://schemas.microsoft.com/office/powerpoint/2010/main" val="390684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C38953C-B5FA-4F62-B4D2-4BE99F0ABA5B}"/>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Community Services Fund Amendment #1</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by Program </a:t>
            </a:r>
            <a:endParaRPr lang="en-US" sz="32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E142148-5A70-4D77-98A4-E885ACE764E9}"/>
              </a:ext>
            </a:extLst>
          </p:cNvPr>
          <p:cNvPicPr>
            <a:picLocks noChangeAspect="1"/>
          </p:cNvPicPr>
          <p:nvPr/>
        </p:nvPicPr>
        <p:blipFill>
          <a:blip r:embed="rId2"/>
          <a:stretch>
            <a:fillRect/>
          </a:stretch>
        </p:blipFill>
        <p:spPr>
          <a:xfrm>
            <a:off x="530506" y="1600200"/>
            <a:ext cx="8082987" cy="4525963"/>
          </a:xfrm>
          <a:prstGeom prst="rect">
            <a:avLst/>
          </a:prstGeom>
          <a:noFill/>
        </p:spPr>
      </p:pic>
      <p:sp>
        <p:nvSpPr>
          <p:cNvPr id="16" name="Slide Number Placeholder 3">
            <a:extLst>
              <a:ext uri="{FF2B5EF4-FFF2-40B4-BE49-F238E27FC236}">
                <a16:creationId xmlns:a16="http://schemas.microsoft.com/office/drawing/2014/main" id="{4AA8DAD6-79E8-481A-BECE-D991492D7B58}"/>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1A25CF7E-05FF-4B4A-9944-BE57E82D8571}" type="slidenum">
              <a:rPr lang="en-US" altLang="en-US"/>
              <a:pPr>
                <a:spcAft>
                  <a:spcPts val="600"/>
                </a:spcAft>
                <a:defRPr/>
              </a:pPr>
              <a:t>7</a:t>
            </a:fld>
            <a:endParaRPr lang="en-US" altLang="en-US" dirty="0"/>
          </a:p>
        </p:txBody>
      </p:sp>
      <p:sp>
        <p:nvSpPr>
          <p:cNvPr id="4" name="Slide Number Placeholder 3" hidden="1">
            <a:extLst>
              <a:ext uri="{FF2B5EF4-FFF2-40B4-BE49-F238E27FC236}">
                <a16:creationId xmlns:a16="http://schemas.microsoft.com/office/drawing/2014/main" id="{7619BB8E-0483-4DED-849D-D298838F36A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7</a:t>
            </a:fld>
            <a:endParaRPr lang="en-US" altLang="en-US" dirty="0"/>
          </a:p>
        </p:txBody>
      </p:sp>
    </p:spTree>
    <p:extLst>
      <p:ext uri="{BB962C8B-B14F-4D97-AF65-F5344CB8AC3E}">
        <p14:creationId xmlns:p14="http://schemas.microsoft.com/office/powerpoint/2010/main" val="3603475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Preschool Fund Amendment Highlights</a:t>
            </a: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657600" y="6096000"/>
            <a:ext cx="2210525" cy="468994"/>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8</a:t>
            </a:fld>
            <a:endParaRPr lang="en-US" altLang="en-US"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94FE537-3311-4A29-924F-A1E83FF6D98E}"/>
              </a:ext>
            </a:extLst>
          </p:cNvPr>
          <p:cNvSpPr txBox="1"/>
          <p:nvPr/>
        </p:nvSpPr>
        <p:spPr>
          <a:xfrm>
            <a:off x="609962" y="2017881"/>
            <a:ext cx="8305800" cy="3477875"/>
          </a:xfrm>
          <a:prstGeom prst="rect">
            <a:avLst/>
          </a:prstGeom>
          <a:noFill/>
        </p:spPr>
        <p:txBody>
          <a:bodyPr wrap="square" rtlCol="0">
            <a:spAutoFit/>
          </a:bodyPr>
          <a:lstStyle/>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Tuition (233 enrolled), GSRP (80 enrolled), Pre-K (80 enrolled); Explorers (77 enrolled)</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$755K surplus; $464K federal revenue; $400K transfer to GF</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Net $355K surplus</a:t>
            </a:r>
          </a:p>
          <a:p>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Expenditures reconciled and adjusted as necessary</a:t>
            </a:r>
          </a:p>
          <a:p>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$648K Fund Balance</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3633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C38953C-B5FA-4F62-B4D2-4BE99F0ABA5B}"/>
              </a:ext>
            </a:extLst>
          </p:cNvPr>
          <p:cNvSpPr>
            <a:spLocks noGrp="1"/>
          </p:cNvSpPr>
          <p:nvPr>
            <p:ph type="title"/>
          </p:nvPr>
        </p:nvSpPr>
        <p:spPr>
          <a:xfrm>
            <a:off x="457200" y="274638"/>
            <a:ext cx="8229600" cy="792162"/>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Preschool Fund Amendment #1</a:t>
            </a:r>
            <a:endParaRPr lang="en-US"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3ADA045-597D-4597-8A4A-905BDF3B919E}"/>
              </a:ext>
            </a:extLst>
          </p:cNvPr>
          <p:cNvPicPr>
            <a:picLocks noChangeAspect="1"/>
          </p:cNvPicPr>
          <p:nvPr/>
        </p:nvPicPr>
        <p:blipFill>
          <a:blip r:embed="rId2"/>
          <a:stretch>
            <a:fillRect/>
          </a:stretch>
        </p:blipFill>
        <p:spPr>
          <a:xfrm>
            <a:off x="1447800" y="1146175"/>
            <a:ext cx="6248399" cy="5210175"/>
          </a:xfrm>
          <a:prstGeom prst="rect">
            <a:avLst/>
          </a:prstGeom>
          <a:noFill/>
        </p:spPr>
      </p:pic>
      <p:sp>
        <p:nvSpPr>
          <p:cNvPr id="16" name="Slide Number Placeholder 3">
            <a:extLst>
              <a:ext uri="{FF2B5EF4-FFF2-40B4-BE49-F238E27FC236}">
                <a16:creationId xmlns:a16="http://schemas.microsoft.com/office/drawing/2014/main" id="{4AA8DAD6-79E8-481A-BECE-D991492D7B58}"/>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1A25CF7E-05FF-4B4A-9944-BE57E82D8571}" type="slidenum">
              <a:rPr lang="en-US" altLang="en-US"/>
              <a:pPr>
                <a:spcAft>
                  <a:spcPts val="600"/>
                </a:spcAft>
                <a:defRPr/>
              </a:pPr>
              <a:t>9</a:t>
            </a:fld>
            <a:endParaRPr lang="en-US" altLang="en-US" dirty="0"/>
          </a:p>
        </p:txBody>
      </p:sp>
      <p:sp>
        <p:nvSpPr>
          <p:cNvPr id="4" name="Slide Number Placeholder 3" hidden="1">
            <a:extLst>
              <a:ext uri="{FF2B5EF4-FFF2-40B4-BE49-F238E27FC236}">
                <a16:creationId xmlns:a16="http://schemas.microsoft.com/office/drawing/2014/main" id="{7619BB8E-0483-4DED-849D-D298838F36A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9</a:t>
            </a:fld>
            <a:endParaRPr lang="en-US" altLang="en-US" dirty="0"/>
          </a:p>
        </p:txBody>
      </p:sp>
    </p:spTree>
    <p:extLst>
      <p:ext uri="{BB962C8B-B14F-4D97-AF65-F5344CB8AC3E}">
        <p14:creationId xmlns:p14="http://schemas.microsoft.com/office/powerpoint/2010/main" val="386352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C38953C-B5FA-4F62-B4D2-4BE99F0ABA5B}"/>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Preschool Fund Amendment #1</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by Program </a:t>
            </a:r>
            <a:endParaRPr lang="en-US" sz="3200" dirty="0">
              <a:latin typeface="Times New Roman" panose="02020603050405020304" pitchFamily="18" charset="0"/>
              <a:cs typeface="Times New Roman" panose="02020603050405020304" pitchFamily="18" charset="0"/>
            </a:endParaRPr>
          </a:p>
        </p:txBody>
      </p:sp>
      <p:sp>
        <p:nvSpPr>
          <p:cNvPr id="16" name="Slide Number Placeholder 3">
            <a:extLst>
              <a:ext uri="{FF2B5EF4-FFF2-40B4-BE49-F238E27FC236}">
                <a16:creationId xmlns:a16="http://schemas.microsoft.com/office/drawing/2014/main" id="{4AA8DAD6-79E8-481A-BECE-D991492D7B58}"/>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1A25CF7E-05FF-4B4A-9944-BE57E82D8571}" type="slidenum">
              <a:rPr lang="en-US" altLang="en-US"/>
              <a:pPr>
                <a:spcAft>
                  <a:spcPts val="600"/>
                </a:spcAft>
                <a:defRPr/>
              </a:pPr>
              <a:t>10</a:t>
            </a:fld>
            <a:endParaRPr lang="en-US" altLang="en-US" dirty="0"/>
          </a:p>
        </p:txBody>
      </p:sp>
      <p:sp>
        <p:nvSpPr>
          <p:cNvPr id="4" name="Slide Number Placeholder 3" hidden="1">
            <a:extLst>
              <a:ext uri="{FF2B5EF4-FFF2-40B4-BE49-F238E27FC236}">
                <a16:creationId xmlns:a16="http://schemas.microsoft.com/office/drawing/2014/main" id="{7619BB8E-0483-4DED-849D-D298838F36A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10</a:t>
            </a:fld>
            <a:endParaRPr lang="en-US" altLang="en-US" dirty="0"/>
          </a:p>
        </p:txBody>
      </p:sp>
      <p:pic>
        <p:nvPicPr>
          <p:cNvPr id="5" name="Picture 4">
            <a:extLst>
              <a:ext uri="{FF2B5EF4-FFF2-40B4-BE49-F238E27FC236}">
                <a16:creationId xmlns:a16="http://schemas.microsoft.com/office/drawing/2014/main" id="{DDE4F3FB-4CC1-49D9-9070-DE9BABF082B2}"/>
              </a:ext>
            </a:extLst>
          </p:cNvPr>
          <p:cNvPicPr>
            <a:picLocks noChangeAspect="1"/>
          </p:cNvPicPr>
          <p:nvPr/>
        </p:nvPicPr>
        <p:blipFill>
          <a:blip r:embed="rId2"/>
          <a:stretch>
            <a:fillRect/>
          </a:stretch>
        </p:blipFill>
        <p:spPr>
          <a:xfrm>
            <a:off x="304800" y="1657350"/>
            <a:ext cx="8534400" cy="3543300"/>
          </a:xfrm>
          <a:prstGeom prst="rect">
            <a:avLst/>
          </a:prstGeom>
        </p:spPr>
      </p:pic>
    </p:spTree>
    <p:extLst>
      <p:ext uri="{BB962C8B-B14F-4D97-AF65-F5344CB8AC3E}">
        <p14:creationId xmlns:p14="http://schemas.microsoft.com/office/powerpoint/2010/main" val="1552418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General Fund Amendment Highlights</a:t>
            </a: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657600" y="6096000"/>
            <a:ext cx="2210525" cy="468994"/>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11</a:t>
            </a:fld>
            <a:endParaRPr lang="en-US" altLang="en-US"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FCB8933-392C-4764-BE6B-68E8DCB4A8F1}"/>
              </a:ext>
            </a:extLst>
          </p:cNvPr>
          <p:cNvSpPr txBox="1"/>
          <p:nvPr/>
        </p:nvSpPr>
        <p:spPr>
          <a:xfrm>
            <a:off x="609962" y="2377947"/>
            <a:ext cx="8305800" cy="2554545"/>
          </a:xfrm>
          <a:prstGeom prst="rect">
            <a:avLst/>
          </a:prstGeom>
          <a:noFill/>
        </p:spPr>
        <p:txBody>
          <a:bodyPr wrap="square" rtlCol="0">
            <a:spAutoFit/>
          </a:bodyPr>
          <a:lstStyle/>
          <a:p>
            <a:pPr marL="457200" indent="-4572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Approximately $7 million one-time money</a:t>
            </a:r>
          </a:p>
          <a:p>
            <a:pPr marL="457200" indent="-4572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628 less students</a:t>
            </a:r>
          </a:p>
          <a:p>
            <a:pPr marL="457200" indent="-4572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Slight annual deficit: $101K</a:t>
            </a:r>
          </a:p>
          <a:p>
            <a:r>
              <a:rPr lang="en-US" sz="2000" dirty="0">
                <a:latin typeface="Times New Roman" panose="02020603050405020304" pitchFamily="18" charset="0"/>
                <a:cs typeface="Times New Roman" panose="02020603050405020304" pitchFamily="18" charset="0"/>
              </a:rPr>
              <a:t> </a:t>
            </a:r>
          </a:p>
          <a:p>
            <a:pPr marL="457200" indent="-4572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Significant structural deficit</a:t>
            </a:r>
          </a:p>
          <a:p>
            <a:pPr marL="457200" indent="-4572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935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2EEB62-A184-49CC-9290-7A857FE2AF42}"/>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General Fund Budget Amendment #2</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Summary of Revenue &amp; Expenditures</a:t>
            </a:r>
          </a:p>
        </p:txBody>
      </p:sp>
      <p:pic>
        <p:nvPicPr>
          <p:cNvPr id="3" name="Picture 2">
            <a:extLst>
              <a:ext uri="{FF2B5EF4-FFF2-40B4-BE49-F238E27FC236}">
                <a16:creationId xmlns:a16="http://schemas.microsoft.com/office/drawing/2014/main" id="{63F011A4-59D9-4350-AAA1-FDAE94EB2A87}"/>
              </a:ext>
            </a:extLst>
          </p:cNvPr>
          <p:cNvPicPr>
            <a:picLocks noChangeAspect="1"/>
          </p:cNvPicPr>
          <p:nvPr/>
        </p:nvPicPr>
        <p:blipFill>
          <a:blip r:embed="rId2"/>
          <a:stretch>
            <a:fillRect/>
          </a:stretch>
        </p:blipFill>
        <p:spPr>
          <a:xfrm>
            <a:off x="522454" y="1600200"/>
            <a:ext cx="8099091" cy="4525963"/>
          </a:xfrm>
          <a:prstGeom prst="rect">
            <a:avLst/>
          </a:prstGeom>
          <a:noFill/>
        </p:spPr>
      </p:pic>
      <p:sp>
        <p:nvSpPr>
          <p:cNvPr id="2" name="Slide Number Placeholder 1">
            <a:extLst>
              <a:ext uri="{FF2B5EF4-FFF2-40B4-BE49-F238E27FC236}">
                <a16:creationId xmlns:a16="http://schemas.microsoft.com/office/drawing/2014/main" id="{4D733362-333C-4721-A846-791328827D87}"/>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81627D45-3680-4120-ADEC-2D4CED3EEEA1}" type="slidenum">
              <a:rPr lang="en-US" altLang="en-US" smtClean="0"/>
              <a:pPr>
                <a:spcAft>
                  <a:spcPts val="600"/>
                </a:spcAft>
                <a:defRPr/>
              </a:pPr>
              <a:t>12</a:t>
            </a:fld>
            <a:endParaRPr lang="en-US" altLang="en-US" dirty="0"/>
          </a:p>
        </p:txBody>
      </p:sp>
    </p:spTree>
    <p:extLst>
      <p:ext uri="{BB962C8B-B14F-4D97-AF65-F5344CB8AC3E}">
        <p14:creationId xmlns:p14="http://schemas.microsoft.com/office/powerpoint/2010/main" val="4183649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9394"/>
            <a:ext cx="8229600" cy="944562"/>
          </a:xfrm>
        </p:spPr>
        <p:txBody>
          <a:bodyPr/>
          <a:lstStyle/>
          <a:p>
            <a:r>
              <a:rPr lang="en-US" sz="3200" b="1" dirty="0">
                <a:latin typeface="Times New Roman" panose="02020603050405020304" pitchFamily="18" charset="0"/>
                <a:cs typeface="Times New Roman" panose="02020603050405020304" pitchFamily="18" charset="0"/>
              </a:rPr>
              <a:t>General Fund Budget Amendment #2 Revenue Adjustments</a:t>
            </a:r>
          </a:p>
        </p:txBody>
      </p:sp>
      <p:sp>
        <p:nvSpPr>
          <p:cNvPr id="3" name="Content Placeholder 2"/>
          <p:cNvSpPr>
            <a:spLocks noGrp="1"/>
          </p:cNvSpPr>
          <p:nvPr>
            <p:ph idx="1"/>
          </p:nvPr>
        </p:nvSpPr>
        <p:spPr>
          <a:xfrm>
            <a:off x="381000" y="990600"/>
            <a:ext cx="8382000" cy="5289550"/>
          </a:xfrm>
        </p:spPr>
        <p:txBody>
          <a:bodyPr/>
          <a:lstStyle/>
          <a:p>
            <a:pPr marL="0"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Local revenue – no significant changes </a:t>
            </a:r>
          </a:p>
          <a:p>
            <a:pPr marL="0"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State revenue – increase $1.1 million </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Estimate for section 31o funding ($1 million) </a:t>
            </a:r>
          </a:p>
          <a:p>
            <a:pPr marL="457200" lvl="1" indent="0">
              <a:spcBef>
                <a:spcPts val="0"/>
              </a:spcBef>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Federal revenue - increase $4.0 million </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ARP ESSER III full allocation recognized ($3.8 million)</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Estimate for section 11t funding</a:t>
            </a:r>
          </a:p>
          <a:p>
            <a:pPr marL="0"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Interdistrict revenue – increase $726,000</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PA 18 additional distribution</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Cooperative contract revenue </a:t>
            </a:r>
          </a:p>
          <a:p>
            <a:pPr marL="0" indent="0">
              <a:buNone/>
            </a:pPr>
            <a:endParaRPr lang="en-US" sz="1600" dirty="0">
              <a:latin typeface="Times New Roman" panose="02020603050405020304" pitchFamily="18" charset="0"/>
              <a:cs typeface="Times New Roman" panose="02020603050405020304" pitchFamily="18" charset="0"/>
            </a:endParaRPr>
          </a:p>
          <a:p>
            <a:pPr marL="457200" lvl="1" indent="0">
              <a:buNone/>
            </a:pPr>
            <a:endParaRPr lang="en-US" sz="1200" dirty="0"/>
          </a:p>
        </p:txBody>
      </p:sp>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13</a:t>
            </a:fld>
            <a:endParaRPr lang="en-US" altLang="en-US" dirty="0"/>
          </a:p>
        </p:txBody>
      </p:sp>
    </p:spTree>
    <p:extLst>
      <p:ext uri="{BB962C8B-B14F-4D97-AF65-F5344CB8AC3E}">
        <p14:creationId xmlns:p14="http://schemas.microsoft.com/office/powerpoint/2010/main" val="325554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C38953C-B5FA-4F62-B4D2-4BE99F0ABA5B}"/>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2021-22 General Fund Budget Amendment #2</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Revenue by Source</a:t>
            </a:r>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BF9A2FA-FC63-48D4-A255-D764718D367A}"/>
              </a:ext>
            </a:extLst>
          </p:cNvPr>
          <p:cNvPicPr>
            <a:picLocks noChangeAspect="1"/>
          </p:cNvPicPr>
          <p:nvPr/>
        </p:nvPicPr>
        <p:blipFill>
          <a:blip r:embed="rId2"/>
          <a:stretch>
            <a:fillRect/>
          </a:stretch>
        </p:blipFill>
        <p:spPr>
          <a:xfrm>
            <a:off x="223305" y="2057400"/>
            <a:ext cx="8463495" cy="2121021"/>
          </a:xfrm>
          <a:prstGeom prst="rect">
            <a:avLst/>
          </a:prstGeom>
          <a:noFill/>
        </p:spPr>
      </p:pic>
      <p:sp>
        <p:nvSpPr>
          <p:cNvPr id="16" name="Slide Number Placeholder 3">
            <a:extLst>
              <a:ext uri="{FF2B5EF4-FFF2-40B4-BE49-F238E27FC236}">
                <a16:creationId xmlns:a16="http://schemas.microsoft.com/office/drawing/2014/main" id="{4AA8DAD6-79E8-481A-BECE-D991492D7B58}"/>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1A25CF7E-05FF-4B4A-9944-BE57E82D8571}" type="slidenum">
              <a:rPr lang="en-US" altLang="en-US"/>
              <a:pPr>
                <a:spcAft>
                  <a:spcPts val="600"/>
                </a:spcAft>
                <a:defRPr/>
              </a:pPr>
              <a:t>14</a:t>
            </a:fld>
            <a:endParaRPr lang="en-US" altLang="en-US" dirty="0"/>
          </a:p>
        </p:txBody>
      </p:sp>
      <p:sp>
        <p:nvSpPr>
          <p:cNvPr id="4" name="Slide Number Placeholder 3" hidden="1">
            <a:extLst>
              <a:ext uri="{FF2B5EF4-FFF2-40B4-BE49-F238E27FC236}">
                <a16:creationId xmlns:a16="http://schemas.microsoft.com/office/drawing/2014/main" id="{7619BB8E-0483-4DED-849D-D298838F36A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14</a:t>
            </a:fld>
            <a:endParaRPr lang="en-US" altLang="en-US" dirty="0"/>
          </a:p>
        </p:txBody>
      </p:sp>
    </p:spTree>
    <p:extLst>
      <p:ext uri="{BB962C8B-B14F-4D97-AF65-F5344CB8AC3E}">
        <p14:creationId xmlns:p14="http://schemas.microsoft.com/office/powerpoint/2010/main" val="4225513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7089"/>
            <a:ext cx="8229600" cy="1143000"/>
          </a:xfrm>
        </p:spPr>
        <p:txBody>
          <a:bodyPr/>
          <a:lstStyle/>
          <a:p>
            <a:r>
              <a:rPr lang="en-US" sz="3200" b="1" dirty="0">
                <a:latin typeface="Times New Roman" panose="02020603050405020304" pitchFamily="18" charset="0"/>
                <a:cs typeface="Times New Roman" panose="02020603050405020304" pitchFamily="18" charset="0"/>
              </a:rPr>
              <a:t>General Fund Budget Amendment #2 Expenditure Adjustments</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23850" y="1403349"/>
            <a:ext cx="8496300" cy="5318126"/>
          </a:xfrm>
        </p:spPr>
        <p:txBody>
          <a:bodyPr/>
          <a:lstStyle/>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Salaries and Benefits – no significant changes</a:t>
            </a:r>
          </a:p>
          <a:p>
            <a:pPr marL="0" indent="0">
              <a:buNone/>
            </a:pPr>
            <a:endParaRPr lang="en-US" sz="1600" dirty="0">
              <a:latin typeface="Times New Roman" panose="02020603050405020304" pitchFamily="18" charset="0"/>
              <a:cs typeface="Times New Roman" panose="02020603050405020304" pitchFamily="18" charset="0"/>
            </a:endParaRPr>
          </a:p>
          <a:p>
            <a:pPr marL="342900" lvl="1"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Purchased Services – increase $399,000</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Coaches </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Federally funded after-school tutoring service </a:t>
            </a:r>
          </a:p>
          <a:p>
            <a:pPr marL="457200" lvl="1" indent="0">
              <a:buNone/>
            </a:pPr>
            <a:endParaRPr lang="en-US" sz="1600" dirty="0">
              <a:latin typeface="Times New Roman" panose="02020603050405020304" pitchFamily="18" charset="0"/>
              <a:cs typeface="Times New Roman" panose="02020603050405020304" pitchFamily="18" charset="0"/>
            </a:endParaRPr>
          </a:p>
          <a:p>
            <a:pPr marL="342900" lvl="1"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Repairs and Other Services – increase $126,000</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Fire protection system</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Graduation venue </a:t>
            </a:r>
          </a:p>
          <a:p>
            <a:pPr lvl="1">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342900" lvl="1"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Supplies – no significant changes </a:t>
            </a:r>
          </a:p>
          <a:p>
            <a:pPr marL="0" lvl="1" indent="0">
              <a:buNone/>
            </a:pPr>
            <a:endParaRPr lang="en-US" sz="1600" dirty="0">
              <a:latin typeface="Times New Roman" panose="02020603050405020304" pitchFamily="18" charset="0"/>
              <a:cs typeface="Times New Roman" panose="02020603050405020304" pitchFamily="18" charset="0"/>
            </a:endParaRPr>
          </a:p>
          <a:p>
            <a:pPr marL="342900" lvl="1"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Capital Outlay – increase $397,000</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Door locks </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State funded CTE equipment purchased </a:t>
            </a:r>
          </a:p>
          <a:p>
            <a:pPr marL="457200" lvl="1" indent="0">
              <a:buNone/>
            </a:pPr>
            <a:endParaRPr lang="en-US" sz="1600" dirty="0">
              <a:latin typeface="Times New Roman" panose="02020603050405020304" pitchFamily="18" charset="0"/>
              <a:cs typeface="Times New Roman" panose="02020603050405020304" pitchFamily="18" charset="0"/>
            </a:endParaRPr>
          </a:p>
          <a:p>
            <a:pPr marL="342900" lvl="1"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Payments to Other Districts – decrease $157,000 for center program tuition </a:t>
            </a:r>
          </a:p>
          <a:p>
            <a:pPr marL="342900" lvl="1" indent="-34290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457200" lvl="1"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15</a:t>
            </a:fld>
            <a:endParaRPr lang="en-US" altLang="en-US" dirty="0"/>
          </a:p>
        </p:txBody>
      </p:sp>
    </p:spTree>
    <p:extLst>
      <p:ext uri="{BB962C8B-B14F-4D97-AF65-F5344CB8AC3E}">
        <p14:creationId xmlns:p14="http://schemas.microsoft.com/office/powerpoint/2010/main" val="1472369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C38953C-B5FA-4F62-B4D2-4BE99F0ABA5B}"/>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2021-22 General Fund Budget Amendment #2</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Expenditures by Object</a:t>
            </a:r>
            <a:endParaRPr lang="en-US"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41B1EB8-9222-446B-92E9-97A8AC26F93A}"/>
              </a:ext>
            </a:extLst>
          </p:cNvPr>
          <p:cNvPicPr>
            <a:picLocks noChangeAspect="1"/>
          </p:cNvPicPr>
          <p:nvPr/>
        </p:nvPicPr>
        <p:blipFill>
          <a:blip r:embed="rId2"/>
          <a:stretch>
            <a:fillRect/>
          </a:stretch>
        </p:blipFill>
        <p:spPr>
          <a:xfrm>
            <a:off x="82454" y="1828800"/>
            <a:ext cx="8979091" cy="3344738"/>
          </a:xfrm>
          <a:prstGeom prst="rect">
            <a:avLst/>
          </a:prstGeom>
          <a:noFill/>
        </p:spPr>
      </p:pic>
      <p:sp>
        <p:nvSpPr>
          <p:cNvPr id="16" name="Slide Number Placeholder 3">
            <a:extLst>
              <a:ext uri="{FF2B5EF4-FFF2-40B4-BE49-F238E27FC236}">
                <a16:creationId xmlns:a16="http://schemas.microsoft.com/office/drawing/2014/main" id="{4AA8DAD6-79E8-481A-BECE-D991492D7B58}"/>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1A25CF7E-05FF-4B4A-9944-BE57E82D8571}" type="slidenum">
              <a:rPr lang="en-US" altLang="en-US"/>
              <a:pPr>
                <a:spcAft>
                  <a:spcPts val="600"/>
                </a:spcAft>
                <a:defRPr/>
              </a:pPr>
              <a:t>16</a:t>
            </a:fld>
            <a:endParaRPr lang="en-US" altLang="en-US" dirty="0"/>
          </a:p>
        </p:txBody>
      </p:sp>
      <p:sp>
        <p:nvSpPr>
          <p:cNvPr id="4" name="Slide Number Placeholder 3" hidden="1">
            <a:extLst>
              <a:ext uri="{FF2B5EF4-FFF2-40B4-BE49-F238E27FC236}">
                <a16:creationId xmlns:a16="http://schemas.microsoft.com/office/drawing/2014/main" id="{7619BB8E-0483-4DED-849D-D298838F36A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16</a:t>
            </a:fld>
            <a:endParaRPr lang="en-US" altLang="en-US" dirty="0"/>
          </a:p>
        </p:txBody>
      </p:sp>
    </p:spTree>
    <p:extLst>
      <p:ext uri="{BB962C8B-B14F-4D97-AF65-F5344CB8AC3E}">
        <p14:creationId xmlns:p14="http://schemas.microsoft.com/office/powerpoint/2010/main" val="255288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2EEB62-A184-49CC-9290-7A857FE2AF42}"/>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2021-22 General Fund Budget Amendment #2</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One-time Revenue </a:t>
            </a:r>
          </a:p>
        </p:txBody>
      </p:sp>
      <p:pic>
        <p:nvPicPr>
          <p:cNvPr id="5" name="Picture 4">
            <a:extLst>
              <a:ext uri="{FF2B5EF4-FFF2-40B4-BE49-F238E27FC236}">
                <a16:creationId xmlns:a16="http://schemas.microsoft.com/office/drawing/2014/main" id="{B4279699-5F50-4A06-BFA7-AF30D77D6EE1}"/>
              </a:ext>
            </a:extLst>
          </p:cNvPr>
          <p:cNvPicPr>
            <a:picLocks noChangeAspect="1"/>
          </p:cNvPicPr>
          <p:nvPr/>
        </p:nvPicPr>
        <p:blipFill>
          <a:blip r:embed="rId2"/>
          <a:stretch>
            <a:fillRect/>
          </a:stretch>
        </p:blipFill>
        <p:spPr>
          <a:xfrm>
            <a:off x="370618" y="1920875"/>
            <a:ext cx="8402763" cy="3090671"/>
          </a:xfrm>
          <a:prstGeom prst="rect">
            <a:avLst/>
          </a:prstGeom>
          <a:noFill/>
        </p:spPr>
      </p:pic>
      <p:sp>
        <p:nvSpPr>
          <p:cNvPr id="2" name="Slide Number Placeholder 1">
            <a:extLst>
              <a:ext uri="{FF2B5EF4-FFF2-40B4-BE49-F238E27FC236}">
                <a16:creationId xmlns:a16="http://schemas.microsoft.com/office/drawing/2014/main" id="{4D733362-333C-4721-A846-791328827D87}"/>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81627D45-3680-4120-ADEC-2D4CED3EEEA1}" type="slidenum">
              <a:rPr lang="en-US" altLang="en-US" smtClean="0"/>
              <a:pPr>
                <a:spcAft>
                  <a:spcPts val="600"/>
                </a:spcAft>
                <a:defRPr/>
              </a:pPr>
              <a:t>17</a:t>
            </a:fld>
            <a:endParaRPr lang="en-US" altLang="en-US" dirty="0"/>
          </a:p>
        </p:txBody>
      </p:sp>
    </p:spTree>
    <p:extLst>
      <p:ext uri="{BB962C8B-B14F-4D97-AF65-F5344CB8AC3E}">
        <p14:creationId xmlns:p14="http://schemas.microsoft.com/office/powerpoint/2010/main" val="3068421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B7611-0857-4C91-8D83-EE13049AD4B6}"/>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So What, Now What</a:t>
            </a:r>
          </a:p>
        </p:txBody>
      </p:sp>
      <p:sp>
        <p:nvSpPr>
          <p:cNvPr id="3" name="Content Placeholder 2">
            <a:extLst>
              <a:ext uri="{FF2B5EF4-FFF2-40B4-BE49-F238E27FC236}">
                <a16:creationId xmlns:a16="http://schemas.microsoft.com/office/drawing/2014/main" id="{D60F27A6-FB02-45AE-AD8C-7F9343F2B931}"/>
              </a:ext>
            </a:extLst>
          </p:cNvPr>
          <p:cNvSpPr>
            <a:spLocks noGrp="1"/>
          </p:cNvSpPr>
          <p:nvPr>
            <p:ph idx="1"/>
          </p:nvPr>
        </p:nvSpPr>
        <p:spPr/>
        <p:txBody>
          <a:bodyPr/>
          <a:lstStyle/>
          <a:p>
            <a:pPr>
              <a:spcBef>
                <a:spcPct val="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Declining Enrollment</a:t>
            </a:r>
          </a:p>
          <a:p>
            <a:pPr marL="0" indent="0">
              <a:spcBef>
                <a:spcPct val="0"/>
              </a:spcBef>
              <a:buNone/>
            </a:pPr>
            <a:endParaRPr lang="en-US" sz="2400" dirty="0">
              <a:latin typeface="Times New Roman" panose="02020603050405020304" pitchFamily="18" charset="0"/>
              <a:cs typeface="Times New Roman" panose="02020603050405020304" pitchFamily="18" charset="0"/>
            </a:endParaRPr>
          </a:p>
          <a:p>
            <a:pPr>
              <a:spcBef>
                <a:spcPct val="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Federal Funding</a:t>
            </a:r>
          </a:p>
          <a:p>
            <a:pPr marL="0" indent="0">
              <a:spcBef>
                <a:spcPct val="0"/>
              </a:spcBef>
              <a:buNone/>
            </a:pPr>
            <a:endParaRPr lang="en-US" sz="2400" dirty="0">
              <a:latin typeface="Times New Roman" panose="02020603050405020304" pitchFamily="18" charset="0"/>
              <a:cs typeface="Times New Roman" panose="02020603050405020304" pitchFamily="18" charset="0"/>
            </a:endParaRPr>
          </a:p>
          <a:p>
            <a:pPr>
              <a:spcBef>
                <a:spcPct val="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Structural Deficit</a:t>
            </a:r>
          </a:p>
          <a:p>
            <a:pPr marL="0" indent="0">
              <a:spcBef>
                <a:spcPct val="0"/>
              </a:spcBef>
              <a:buNone/>
            </a:pPr>
            <a:endParaRPr lang="en-US" sz="2400" dirty="0">
              <a:latin typeface="Times New Roman" panose="02020603050405020304" pitchFamily="18" charset="0"/>
              <a:cs typeface="Times New Roman" panose="02020603050405020304" pitchFamily="18" charset="0"/>
            </a:endParaRPr>
          </a:p>
          <a:p>
            <a:pPr>
              <a:spcBef>
                <a:spcPct val="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Strategic Use of Fund Balance</a:t>
            </a:r>
          </a:p>
          <a:p>
            <a:pPr marL="0" indent="0">
              <a:spcBef>
                <a:spcPct val="0"/>
              </a:spcBef>
              <a:buNone/>
            </a:pPr>
            <a:endParaRPr lang="en-US" sz="2400" dirty="0">
              <a:latin typeface="Times New Roman" panose="02020603050405020304" pitchFamily="18" charset="0"/>
              <a:cs typeface="Times New Roman" panose="02020603050405020304" pitchFamily="18" charset="0"/>
            </a:endParaRPr>
          </a:p>
          <a:p>
            <a:pPr>
              <a:spcBef>
                <a:spcPct val="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Right-Sizing Staff</a:t>
            </a:r>
          </a:p>
          <a:p>
            <a:pPr marL="0" indent="0">
              <a:spcBef>
                <a:spcPct val="0"/>
              </a:spcBef>
              <a:buNone/>
            </a:pPr>
            <a:endParaRPr lang="en-US" sz="2400" dirty="0">
              <a:latin typeface="Times New Roman" panose="02020603050405020304" pitchFamily="18" charset="0"/>
              <a:cs typeface="Times New Roman" panose="02020603050405020304" pitchFamily="18" charset="0"/>
            </a:endParaRPr>
          </a:p>
          <a:p>
            <a:pPr>
              <a:spcBef>
                <a:spcPct val="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Strategic Use of Food Service Fund Balance</a:t>
            </a:r>
          </a:p>
        </p:txBody>
      </p:sp>
      <p:sp>
        <p:nvSpPr>
          <p:cNvPr id="4" name="Slide Number Placeholder 3">
            <a:extLst>
              <a:ext uri="{FF2B5EF4-FFF2-40B4-BE49-F238E27FC236}">
                <a16:creationId xmlns:a16="http://schemas.microsoft.com/office/drawing/2014/main" id="{DF3E9B75-312A-40AE-8375-B225E4E245A5}"/>
              </a:ext>
            </a:extLst>
          </p:cNvPr>
          <p:cNvSpPr>
            <a:spLocks noGrp="1"/>
          </p:cNvSpPr>
          <p:nvPr>
            <p:ph type="sldNum" sz="quarter" idx="12"/>
          </p:nvPr>
        </p:nvSpPr>
        <p:spPr/>
        <p:txBody>
          <a:bodyPr/>
          <a:lstStyle/>
          <a:p>
            <a:pPr>
              <a:defRPr/>
            </a:pPr>
            <a:fld id="{1A25CF7E-05FF-4B4A-9944-BE57E82D8571}" type="slidenum">
              <a:rPr lang="en-US" altLang="en-US" smtClean="0"/>
              <a:pPr>
                <a:defRPr/>
              </a:pPr>
              <a:t>18</a:t>
            </a:fld>
            <a:endParaRPr lang="en-US" altLang="en-US" dirty="0"/>
          </a:p>
        </p:txBody>
      </p:sp>
    </p:spTree>
    <p:extLst>
      <p:ext uri="{BB962C8B-B14F-4D97-AF65-F5344CB8AC3E}">
        <p14:creationId xmlns:p14="http://schemas.microsoft.com/office/powerpoint/2010/main" val="682420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2EEB62-A184-49CC-9290-7A857FE2AF42}"/>
              </a:ext>
            </a:extLst>
          </p:cNvPr>
          <p:cNvSpPr>
            <a:spLocks noGrp="1"/>
          </p:cNvSpPr>
          <p:nvPr>
            <p:ph type="title"/>
          </p:nvPr>
        </p:nvSpPr>
        <p:spPr>
          <a:xfrm>
            <a:off x="457200" y="274638"/>
            <a:ext cx="8229600" cy="868362"/>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General Fund Student and Teacher FTE</a:t>
            </a:r>
          </a:p>
        </p:txBody>
      </p:sp>
      <p:pic>
        <p:nvPicPr>
          <p:cNvPr id="3" name="Picture 2">
            <a:extLst>
              <a:ext uri="{FF2B5EF4-FFF2-40B4-BE49-F238E27FC236}">
                <a16:creationId xmlns:a16="http://schemas.microsoft.com/office/drawing/2014/main" id="{810608D9-244C-4C44-A562-0FEE7E9FEB70}"/>
              </a:ext>
            </a:extLst>
          </p:cNvPr>
          <p:cNvPicPr>
            <a:picLocks noChangeAspect="1"/>
          </p:cNvPicPr>
          <p:nvPr/>
        </p:nvPicPr>
        <p:blipFill>
          <a:blip r:embed="rId2"/>
          <a:stretch>
            <a:fillRect/>
          </a:stretch>
        </p:blipFill>
        <p:spPr>
          <a:xfrm>
            <a:off x="152400" y="1447800"/>
            <a:ext cx="8642397" cy="4610543"/>
          </a:xfrm>
          <a:prstGeom prst="rect">
            <a:avLst/>
          </a:prstGeom>
          <a:noFill/>
        </p:spPr>
      </p:pic>
      <p:sp>
        <p:nvSpPr>
          <p:cNvPr id="2" name="Slide Number Placeholder 1">
            <a:extLst>
              <a:ext uri="{FF2B5EF4-FFF2-40B4-BE49-F238E27FC236}">
                <a16:creationId xmlns:a16="http://schemas.microsoft.com/office/drawing/2014/main" id="{4D733362-333C-4721-A846-791328827D87}"/>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81627D45-3680-4120-ADEC-2D4CED3EEEA1}" type="slidenum">
              <a:rPr lang="en-US" altLang="en-US" smtClean="0"/>
              <a:pPr>
                <a:spcAft>
                  <a:spcPts val="600"/>
                </a:spcAft>
                <a:defRPr/>
              </a:pPr>
              <a:t>19</a:t>
            </a:fld>
            <a:endParaRPr lang="en-US" altLang="en-US" dirty="0"/>
          </a:p>
        </p:txBody>
      </p:sp>
    </p:spTree>
    <p:extLst>
      <p:ext uri="{BB962C8B-B14F-4D97-AF65-F5344CB8AC3E}">
        <p14:creationId xmlns:p14="http://schemas.microsoft.com/office/powerpoint/2010/main" val="1993235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2EEB62-A184-49CC-9290-7A857FE2AF42}"/>
              </a:ext>
            </a:extLst>
          </p:cNvPr>
          <p:cNvSpPr>
            <a:spLocks noGrp="1"/>
          </p:cNvSpPr>
          <p:nvPr>
            <p:ph type="title"/>
          </p:nvPr>
        </p:nvSpPr>
        <p:spPr>
          <a:xfrm>
            <a:off x="457200" y="293085"/>
            <a:ext cx="8229600" cy="755681"/>
          </a:xfrm>
        </p:spPr>
        <p:txBody>
          <a:bodyPr wrap="square" anchor="ctr">
            <a:normAutofit/>
          </a:bodyPr>
          <a:lstStyle/>
          <a:p>
            <a:r>
              <a:rPr lang="en-US" sz="3200" b="1" dirty="0">
                <a:latin typeface="Times New Roman" panose="02020603050405020304" pitchFamily="18" charset="0"/>
                <a:cs typeface="Times New Roman" panose="02020603050405020304" pitchFamily="18" charset="0"/>
              </a:rPr>
              <a:t>3 Year General Fund Projections</a:t>
            </a:r>
          </a:p>
        </p:txBody>
      </p:sp>
      <p:pic>
        <p:nvPicPr>
          <p:cNvPr id="4" name="Picture 3">
            <a:extLst>
              <a:ext uri="{FF2B5EF4-FFF2-40B4-BE49-F238E27FC236}">
                <a16:creationId xmlns:a16="http://schemas.microsoft.com/office/drawing/2014/main" id="{86A4DFEC-1659-4B93-BC6B-AD2E14523858}"/>
              </a:ext>
            </a:extLst>
          </p:cNvPr>
          <p:cNvPicPr>
            <a:picLocks noChangeAspect="1"/>
          </p:cNvPicPr>
          <p:nvPr/>
        </p:nvPicPr>
        <p:blipFill>
          <a:blip r:embed="rId2"/>
          <a:stretch>
            <a:fillRect/>
          </a:stretch>
        </p:blipFill>
        <p:spPr>
          <a:xfrm>
            <a:off x="181252" y="1048766"/>
            <a:ext cx="8229600" cy="4449303"/>
          </a:xfrm>
          <a:prstGeom prst="rect">
            <a:avLst/>
          </a:prstGeom>
          <a:noFill/>
        </p:spPr>
      </p:pic>
      <p:sp>
        <p:nvSpPr>
          <p:cNvPr id="2" name="Slide Number Placeholder 1">
            <a:extLst>
              <a:ext uri="{FF2B5EF4-FFF2-40B4-BE49-F238E27FC236}">
                <a16:creationId xmlns:a16="http://schemas.microsoft.com/office/drawing/2014/main" id="{4D733362-333C-4721-A846-791328827D87}"/>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81627D45-3680-4120-ADEC-2D4CED3EEEA1}" type="slidenum">
              <a:rPr lang="en-US" altLang="en-US" smtClean="0"/>
              <a:pPr>
                <a:spcAft>
                  <a:spcPts val="600"/>
                </a:spcAft>
                <a:defRPr/>
              </a:pPr>
              <a:t>20</a:t>
            </a:fld>
            <a:endParaRPr lang="en-US" altLang="en-US" dirty="0"/>
          </a:p>
        </p:txBody>
      </p:sp>
      <p:sp>
        <p:nvSpPr>
          <p:cNvPr id="6" name="TextBox 5">
            <a:extLst>
              <a:ext uri="{FF2B5EF4-FFF2-40B4-BE49-F238E27FC236}">
                <a16:creationId xmlns:a16="http://schemas.microsoft.com/office/drawing/2014/main" id="{F686F4ED-FAF5-4813-97AD-44A68796D1DC}"/>
              </a:ext>
            </a:extLst>
          </p:cNvPr>
          <p:cNvSpPr txBox="1"/>
          <p:nvPr/>
        </p:nvSpPr>
        <p:spPr>
          <a:xfrm>
            <a:off x="304800" y="5857384"/>
            <a:ext cx="8229600" cy="738664"/>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Note: 2% annual increase to property tax revenue included in operating revenue.  Foundation allowance and enrollment assumptions are as documented above.  Operating expenditures assume current staffing levels, existing contractual obligations and attrition savings annually (25 TEA retirements per year).</a:t>
            </a:r>
          </a:p>
        </p:txBody>
      </p:sp>
      <p:sp>
        <p:nvSpPr>
          <p:cNvPr id="7" name="Rectangle 6">
            <a:extLst>
              <a:ext uri="{FF2B5EF4-FFF2-40B4-BE49-F238E27FC236}">
                <a16:creationId xmlns:a16="http://schemas.microsoft.com/office/drawing/2014/main" id="{A9861ECE-C76E-49B9-8D47-9D92B8200E7F}"/>
              </a:ext>
            </a:extLst>
          </p:cNvPr>
          <p:cNvSpPr/>
          <p:nvPr/>
        </p:nvSpPr>
        <p:spPr>
          <a:xfrm>
            <a:off x="114300" y="2352441"/>
            <a:ext cx="86106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710A389-B5E5-4325-9C97-0D25936400D3}"/>
              </a:ext>
            </a:extLst>
          </p:cNvPr>
          <p:cNvSpPr/>
          <p:nvPr/>
        </p:nvSpPr>
        <p:spPr>
          <a:xfrm>
            <a:off x="109406" y="4595475"/>
            <a:ext cx="86106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5338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086600" cy="838200"/>
          </a:xfrm>
        </p:spPr>
        <p:txBody>
          <a:bodyPr/>
          <a:lstStyle/>
          <a:p>
            <a:r>
              <a:rPr lang="en-US" sz="3600" b="1" dirty="0">
                <a:latin typeface="Times New Roman" panose="02020603050405020304" pitchFamily="18" charset="0"/>
                <a:cs typeface="Times New Roman" panose="02020603050405020304" pitchFamily="18" charset="0"/>
              </a:rPr>
              <a:t>Budget Schedule</a:t>
            </a:r>
          </a:p>
        </p:txBody>
      </p:sp>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21</a:t>
            </a:fld>
            <a:endParaRPr lang="en-US" altLang="en-US" dirty="0"/>
          </a:p>
        </p:txBody>
      </p:sp>
      <p:sp>
        <p:nvSpPr>
          <p:cNvPr id="7" name="TextBox 6"/>
          <p:cNvSpPr txBox="1"/>
          <p:nvPr/>
        </p:nvSpPr>
        <p:spPr>
          <a:xfrm>
            <a:off x="304800" y="1524000"/>
            <a:ext cx="8534400" cy="2677656"/>
          </a:xfrm>
          <a:prstGeom prst="rect">
            <a:avLst/>
          </a:prstGeom>
          <a:noFill/>
        </p:spPr>
        <p:txBody>
          <a:bodyPr wrap="square" rtlCol="0">
            <a:spAutoFit/>
          </a:bodyPr>
          <a:lstStyle/>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April - May: Develop 2022-23 budgets and 2021-22 final amendments </a:t>
            </a:r>
          </a:p>
          <a:p>
            <a:pPr marL="457200" indent="-4572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June: Public Hearing and Millage Rate Adoption</a:t>
            </a:r>
          </a:p>
          <a:p>
            <a:pPr marL="457200" indent="-4572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June: 2022-23 Budget Adoption and 2021-22 Budget Amendment (final)</a:t>
            </a:r>
          </a:p>
        </p:txBody>
      </p:sp>
    </p:spTree>
    <p:extLst>
      <p:ext uri="{BB962C8B-B14F-4D97-AF65-F5344CB8AC3E}">
        <p14:creationId xmlns:p14="http://schemas.microsoft.com/office/powerpoint/2010/main" val="4196030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22</a:t>
            </a:fld>
            <a:endParaRPr lang="en-US" altLang="en-US" dirty="0"/>
          </a:p>
        </p:txBody>
      </p:sp>
      <p:sp>
        <p:nvSpPr>
          <p:cNvPr id="5" name="Content Placeholder 2"/>
          <p:cNvSpPr>
            <a:spLocks noGrp="1"/>
          </p:cNvSpPr>
          <p:nvPr>
            <p:ph idx="1"/>
          </p:nvPr>
        </p:nvSpPr>
        <p:spPr>
          <a:xfrm>
            <a:off x="381000" y="1219200"/>
            <a:ext cx="8229600" cy="4525963"/>
          </a:xfrm>
        </p:spPr>
        <p:txBody>
          <a:bodyPr/>
          <a:lstStyle/>
          <a:p>
            <a:pPr marL="0" indent="0" algn="ctr">
              <a:buNone/>
            </a:pPr>
            <a:endParaRPr lang="en-US" sz="2400" b="1" dirty="0">
              <a:latin typeface="Times New Roman" panose="02020603050405020304" pitchFamily="18" charset="0"/>
              <a:cs typeface="Times New Roman" panose="02020603050405020304" pitchFamily="18" charset="0"/>
            </a:endParaRPr>
          </a:p>
          <a:p>
            <a:pPr marL="0" indent="0" algn="ctr">
              <a:buNone/>
            </a:pPr>
            <a:endParaRPr lang="en-US" sz="2400" b="1" dirty="0">
              <a:latin typeface="Times New Roman" panose="02020603050405020304" pitchFamily="18" charset="0"/>
              <a:cs typeface="Times New Roman" panose="02020603050405020304" pitchFamily="18" charset="0"/>
            </a:endParaRPr>
          </a:p>
          <a:p>
            <a:pPr marL="0" indent="0" algn="ctr">
              <a:buNone/>
            </a:pPr>
            <a:endParaRPr lang="en-US" sz="2400" b="1" dirty="0">
              <a:latin typeface="Times New Roman" panose="02020603050405020304" pitchFamily="18" charset="0"/>
              <a:cs typeface="Times New Roman" panose="02020603050405020304" pitchFamily="18" charset="0"/>
            </a:endParaRPr>
          </a:p>
          <a:p>
            <a:pPr marL="0" indent="0" algn="ctr">
              <a:buNone/>
            </a:pPr>
            <a:r>
              <a:rPr lang="en-US" sz="6600" b="1"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3415985247"/>
      </p:ext>
    </p:extLst>
  </p:cSld>
  <p:clrMapOvr>
    <a:masterClrMapping/>
  </p:clrMapOvr>
</p:sld>
</file>

<file path=ppt/theme/theme1.xml><?xml version="1.0" encoding="utf-8"?>
<a:theme xmlns:a="http://schemas.openxmlformats.org/drawingml/2006/main" name="OneTroy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2246</TotalTime>
  <Words>765</Words>
  <Application>Microsoft Office PowerPoint</Application>
  <PresentationFormat>On-screen Show (4:3)</PresentationFormat>
  <Paragraphs>167</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Tahoma</vt:lpstr>
      <vt:lpstr>Times New Roman</vt:lpstr>
      <vt:lpstr>Wingdings</vt:lpstr>
      <vt:lpstr>OneTroyPPT Template</vt:lpstr>
      <vt:lpstr>PowerPoint Presentation</vt:lpstr>
      <vt:lpstr>Agenda</vt:lpstr>
      <vt:lpstr>Food Service Amendment Highlights</vt:lpstr>
      <vt:lpstr>Food Service Fund Amendment #1</vt:lpstr>
      <vt:lpstr>Community Service Fund Amendment Highlights</vt:lpstr>
      <vt:lpstr>Community Services Fund Amendment #1</vt:lpstr>
      <vt:lpstr>Community Services Fund Amendment #1 by Program </vt:lpstr>
      <vt:lpstr>Preschool Fund Amendment Highlights</vt:lpstr>
      <vt:lpstr>Preschool Fund Amendment #1</vt:lpstr>
      <vt:lpstr>Preschool Fund Amendment #1 by Program </vt:lpstr>
      <vt:lpstr>General Fund Amendment Highlights</vt:lpstr>
      <vt:lpstr>General Fund Budget Amendment #2 Summary of Revenue &amp; Expenditures</vt:lpstr>
      <vt:lpstr>General Fund Budget Amendment #2 Revenue Adjustments</vt:lpstr>
      <vt:lpstr>2021-22 General Fund Budget Amendment #2  Revenue by Source</vt:lpstr>
      <vt:lpstr>General Fund Budget Amendment #2 Expenditure Adjustments </vt:lpstr>
      <vt:lpstr>2021-22 General Fund Budget Amendment #2 Expenditures by Object</vt:lpstr>
      <vt:lpstr>2021-22 General Fund Budget Amendment #2 One-time Revenue </vt:lpstr>
      <vt:lpstr>So What, Now What</vt:lpstr>
      <vt:lpstr>General Fund Student and Teacher FTE</vt:lpstr>
      <vt:lpstr>3 Year General Fund Projections</vt:lpstr>
      <vt:lpstr>Budget Schedule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West, Rick</dc:creator>
  <cp:lastModifiedBy>West, Rick</cp:lastModifiedBy>
  <cp:revision>33</cp:revision>
  <cp:lastPrinted>2022-04-05T19:18:47Z</cp:lastPrinted>
  <dcterms:created xsi:type="dcterms:W3CDTF">2020-11-30T21:31:33Z</dcterms:created>
  <dcterms:modified xsi:type="dcterms:W3CDTF">2022-04-05T19:42:00Z</dcterms:modified>
</cp:coreProperties>
</file>