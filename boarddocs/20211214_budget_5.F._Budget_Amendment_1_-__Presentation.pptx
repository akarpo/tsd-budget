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26" r:id="rId1"/>
  </p:sldMasterIdLst>
  <p:notesMasterIdLst>
    <p:notesMasterId r:id="rId16"/>
  </p:notesMasterIdLst>
  <p:handoutMasterIdLst>
    <p:handoutMasterId r:id="rId17"/>
  </p:handoutMasterIdLst>
  <p:sldIdLst>
    <p:sldId id="256" r:id="rId2"/>
    <p:sldId id="257" r:id="rId3"/>
    <p:sldId id="273" r:id="rId4"/>
    <p:sldId id="291" r:id="rId5"/>
    <p:sldId id="261" r:id="rId6"/>
    <p:sldId id="263" r:id="rId7"/>
    <p:sldId id="292" r:id="rId8"/>
    <p:sldId id="264" r:id="rId9"/>
    <p:sldId id="283" r:id="rId10"/>
    <p:sldId id="294" r:id="rId11"/>
    <p:sldId id="297" r:id="rId12"/>
    <p:sldId id="298" r:id="rId13"/>
    <p:sldId id="269" r:id="rId14"/>
    <p:sldId id="270" r:id="rId15"/>
  </p:sldIdLst>
  <p:sldSz cx="9144000" cy="6858000" type="screen4x3"/>
  <p:notesSz cx="7010400" cy="9236075"/>
  <p:defaultTextStyle>
    <a:defPPr>
      <a:defRPr lang="en-US"/>
    </a:defPPr>
    <a:lvl1pPr algn="l" rtl="0" fontAlgn="base">
      <a:spcBef>
        <a:spcPct val="0"/>
      </a:spcBef>
      <a:spcAft>
        <a:spcPct val="0"/>
      </a:spcAft>
      <a:defRPr sz="3000" kern="1200">
        <a:solidFill>
          <a:schemeClr val="tx1"/>
        </a:solidFill>
        <a:latin typeface="Arial" charset="0"/>
        <a:ea typeface="+mn-ea"/>
        <a:cs typeface="Arial" charset="0"/>
      </a:defRPr>
    </a:lvl1pPr>
    <a:lvl2pPr marL="457200" algn="l" rtl="0" fontAlgn="base">
      <a:spcBef>
        <a:spcPct val="0"/>
      </a:spcBef>
      <a:spcAft>
        <a:spcPct val="0"/>
      </a:spcAft>
      <a:defRPr sz="3000" kern="1200">
        <a:solidFill>
          <a:schemeClr val="tx1"/>
        </a:solidFill>
        <a:latin typeface="Arial" charset="0"/>
        <a:ea typeface="+mn-ea"/>
        <a:cs typeface="Arial" charset="0"/>
      </a:defRPr>
    </a:lvl2pPr>
    <a:lvl3pPr marL="914400" algn="l" rtl="0" fontAlgn="base">
      <a:spcBef>
        <a:spcPct val="0"/>
      </a:spcBef>
      <a:spcAft>
        <a:spcPct val="0"/>
      </a:spcAft>
      <a:defRPr sz="3000" kern="1200">
        <a:solidFill>
          <a:schemeClr val="tx1"/>
        </a:solidFill>
        <a:latin typeface="Arial" charset="0"/>
        <a:ea typeface="+mn-ea"/>
        <a:cs typeface="Arial" charset="0"/>
      </a:defRPr>
    </a:lvl3pPr>
    <a:lvl4pPr marL="1371600" algn="l" rtl="0" fontAlgn="base">
      <a:spcBef>
        <a:spcPct val="0"/>
      </a:spcBef>
      <a:spcAft>
        <a:spcPct val="0"/>
      </a:spcAft>
      <a:defRPr sz="3000" kern="1200">
        <a:solidFill>
          <a:schemeClr val="tx1"/>
        </a:solidFill>
        <a:latin typeface="Arial" charset="0"/>
        <a:ea typeface="+mn-ea"/>
        <a:cs typeface="Arial" charset="0"/>
      </a:defRPr>
    </a:lvl4pPr>
    <a:lvl5pPr marL="1828800" algn="l" rtl="0" fontAlgn="base">
      <a:spcBef>
        <a:spcPct val="0"/>
      </a:spcBef>
      <a:spcAft>
        <a:spcPct val="0"/>
      </a:spcAft>
      <a:defRPr sz="3000" kern="1200">
        <a:solidFill>
          <a:schemeClr val="tx1"/>
        </a:solidFill>
        <a:latin typeface="Arial" charset="0"/>
        <a:ea typeface="+mn-ea"/>
        <a:cs typeface="Arial" charset="0"/>
      </a:defRPr>
    </a:lvl5pPr>
    <a:lvl6pPr marL="2286000" algn="l" defTabSz="914400" rtl="0" eaLnBrk="1" latinLnBrk="0" hangingPunct="1">
      <a:defRPr sz="3000" kern="1200">
        <a:solidFill>
          <a:schemeClr val="tx1"/>
        </a:solidFill>
        <a:latin typeface="Arial" charset="0"/>
        <a:ea typeface="+mn-ea"/>
        <a:cs typeface="Arial" charset="0"/>
      </a:defRPr>
    </a:lvl6pPr>
    <a:lvl7pPr marL="2743200" algn="l" defTabSz="914400" rtl="0" eaLnBrk="1" latinLnBrk="0" hangingPunct="1">
      <a:defRPr sz="3000" kern="1200">
        <a:solidFill>
          <a:schemeClr val="tx1"/>
        </a:solidFill>
        <a:latin typeface="Arial" charset="0"/>
        <a:ea typeface="+mn-ea"/>
        <a:cs typeface="Arial" charset="0"/>
      </a:defRPr>
    </a:lvl7pPr>
    <a:lvl8pPr marL="3200400" algn="l" defTabSz="914400" rtl="0" eaLnBrk="1" latinLnBrk="0" hangingPunct="1">
      <a:defRPr sz="3000" kern="1200">
        <a:solidFill>
          <a:schemeClr val="tx1"/>
        </a:solidFill>
        <a:latin typeface="Arial" charset="0"/>
        <a:ea typeface="+mn-ea"/>
        <a:cs typeface="Arial" charset="0"/>
      </a:defRPr>
    </a:lvl8pPr>
    <a:lvl9pPr marL="3657600" algn="l" defTabSz="914400" rtl="0" eaLnBrk="1" latinLnBrk="0" hangingPunct="1">
      <a:defRPr sz="3000"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09" userDrawn="1">
          <p15:clr>
            <a:srgbClr val="A4A3A4"/>
          </p15:clr>
        </p15:guide>
        <p15:guide id="2" pos="2208"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66FF"/>
    <a:srgbClr val="0298EC"/>
    <a:srgbClr val="FFCC00"/>
    <a:srgbClr val="DDF0D4"/>
    <a:srgbClr val="D9F2C6"/>
    <a:srgbClr val="0000FF"/>
    <a:srgbClr val="FF33CC"/>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167" autoAdjust="0"/>
    <p:restoredTop sz="93333" autoAdjust="0"/>
  </p:normalViewPr>
  <p:slideViewPr>
    <p:cSldViewPr>
      <p:cViewPr varScale="1">
        <p:scale>
          <a:sx n="86" d="100"/>
          <a:sy n="86" d="100"/>
        </p:scale>
        <p:origin x="1512" y="5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p:scale>
          <a:sx n="75" d="100"/>
          <a:sy n="75" d="100"/>
        </p:scale>
        <p:origin x="-1404" y="732"/>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40"/>
      <c:rotY val="180"/>
      <c:rAngAx val="0"/>
    </c:view3D>
    <c:floor>
      <c:thickness val="0"/>
    </c:floor>
    <c:sideWall>
      <c:thickness val="0"/>
    </c:sideWall>
    <c:backWall>
      <c:thickness val="0"/>
    </c:backWall>
    <c:plotArea>
      <c:layout>
        <c:manualLayout>
          <c:layoutTarget val="inner"/>
          <c:xMode val="edge"/>
          <c:yMode val="edge"/>
          <c:x val="2.56974613087157E-2"/>
          <c:y val="6.4267110841913999E-2"/>
          <c:w val="0.61052171110190201"/>
          <c:h val="0.82682528814333001"/>
        </c:manualLayout>
      </c:layout>
      <c:pie3DChart>
        <c:varyColors val="1"/>
        <c:ser>
          <c:idx val="0"/>
          <c:order val="0"/>
          <c:tx>
            <c:strRef>
              <c:f>Sheet1!$B$1</c:f>
              <c:strCache>
                <c:ptCount val="1"/>
                <c:pt idx="0">
                  <c:v>GF Revenue by Source</c:v>
                </c:pt>
              </c:strCache>
            </c:strRef>
          </c:tx>
          <c:dLbls>
            <c:dLbl>
              <c:idx val="0"/>
              <c:layout>
                <c:manualLayout>
                  <c:x val="0.12841235632183909"/>
                  <c:y val="-0.2060091527020661"/>
                </c:manualLayout>
              </c:layout>
              <c:tx>
                <c:rich>
                  <a:bodyPr/>
                  <a:lstStyle/>
                  <a:p>
                    <a:fld id="{CE02620E-D18B-4AE6-9040-20EBC77A700D}" type="CATEGORYNAME">
                      <a:rPr lang="en-US">
                        <a:latin typeface="Times New Roman" panose="02020603050405020304" pitchFamily="18" charset="0"/>
                        <a:cs typeface="Times New Roman" panose="02020603050405020304" pitchFamily="18" charset="0"/>
                      </a:rPr>
                      <a:pPr/>
                      <a:t>[CATEGORY NAME]</a:t>
                    </a:fld>
                    <a:r>
                      <a:rPr lang="en-US" baseline="0" dirty="0">
                        <a:latin typeface="Times New Roman" panose="02020603050405020304" pitchFamily="18" charset="0"/>
                        <a:cs typeface="Times New Roman" panose="02020603050405020304" pitchFamily="18" charset="0"/>
                      </a:rPr>
                      <a:t>
</a:t>
                    </a:r>
                    <a:fld id="{B0C63CFD-951B-4440-B130-E939026F5AE3}" type="VALUE">
                      <a:rPr lang="en-US" baseline="0">
                        <a:latin typeface="Times New Roman" panose="02020603050405020304" pitchFamily="18" charset="0"/>
                        <a:cs typeface="Times New Roman" panose="02020603050405020304" pitchFamily="18" charset="0"/>
                      </a:rPr>
                      <a:pPr/>
                      <a:t>[VALUE]</a:t>
                    </a:fld>
                    <a:r>
                      <a:rPr lang="en-US" baseline="0" dirty="0">
                        <a:latin typeface="Times New Roman" panose="02020603050405020304" pitchFamily="18" charset="0"/>
                        <a:cs typeface="Times New Roman" panose="02020603050405020304" pitchFamily="18" charset="0"/>
                      </a:rPr>
                      <a:t>
</a:t>
                    </a:r>
                    <a:fld id="{3D69FEB5-EF6B-41B9-9656-29D5676455EC}" type="PERCENTAGE">
                      <a:rPr lang="en-US" baseline="0">
                        <a:latin typeface="Times New Roman" panose="02020603050405020304" pitchFamily="18" charset="0"/>
                        <a:cs typeface="Times New Roman" panose="02020603050405020304" pitchFamily="18" charset="0"/>
                      </a:rPr>
                      <a:pPr/>
                      <a:t>[PERCENTAGE]</a:t>
                    </a:fld>
                    <a:endParaRPr lang="en-US" baseline="0" dirty="0">
                      <a:latin typeface="Times New Roman" panose="02020603050405020304" pitchFamily="18" charset="0"/>
                      <a:cs typeface="Times New Roman" panose="02020603050405020304" pitchFamily="18" charset="0"/>
                    </a:endParaRPr>
                  </a:p>
                </c:rich>
              </c:tx>
              <c:showLegendKey val="0"/>
              <c:showVal val="1"/>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0-3298-4467-AB24-8D1B6F7891B6}"/>
                </c:ext>
              </c:extLst>
            </c:dLbl>
            <c:dLbl>
              <c:idx val="1"/>
              <c:layout>
                <c:manualLayout>
                  <c:x val="-0.1457759752013757"/>
                  <c:y val="0.17365805235883977"/>
                </c:manualLayout>
              </c:layout>
              <c:tx>
                <c:rich>
                  <a:bodyPr/>
                  <a:lstStyle/>
                  <a:p>
                    <a:fld id="{925FDD20-D002-4A26-B96A-68784C8D4407}" type="CATEGORYNAME">
                      <a:rPr lang="en-US">
                        <a:latin typeface="Times New Roman" panose="02020603050405020304" pitchFamily="18" charset="0"/>
                        <a:cs typeface="Times New Roman" panose="02020603050405020304" pitchFamily="18" charset="0"/>
                      </a:rPr>
                      <a:pPr/>
                      <a:t>[CATEGORY NAME]</a:t>
                    </a:fld>
                    <a:r>
                      <a:rPr lang="en-US" baseline="0" dirty="0">
                        <a:latin typeface="Times New Roman" panose="02020603050405020304" pitchFamily="18" charset="0"/>
                        <a:cs typeface="Times New Roman" panose="02020603050405020304" pitchFamily="18" charset="0"/>
                      </a:rPr>
                      <a:t>
</a:t>
                    </a:r>
                    <a:fld id="{5D6F07C3-6FA1-4F4F-824F-7AD3935CB290}" type="VALUE">
                      <a:rPr lang="en-US" baseline="0" smtClean="0">
                        <a:latin typeface="Times New Roman" panose="02020603050405020304" pitchFamily="18" charset="0"/>
                        <a:cs typeface="Times New Roman" panose="02020603050405020304" pitchFamily="18" charset="0"/>
                      </a:rPr>
                      <a:pPr/>
                      <a:t>[VALUE]</a:t>
                    </a:fld>
                    <a:r>
                      <a:rPr lang="en-US" baseline="0" dirty="0">
                        <a:latin typeface="Times New Roman" panose="02020603050405020304" pitchFamily="18" charset="0"/>
                        <a:cs typeface="Times New Roman" panose="02020603050405020304" pitchFamily="18" charset="0"/>
                      </a:rPr>
                      <a:t>
</a:t>
                    </a:r>
                    <a:fld id="{C469A96F-B0FD-4505-8D99-56BB7CD083F2}" type="PERCENTAGE">
                      <a:rPr lang="en-US" baseline="0">
                        <a:latin typeface="Times New Roman" panose="02020603050405020304" pitchFamily="18" charset="0"/>
                        <a:cs typeface="Times New Roman" panose="02020603050405020304" pitchFamily="18" charset="0"/>
                      </a:rPr>
                      <a:pPr/>
                      <a:t>[PERCENTAGE]</a:t>
                    </a:fld>
                    <a:endParaRPr lang="en-US" baseline="0" dirty="0">
                      <a:latin typeface="Times New Roman" panose="02020603050405020304" pitchFamily="18" charset="0"/>
                      <a:cs typeface="Times New Roman" panose="02020603050405020304" pitchFamily="18" charset="0"/>
                    </a:endParaRPr>
                  </a:p>
                </c:rich>
              </c:tx>
              <c:showLegendKey val="0"/>
              <c:showVal val="1"/>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0-9A20-4FCC-A06B-6130055E9689}"/>
                </c:ext>
              </c:extLst>
            </c:dLbl>
            <c:dLbl>
              <c:idx val="2"/>
              <c:layout>
                <c:manualLayout>
                  <c:x val="9.8039754728934739E-2"/>
                  <c:y val="2.5034490880947575E-2"/>
                </c:manualLayout>
              </c:layout>
              <c:tx>
                <c:rich>
                  <a:bodyPr/>
                  <a:lstStyle/>
                  <a:p>
                    <a:fld id="{2657EB07-F449-4C2D-9CBD-15544B1FBE0C}" type="CATEGORYNAME">
                      <a:rPr lang="en-US">
                        <a:latin typeface="Times New Roman" panose="02020603050405020304" pitchFamily="18" charset="0"/>
                        <a:cs typeface="Times New Roman" panose="02020603050405020304" pitchFamily="18" charset="0"/>
                      </a:rPr>
                      <a:pPr/>
                      <a:t>[CATEGORY NAME]</a:t>
                    </a:fld>
                    <a:r>
                      <a:rPr lang="en-US" baseline="0" dirty="0">
                        <a:latin typeface="Times New Roman" panose="02020603050405020304" pitchFamily="18" charset="0"/>
                        <a:cs typeface="Times New Roman" panose="02020603050405020304" pitchFamily="18" charset="0"/>
                      </a:rPr>
                      <a:t>
</a:t>
                    </a:r>
                    <a:fld id="{06332E73-5643-43F2-92C5-68E96543704F}" type="VALUE">
                      <a:rPr lang="en-US" baseline="0">
                        <a:latin typeface="Times New Roman" panose="02020603050405020304" pitchFamily="18" charset="0"/>
                        <a:cs typeface="Times New Roman" panose="02020603050405020304" pitchFamily="18" charset="0"/>
                      </a:rPr>
                      <a:pPr/>
                      <a:t>[VALUE]</a:t>
                    </a:fld>
                    <a:r>
                      <a:rPr lang="en-US" baseline="0" dirty="0">
                        <a:latin typeface="Times New Roman" panose="02020603050405020304" pitchFamily="18" charset="0"/>
                        <a:cs typeface="Times New Roman" panose="02020603050405020304" pitchFamily="18" charset="0"/>
                      </a:rPr>
                      <a:t>
</a:t>
                    </a:r>
                    <a:fld id="{61015D80-2CE4-45D3-9190-5B79ED1687AB}" type="PERCENTAGE">
                      <a:rPr lang="en-US" baseline="0">
                        <a:latin typeface="Times New Roman" panose="02020603050405020304" pitchFamily="18" charset="0"/>
                        <a:cs typeface="Times New Roman" panose="02020603050405020304" pitchFamily="18" charset="0"/>
                      </a:rPr>
                      <a:pPr/>
                      <a:t>[PERCENTAGE]</a:t>
                    </a:fld>
                    <a:endParaRPr lang="en-US" baseline="0" dirty="0">
                      <a:latin typeface="Times New Roman" panose="02020603050405020304" pitchFamily="18" charset="0"/>
                      <a:cs typeface="Times New Roman" panose="02020603050405020304" pitchFamily="18" charset="0"/>
                    </a:endParaRPr>
                  </a:p>
                </c:rich>
              </c:tx>
              <c:showLegendKey val="0"/>
              <c:showVal val="1"/>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0-05C6-46CC-B22D-3DDD486F868F}"/>
                </c:ext>
              </c:extLst>
            </c:dLbl>
            <c:dLbl>
              <c:idx val="3"/>
              <c:layout>
                <c:manualLayout>
                  <c:x val="-0.16575210426282921"/>
                  <c:y val="5.5907194293020906E-2"/>
                </c:manualLayout>
              </c:layout>
              <c:tx>
                <c:rich>
                  <a:bodyPr/>
                  <a:lstStyle/>
                  <a:p>
                    <a:fld id="{79D0D8AF-567C-43BB-843B-8F25E43C33B4}" type="CATEGORYNAME">
                      <a:rPr lang="en-US" dirty="0">
                        <a:latin typeface="Times New Roman" panose="02020603050405020304" pitchFamily="18" charset="0"/>
                        <a:cs typeface="Times New Roman" panose="02020603050405020304" pitchFamily="18" charset="0"/>
                      </a:rPr>
                      <a:pPr/>
                      <a:t>[CATEGORY NAME]</a:t>
                    </a:fld>
                    <a:r>
                      <a:rPr lang="en-US" baseline="0" dirty="0">
                        <a:latin typeface="Times New Roman" panose="02020603050405020304" pitchFamily="18" charset="0"/>
                        <a:cs typeface="Times New Roman" panose="02020603050405020304" pitchFamily="18" charset="0"/>
                      </a:rPr>
                      <a:t>
</a:t>
                    </a:r>
                    <a:fld id="{650EFF60-926B-449D-95DF-23C49E3CF43B}" type="VALUE">
                      <a:rPr lang="en-US" baseline="0" dirty="0">
                        <a:latin typeface="Times New Roman" panose="02020603050405020304" pitchFamily="18" charset="0"/>
                        <a:cs typeface="Times New Roman" panose="02020603050405020304" pitchFamily="18" charset="0"/>
                      </a:rPr>
                      <a:pPr/>
                      <a:t>[VALUE]</a:t>
                    </a:fld>
                    <a:r>
                      <a:rPr lang="en-US" baseline="0" dirty="0">
                        <a:latin typeface="Times New Roman" panose="02020603050405020304" pitchFamily="18" charset="0"/>
                        <a:cs typeface="Times New Roman" panose="02020603050405020304" pitchFamily="18" charset="0"/>
                      </a:rPr>
                      <a:t>
</a:t>
                    </a:r>
                    <a:fld id="{77DA0315-0A5D-48E1-833E-0CDB3C1D61C2}" type="PERCENTAGE">
                      <a:rPr lang="en-US" baseline="0" dirty="0">
                        <a:latin typeface="Times New Roman" panose="02020603050405020304" pitchFamily="18" charset="0"/>
                        <a:cs typeface="Times New Roman" panose="02020603050405020304" pitchFamily="18" charset="0"/>
                      </a:rPr>
                      <a:pPr/>
                      <a:t>[PERCENTAGE]</a:t>
                    </a:fld>
                    <a:endParaRPr lang="en-US" baseline="0" dirty="0">
                      <a:latin typeface="Times New Roman" panose="02020603050405020304" pitchFamily="18" charset="0"/>
                      <a:cs typeface="Times New Roman" panose="02020603050405020304" pitchFamily="18" charset="0"/>
                    </a:endParaRPr>
                  </a:p>
                </c:rich>
              </c:tx>
              <c:showLegendKey val="0"/>
              <c:showVal val="1"/>
              <c:showCatName val="1"/>
              <c:showSerName val="0"/>
              <c:showPercent val="1"/>
              <c:showBubbleSize val="0"/>
              <c:separator>
</c:separator>
              <c:extLst>
                <c:ext xmlns:c15="http://schemas.microsoft.com/office/drawing/2012/chart" uri="{CE6537A1-D6FC-4f65-9D91-7224C49458BB}">
                  <c15:dlblFieldTable/>
                  <c15:showDataLabelsRange val="0"/>
                </c:ext>
                <c:ext xmlns:c16="http://schemas.microsoft.com/office/drawing/2014/chart" uri="{C3380CC4-5D6E-409C-BE32-E72D297353CC}">
                  <c16:uniqueId val="{00000001-05C6-46CC-B22D-3DDD486F868F}"/>
                </c:ext>
              </c:extLst>
            </c:dLbl>
            <c:spPr>
              <a:noFill/>
              <a:ln>
                <a:noFill/>
              </a:ln>
              <a:effectLst/>
            </c:spPr>
            <c:txPr>
              <a:bodyPr/>
              <a:lstStyle/>
              <a:p>
                <a:pPr>
                  <a:defRPr sz="1600" baseline="0">
                    <a:latin typeface="Times New Roman" panose="02020603050405020304" pitchFamily="18" charset="0"/>
                    <a:cs typeface="Times New Roman" panose="02020603050405020304" pitchFamily="18" charset="0"/>
                  </a:defRPr>
                </a:pPr>
                <a:endParaRPr lang="en-US"/>
              </a:p>
            </c:txPr>
            <c:showLegendKey val="0"/>
            <c:showVal val="1"/>
            <c:showCatName val="1"/>
            <c:showSerName val="0"/>
            <c:showPercent val="1"/>
            <c:showBubbleSize val="0"/>
            <c:separator>
</c:separator>
            <c:showLeaderLines val="1"/>
            <c:extLst>
              <c:ext xmlns:c15="http://schemas.microsoft.com/office/drawing/2012/chart" uri="{CE6537A1-D6FC-4f65-9D91-7224C49458BB}"/>
            </c:extLst>
          </c:dLbls>
          <c:cat>
            <c:strRef>
              <c:f>Sheet1!$A$2:$A$6</c:f>
              <c:strCache>
                <c:ptCount val="4"/>
                <c:pt idx="0">
                  <c:v>Local </c:v>
                </c:pt>
                <c:pt idx="1">
                  <c:v>State</c:v>
                </c:pt>
                <c:pt idx="2">
                  <c:v>Federal</c:v>
                </c:pt>
                <c:pt idx="3">
                  <c:v>Interdistrict</c:v>
                </c:pt>
              </c:strCache>
            </c:strRef>
          </c:cat>
          <c:val>
            <c:numRef>
              <c:f>Sheet1!$B$2:$B$6</c:f>
              <c:numCache>
                <c:formatCode>"$"#,##0_);\("$"#,##0\)</c:formatCode>
                <c:ptCount val="4"/>
                <c:pt idx="0" formatCode="&quot;$&quot;#,##0_);[Red]\(&quot;$&quot;#,##0\)">
                  <c:v>38073500</c:v>
                </c:pt>
                <c:pt idx="1">
                  <c:v>110125636</c:v>
                </c:pt>
                <c:pt idx="2" formatCode="&quot;$&quot;#,##0_);[Red]\(&quot;$&quot;#,##0\)">
                  <c:v>7202267</c:v>
                </c:pt>
                <c:pt idx="3" formatCode="&quot;$&quot;#,##0_);[Red]\(&quot;$&quot;#,##0\)">
                  <c:v>9469645</c:v>
                </c:pt>
              </c:numCache>
            </c:numRef>
          </c:val>
          <c:extLst>
            <c:ext xmlns:c16="http://schemas.microsoft.com/office/drawing/2014/chart" uri="{C3380CC4-5D6E-409C-BE32-E72D297353CC}">
              <c16:uniqueId val="{00000002-05C6-46CC-B22D-3DDD486F868F}"/>
            </c:ext>
          </c:extLst>
        </c:ser>
        <c:dLbls>
          <c:showLegendKey val="0"/>
          <c:showVal val="0"/>
          <c:showCatName val="0"/>
          <c:showSerName val="0"/>
          <c:showPercent val="0"/>
          <c:showBubbleSize val="0"/>
          <c:showLeaderLines val="1"/>
        </c:dLbls>
      </c:pie3DChart>
    </c:plotArea>
    <c:legend>
      <c:legendPos val="r"/>
      <c:legendEntry>
        <c:idx val="0"/>
        <c:txPr>
          <a:bodyPr/>
          <a:lstStyle/>
          <a:p>
            <a:pPr>
              <a:defRPr>
                <a:latin typeface="Times New Roman" panose="02020603050405020304" pitchFamily="18" charset="0"/>
                <a:cs typeface="Times New Roman" panose="02020603050405020304" pitchFamily="18" charset="0"/>
              </a:defRPr>
            </a:pPr>
            <a:endParaRPr lang="en-US"/>
          </a:p>
        </c:txPr>
      </c:legendEntry>
      <c:legendEntry>
        <c:idx val="1"/>
        <c:txPr>
          <a:bodyPr/>
          <a:lstStyle/>
          <a:p>
            <a:pPr>
              <a:defRPr>
                <a:latin typeface="Times New Roman" panose="02020603050405020304" pitchFamily="18" charset="0"/>
                <a:cs typeface="Times New Roman" panose="02020603050405020304" pitchFamily="18" charset="0"/>
              </a:defRPr>
            </a:pPr>
            <a:endParaRPr lang="en-US"/>
          </a:p>
        </c:txPr>
      </c:legendEntry>
      <c:legendEntry>
        <c:idx val="2"/>
        <c:txPr>
          <a:bodyPr/>
          <a:lstStyle/>
          <a:p>
            <a:pPr>
              <a:defRPr>
                <a:latin typeface="Times New Roman" panose="02020603050405020304" pitchFamily="18" charset="0"/>
                <a:cs typeface="Times New Roman" panose="02020603050405020304" pitchFamily="18" charset="0"/>
              </a:defRPr>
            </a:pPr>
            <a:endParaRPr lang="en-US"/>
          </a:p>
        </c:txPr>
      </c:legendEntry>
      <c:legendEntry>
        <c:idx val="3"/>
        <c:txPr>
          <a:bodyPr/>
          <a:lstStyle/>
          <a:p>
            <a:pPr>
              <a:defRPr>
                <a:latin typeface="Times New Roman" panose="02020603050405020304" pitchFamily="18" charset="0"/>
                <a:cs typeface="Times New Roman" panose="02020603050405020304" pitchFamily="18" charset="0"/>
              </a:defRPr>
            </a:pPr>
            <a:endParaRPr lang="en-US"/>
          </a:p>
        </c:txPr>
      </c:legendEntry>
      <c:layout>
        <c:manualLayout>
          <c:xMode val="edge"/>
          <c:yMode val="edge"/>
          <c:x val="0.70720857091139466"/>
          <c:y val="0.28309744935729186"/>
          <c:w val="0.25112476242193865"/>
          <c:h val="0.23722390470421967"/>
        </c:manualLayout>
      </c:layout>
      <c:overlay val="0"/>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rAngAx val="0"/>
    </c:view3D>
    <c:floor>
      <c:thickness val="0"/>
    </c:floor>
    <c:sideWall>
      <c:thickness val="0"/>
    </c:sideWall>
    <c:backWall>
      <c:thickness val="0"/>
    </c:backWall>
    <c:plotArea>
      <c:layout>
        <c:manualLayout>
          <c:layoutTarget val="inner"/>
          <c:xMode val="edge"/>
          <c:yMode val="edge"/>
          <c:x val="1.6463759337775087E-2"/>
          <c:y val="0.15216596979797495"/>
          <c:w val="0.63336555635189495"/>
          <c:h val="0.84706169880938798"/>
        </c:manualLayout>
      </c:layout>
      <c:pie3DChart>
        <c:varyColors val="1"/>
        <c:ser>
          <c:idx val="0"/>
          <c:order val="0"/>
          <c:tx>
            <c:strRef>
              <c:f>Sheet1!$B$1</c:f>
              <c:strCache>
                <c:ptCount val="1"/>
                <c:pt idx="0">
                  <c:v>GF Expense by Object</c:v>
                </c:pt>
              </c:strCache>
            </c:strRef>
          </c:tx>
          <c:dLbls>
            <c:dLbl>
              <c:idx val="0"/>
              <c:layout>
                <c:manualLayout>
                  <c:x val="-9.531484846445476E-2"/>
                  <c:y val="0.3846390620348657"/>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6EE4-40B7-A270-2DAF0BFA5D89}"/>
                </c:ext>
              </c:extLst>
            </c:dLbl>
            <c:dLbl>
              <c:idx val="1"/>
              <c:layout>
                <c:manualLayout>
                  <c:x val="0.17913105413105412"/>
                  <c:y val="-0.15935593278112964"/>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0-6EE4-40B7-A270-2DAF0BFA5D89}"/>
                </c:ext>
              </c:extLst>
            </c:dLbl>
            <c:dLbl>
              <c:idx val="2"/>
              <c:layout>
                <c:manualLayout>
                  <c:x val="3.7714516454673934E-3"/>
                  <c:y val="-1.8032677040186192E-2"/>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C214-4571-AD8A-B74089960315}"/>
                </c:ext>
              </c:extLst>
            </c:dLbl>
            <c:dLbl>
              <c:idx val="3"/>
              <c:layout>
                <c:manualLayout>
                  <c:x val="-9.6142966103596045E-2"/>
                  <c:y val="-0.10947003895042885"/>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2-6EE4-40B7-A270-2DAF0BFA5D89}"/>
                </c:ext>
              </c:extLst>
            </c:dLbl>
            <c:dLbl>
              <c:idx val="4"/>
              <c:layout>
                <c:manualLayout>
                  <c:x val="5.7306682818493868E-2"/>
                  <c:y val="-0.1354313495637838"/>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0-4F90-49BF-9E9B-47368F4748C2}"/>
                </c:ext>
              </c:extLst>
            </c:dLbl>
            <c:dLbl>
              <c:idx val="5"/>
              <c:layout>
                <c:manualLayout>
                  <c:x val="0.14773762254077213"/>
                  <c:y val="-0.14023515435865455"/>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1-4F90-49BF-9E9B-47368F4748C2}"/>
                </c:ext>
              </c:extLst>
            </c:dLbl>
            <c:dLbl>
              <c:idx val="6"/>
              <c:layout>
                <c:manualLayout>
                  <c:x val="0.29316396347892409"/>
                  <c:y val="4.6798795436786778E-2"/>
                </c:manualLayout>
              </c:layout>
              <c:showLegendKey val="0"/>
              <c:showVal val="1"/>
              <c:showCatName val="1"/>
              <c:showSerName val="0"/>
              <c:showPercent val="1"/>
              <c:showBubbleSize val="0"/>
              <c:separator>
</c:separator>
              <c:extLst>
                <c:ext xmlns:c15="http://schemas.microsoft.com/office/drawing/2012/chart" uri="{CE6537A1-D6FC-4f65-9D91-7224C49458BB}"/>
                <c:ext xmlns:c16="http://schemas.microsoft.com/office/drawing/2014/chart" uri="{C3380CC4-5D6E-409C-BE32-E72D297353CC}">
                  <c16:uniqueId val="{00000002-4F90-49BF-9E9B-47368F4748C2}"/>
                </c:ext>
              </c:extLst>
            </c:dLbl>
            <c:numFmt formatCode="General" sourceLinked="0"/>
            <c:spPr>
              <a:noFill/>
              <a:ln>
                <a:noFill/>
              </a:ln>
              <a:effectLst/>
            </c:spPr>
            <c:txPr>
              <a:bodyPr/>
              <a:lstStyle/>
              <a:p>
                <a:pPr>
                  <a:defRPr sz="1600" baseline="0">
                    <a:latin typeface="Times New Roman" panose="02020603050405020304" pitchFamily="18" charset="0"/>
                    <a:cs typeface="Times New Roman" panose="02020603050405020304" pitchFamily="18" charset="0"/>
                  </a:defRPr>
                </a:pPr>
                <a:endParaRPr lang="en-US"/>
              </a:p>
            </c:txPr>
            <c:showLegendKey val="0"/>
            <c:showVal val="1"/>
            <c:showCatName val="1"/>
            <c:showSerName val="0"/>
            <c:showPercent val="1"/>
            <c:showBubbleSize val="0"/>
            <c:separator>
</c:separator>
            <c:showLeaderLines val="1"/>
            <c:extLst>
              <c:ext xmlns:c15="http://schemas.microsoft.com/office/drawing/2012/chart" uri="{CE6537A1-D6FC-4f65-9D91-7224C49458BB}"/>
            </c:extLst>
          </c:dLbls>
          <c:cat>
            <c:strRef>
              <c:f>Sheet1!$A$2:$A$9</c:f>
              <c:strCache>
                <c:ptCount val="8"/>
                <c:pt idx="0">
                  <c:v>Salaries </c:v>
                </c:pt>
                <c:pt idx="1">
                  <c:v>Benefits </c:v>
                </c:pt>
                <c:pt idx="2">
                  <c:v>Purchased Services </c:v>
                </c:pt>
                <c:pt idx="3">
                  <c:v>Repairs and Maintenance</c:v>
                </c:pt>
                <c:pt idx="4">
                  <c:v>Supplies and other </c:v>
                </c:pt>
                <c:pt idx="5">
                  <c:v>Capital Outlay </c:v>
                </c:pt>
                <c:pt idx="6">
                  <c:v>Debt Service </c:v>
                </c:pt>
                <c:pt idx="7">
                  <c:v>Payments to Other Districts</c:v>
                </c:pt>
              </c:strCache>
            </c:strRef>
          </c:cat>
          <c:val>
            <c:numRef>
              <c:f>Sheet1!$B$2:$B$9</c:f>
              <c:numCache>
                <c:formatCode>_("$"* #,##0_);_("$"* \(#,##0\);_("$"* "-"_);_(@_)</c:formatCode>
                <c:ptCount val="8"/>
                <c:pt idx="0">
                  <c:v>82991511</c:v>
                </c:pt>
                <c:pt idx="1">
                  <c:v>58583601</c:v>
                </c:pt>
                <c:pt idx="2">
                  <c:v>20648121</c:v>
                </c:pt>
                <c:pt idx="3">
                  <c:v>1181796</c:v>
                </c:pt>
                <c:pt idx="4">
                  <c:v>6329558</c:v>
                </c:pt>
                <c:pt idx="5">
                  <c:v>163015</c:v>
                </c:pt>
                <c:pt idx="6">
                  <c:v>475000</c:v>
                </c:pt>
                <c:pt idx="7">
                  <c:v>1813850</c:v>
                </c:pt>
              </c:numCache>
            </c:numRef>
          </c:val>
          <c:extLst>
            <c:ext xmlns:c16="http://schemas.microsoft.com/office/drawing/2014/chart" uri="{C3380CC4-5D6E-409C-BE32-E72D297353CC}">
              <c16:uniqueId val="{00000003-4F90-49BF-9E9B-47368F4748C2}"/>
            </c:ext>
          </c:extLst>
        </c:ser>
        <c:dLbls>
          <c:showLegendKey val="0"/>
          <c:showVal val="0"/>
          <c:showCatName val="0"/>
          <c:showSerName val="0"/>
          <c:showPercent val="0"/>
          <c:showBubbleSize val="0"/>
          <c:showLeaderLines val="1"/>
        </c:dLbls>
      </c:pie3DChart>
    </c:plotArea>
    <c:legend>
      <c:legendPos val="r"/>
      <c:layout>
        <c:manualLayout>
          <c:xMode val="edge"/>
          <c:yMode val="edge"/>
          <c:x val="0.71013956188168803"/>
          <c:y val="0.15199824091137501"/>
          <c:w val="0.280245053502927"/>
          <c:h val="0.82197436756575604"/>
        </c:manualLayout>
      </c:layout>
      <c:overlay val="0"/>
      <c:txPr>
        <a:bodyPr/>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72738" name="Rectangle 2"/>
          <p:cNvSpPr>
            <a:spLocks noGrp="1" noChangeArrowheads="1"/>
          </p:cNvSpPr>
          <p:nvPr>
            <p:ph type="hdr" sz="quarter"/>
          </p:nvPr>
        </p:nvSpPr>
        <p:spPr bwMode="auto">
          <a:xfrm>
            <a:off x="1"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spcBef>
                <a:spcPct val="20000"/>
              </a:spcBef>
              <a:buFontTx/>
              <a:buNone/>
              <a:defRPr sz="1300">
                <a:latin typeface="Tahoma" pitchFamily="34" charset="0"/>
                <a:cs typeface="+mn-cs"/>
              </a:defRPr>
            </a:lvl1pPr>
          </a:lstStyle>
          <a:p>
            <a:pPr>
              <a:defRPr/>
            </a:pPr>
            <a:endParaRPr lang="en-US" dirty="0"/>
          </a:p>
        </p:txBody>
      </p:sp>
      <p:sp>
        <p:nvSpPr>
          <p:cNvPr id="372739" name="Rectangle 3"/>
          <p:cNvSpPr>
            <a:spLocks noGrp="1" noChangeArrowheads="1"/>
          </p:cNvSpPr>
          <p:nvPr>
            <p:ph type="dt" sz="quarter" idx="1"/>
          </p:nvPr>
        </p:nvSpPr>
        <p:spPr bwMode="auto">
          <a:xfrm>
            <a:off x="3971926"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endParaRPr lang="en-US" dirty="0"/>
          </a:p>
        </p:txBody>
      </p:sp>
      <p:sp>
        <p:nvSpPr>
          <p:cNvPr id="372740" name="Rectangle 4"/>
          <p:cNvSpPr>
            <a:spLocks noGrp="1" noChangeArrowheads="1"/>
          </p:cNvSpPr>
          <p:nvPr>
            <p:ph type="ftr" sz="quarter" idx="2"/>
          </p:nvPr>
        </p:nvSpPr>
        <p:spPr bwMode="auto">
          <a:xfrm>
            <a:off x="1" y="8773957"/>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spcBef>
                <a:spcPct val="20000"/>
              </a:spcBef>
              <a:buFontTx/>
              <a:buNone/>
              <a:defRPr sz="1300">
                <a:latin typeface="Tahoma" pitchFamily="34" charset="0"/>
                <a:cs typeface="+mn-cs"/>
              </a:defRPr>
            </a:lvl1pPr>
          </a:lstStyle>
          <a:p>
            <a:pPr>
              <a:defRPr/>
            </a:pPr>
            <a:r>
              <a:rPr lang="en-US" dirty="0"/>
              <a:t>Enrollment Projections - Why and How</a:t>
            </a:r>
          </a:p>
        </p:txBody>
      </p:sp>
      <p:sp>
        <p:nvSpPr>
          <p:cNvPr id="372741" name="Rectangle 5"/>
          <p:cNvSpPr>
            <a:spLocks noGrp="1" noChangeArrowheads="1"/>
          </p:cNvSpPr>
          <p:nvPr>
            <p:ph type="sldNum" sz="quarter" idx="3"/>
          </p:nvPr>
        </p:nvSpPr>
        <p:spPr bwMode="auto">
          <a:xfrm>
            <a:off x="3971926" y="8773957"/>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a:spcBef>
                <a:spcPct val="20000"/>
              </a:spcBef>
              <a:buFontTx/>
              <a:buNone/>
              <a:defRPr sz="1300">
                <a:latin typeface="Tahoma" pitchFamily="34" charset="0"/>
                <a:cs typeface="+mn-cs"/>
              </a:defRPr>
            </a:lvl1pPr>
          </a:lstStyle>
          <a:p>
            <a:pPr>
              <a:defRPr/>
            </a:pPr>
            <a:fld id="{D4EA7CEE-2394-4F9B-8C99-0BD898ABC9E8}" type="slidenum">
              <a:rPr lang="en-US"/>
              <a:pPr>
                <a:defRPr/>
              </a:pPr>
              <a:t>‹#›</a:t>
            </a:fld>
            <a:endParaRPr lang="en-US" dirty="0"/>
          </a:p>
        </p:txBody>
      </p:sp>
    </p:spTree>
    <p:extLst>
      <p:ext uri="{BB962C8B-B14F-4D97-AF65-F5344CB8AC3E}">
        <p14:creationId xmlns:p14="http://schemas.microsoft.com/office/powerpoint/2010/main" val="204853165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2510" name="Rectangle 14"/>
          <p:cNvSpPr>
            <a:spLocks noGrp="1" noChangeArrowheads="1"/>
          </p:cNvSpPr>
          <p:nvPr>
            <p:ph type="hdr" sz="quarter"/>
          </p:nvPr>
        </p:nvSpPr>
        <p:spPr bwMode="auto">
          <a:xfrm>
            <a:off x="1"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dirty="0"/>
          </a:p>
        </p:txBody>
      </p:sp>
      <p:sp>
        <p:nvSpPr>
          <p:cNvPr id="27651" name="Rectangle 15"/>
          <p:cNvSpPr>
            <a:spLocks noGrp="1" noRot="1" noChangeAspect="1" noChangeArrowheads="1" noTextEdit="1"/>
          </p:cNvSpPr>
          <p:nvPr>
            <p:ph type="sldImg" idx="2"/>
          </p:nvPr>
        </p:nvSpPr>
        <p:spPr bwMode="auto">
          <a:xfrm>
            <a:off x="1195388" y="692150"/>
            <a:ext cx="4619625" cy="34639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2512" name="Rectangle 16"/>
          <p:cNvSpPr>
            <a:spLocks noGrp="1" noChangeArrowheads="1"/>
          </p:cNvSpPr>
          <p:nvPr>
            <p:ph type="body" sz="quarter" idx="3"/>
          </p:nvPr>
        </p:nvSpPr>
        <p:spPr bwMode="auto">
          <a:xfrm>
            <a:off x="935039" y="4386190"/>
            <a:ext cx="5140325" cy="4157496"/>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2513" name="Rectangle 17"/>
          <p:cNvSpPr>
            <a:spLocks noGrp="1" noChangeArrowheads="1"/>
          </p:cNvSpPr>
          <p:nvPr>
            <p:ph type="dt" idx="1"/>
          </p:nvPr>
        </p:nvSpPr>
        <p:spPr bwMode="auto">
          <a:xfrm>
            <a:off x="3971926" y="0"/>
            <a:ext cx="3038475" cy="462120"/>
          </a:xfrm>
          <a:prstGeom prst="rect">
            <a:avLst/>
          </a:prstGeom>
          <a:noFill/>
          <a:ln w="9525">
            <a:noFill/>
            <a:miter lim="800000"/>
            <a:headEnd/>
            <a:tailEnd/>
          </a:ln>
          <a:effectLst/>
        </p:spPr>
        <p:txBody>
          <a:bodyPr vert="horz" wrap="square" lIns="93134" tIns="46567" rIns="93134" bIns="46567" numCol="1" anchor="t"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endParaRPr lang="en-US" dirty="0"/>
          </a:p>
        </p:txBody>
      </p:sp>
      <p:sp>
        <p:nvSpPr>
          <p:cNvPr id="362514" name="Rectangle 18"/>
          <p:cNvSpPr>
            <a:spLocks noGrp="1" noChangeArrowheads="1"/>
          </p:cNvSpPr>
          <p:nvPr>
            <p:ph type="ftr" sz="quarter" idx="4"/>
          </p:nvPr>
        </p:nvSpPr>
        <p:spPr bwMode="auto">
          <a:xfrm>
            <a:off x="1" y="8773957"/>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eaLnBrk="0" hangingPunct="0">
              <a:spcBef>
                <a:spcPct val="20000"/>
              </a:spcBef>
              <a:buFontTx/>
              <a:buNone/>
              <a:defRPr sz="1300">
                <a:latin typeface="Tahoma" pitchFamily="34" charset="0"/>
                <a:cs typeface="+mn-cs"/>
              </a:defRPr>
            </a:lvl1pPr>
          </a:lstStyle>
          <a:p>
            <a:pPr>
              <a:defRPr/>
            </a:pPr>
            <a:endParaRPr lang="en-US" dirty="0"/>
          </a:p>
        </p:txBody>
      </p:sp>
      <p:sp>
        <p:nvSpPr>
          <p:cNvPr id="362515" name="Rectangle 19"/>
          <p:cNvSpPr>
            <a:spLocks noGrp="1" noChangeArrowheads="1"/>
          </p:cNvSpPr>
          <p:nvPr>
            <p:ph type="sldNum" sz="quarter" idx="5"/>
          </p:nvPr>
        </p:nvSpPr>
        <p:spPr bwMode="auto">
          <a:xfrm>
            <a:off x="3971926" y="8773957"/>
            <a:ext cx="3038475" cy="462119"/>
          </a:xfrm>
          <a:prstGeom prst="rect">
            <a:avLst/>
          </a:prstGeom>
          <a:noFill/>
          <a:ln w="9525">
            <a:noFill/>
            <a:miter lim="800000"/>
            <a:headEnd/>
            <a:tailEnd/>
          </a:ln>
          <a:effectLst/>
        </p:spPr>
        <p:txBody>
          <a:bodyPr vert="horz" wrap="square" lIns="93134" tIns="46567" rIns="93134" bIns="46567" numCol="1" anchor="b" anchorCtr="0" compatLnSpc="1">
            <a:prstTxWarp prst="textNoShape">
              <a:avLst/>
            </a:prstTxWarp>
          </a:bodyPr>
          <a:lstStyle>
            <a:lvl1pPr algn="r" eaLnBrk="0" hangingPunct="0">
              <a:spcBef>
                <a:spcPct val="20000"/>
              </a:spcBef>
              <a:buFontTx/>
              <a:buNone/>
              <a:defRPr sz="1300">
                <a:latin typeface="Tahoma" pitchFamily="34" charset="0"/>
                <a:cs typeface="+mn-cs"/>
              </a:defRPr>
            </a:lvl1pPr>
          </a:lstStyle>
          <a:p>
            <a:pPr>
              <a:defRPr/>
            </a:pPr>
            <a:fld id="{C4A85720-D93E-4351-AF84-D93DA6C7213A}" type="slidenum">
              <a:rPr lang="en-US"/>
              <a:pPr>
                <a:defRPr/>
              </a:pPr>
              <a:t>‹#›</a:t>
            </a:fld>
            <a:endParaRPr lang="en-US" dirty="0"/>
          </a:p>
        </p:txBody>
      </p:sp>
    </p:spTree>
    <p:extLst>
      <p:ext uri="{BB962C8B-B14F-4D97-AF65-F5344CB8AC3E}">
        <p14:creationId xmlns:p14="http://schemas.microsoft.com/office/powerpoint/2010/main" val="6316168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9"/>
          <p:cNvSpPr>
            <a:spLocks noGrp="1" noChangeArrowheads="1"/>
          </p:cNvSpPr>
          <p:nvPr>
            <p:ph type="sldNum" sz="quarter" idx="5"/>
          </p:nvPr>
        </p:nvSpPr>
        <p:spPr/>
        <p:txBody>
          <a:bodyPr/>
          <a:lstStyle/>
          <a:p>
            <a:pPr>
              <a:defRPr/>
            </a:pPr>
            <a:fld id="{3436AA5D-F24A-48A3-B49F-1391C759B1F5}" type="slidenum">
              <a:rPr lang="en-US" smtClean="0"/>
              <a:pPr>
                <a:defRPr/>
              </a:pPr>
              <a:t>1</a:t>
            </a:fld>
            <a:endParaRPr lang="en-US" dirty="0"/>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Frequently, presenters must deliver material of a technical nature to an audience unfamiliar with the topic or vocabulary.  The material may be complex or heavy with detail.  To present technical material effectively, use the following guidelines from Dale Carnegie Training®.</a:t>
            </a:r>
          </a:p>
          <a:p>
            <a:r>
              <a:rPr lang="en-US" dirty="0"/>
              <a:t> </a:t>
            </a:r>
          </a:p>
          <a:p>
            <a:r>
              <a:rPr lang="en-US" dirty="0"/>
              <a:t>Consider the amount of time available and prepare to organize your material.  Narrow your topic.  Divide your presentation into clear segments. Follow a logical progression. Maintain your focus throughout. Close the presentation with a summary, repetition of the key steps, or a logical conclusion.</a:t>
            </a:r>
          </a:p>
          <a:p>
            <a:r>
              <a:rPr lang="en-US" dirty="0"/>
              <a:t> </a:t>
            </a:r>
          </a:p>
          <a:p>
            <a:r>
              <a:rPr lang="en-US" dirty="0"/>
              <a:t>Keep your audience in mind at all times.  For example, be sure data is clear and information is relevant.  Keep the level of detail and vocabulary appropriate for the audience.  Use visuals to support key points or steps.  Keep alert to the needs of your listeners, and you will have a more receptive audience.</a:t>
            </a:r>
          </a:p>
        </p:txBody>
      </p:sp>
    </p:spTree>
    <p:extLst>
      <p:ext uri="{BB962C8B-B14F-4D97-AF65-F5344CB8AC3E}">
        <p14:creationId xmlns:p14="http://schemas.microsoft.com/office/powerpoint/2010/main" val="535683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13DE0193-D1BF-4952-98EF-3903CD0E6D36}" type="datetime1">
              <a:rPr lang="en-US"/>
              <a:pPr>
                <a:defRPr/>
              </a:pPr>
              <a:t>11/30/2021</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7F6527C-09EA-4256-9CF7-89437F3A6D56}" type="slidenum">
              <a:rPr lang="en-US" altLang="en-US"/>
              <a:pPr>
                <a:defRPr/>
              </a:pPr>
              <a:t>‹#›</a:t>
            </a:fld>
            <a:endParaRPr lang="en-US" altLang="en-US" dirty="0"/>
          </a:p>
        </p:txBody>
      </p:sp>
    </p:spTree>
    <p:extLst>
      <p:ext uri="{BB962C8B-B14F-4D97-AF65-F5344CB8AC3E}">
        <p14:creationId xmlns:p14="http://schemas.microsoft.com/office/powerpoint/2010/main" val="2550263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5B004B1-B11D-4B2B-85C6-0EECC016E13F}" type="datetime1">
              <a:rPr lang="en-US"/>
              <a:pPr>
                <a:defRPr/>
              </a:pPr>
              <a:t>11/30/2021</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A25CF7E-05FF-4B4A-9944-BE57E82D8571}" type="slidenum">
              <a:rPr lang="en-US" altLang="en-US"/>
              <a:pPr>
                <a:defRPr/>
              </a:pPr>
              <a:t>‹#›</a:t>
            </a:fld>
            <a:endParaRPr lang="en-US" altLang="en-US" dirty="0"/>
          </a:p>
        </p:txBody>
      </p:sp>
    </p:spTree>
    <p:extLst>
      <p:ext uri="{BB962C8B-B14F-4D97-AF65-F5344CB8AC3E}">
        <p14:creationId xmlns:p14="http://schemas.microsoft.com/office/powerpoint/2010/main" val="21561616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E1A3FD60-6DEF-4021-A4BD-2ABEBDDE8F87}" type="datetime1">
              <a:rPr lang="en-US"/>
              <a:pPr>
                <a:defRPr/>
              </a:pPr>
              <a:t>11/30/2021</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41FDA88-53DF-491F-ACF1-54DC3129BB39}" type="slidenum">
              <a:rPr lang="en-US" altLang="en-US"/>
              <a:pPr>
                <a:defRPr/>
              </a:pPr>
              <a:t>‹#›</a:t>
            </a:fld>
            <a:endParaRPr lang="en-US" altLang="en-US" dirty="0"/>
          </a:p>
        </p:txBody>
      </p:sp>
    </p:spTree>
    <p:extLst>
      <p:ext uri="{BB962C8B-B14F-4D97-AF65-F5344CB8AC3E}">
        <p14:creationId xmlns:p14="http://schemas.microsoft.com/office/powerpoint/2010/main" val="9796290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BC1EA10C-0A2F-4B1C-AFD5-D695854A4BB0}" type="datetime1">
              <a:rPr lang="en-US"/>
              <a:pPr>
                <a:defRPr/>
              </a:pPr>
              <a:t>11/30/2021</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453DE79C-EF84-454B-BCEC-3BC154D27F88}" type="slidenum">
              <a:rPr lang="en-US" altLang="en-US"/>
              <a:pPr>
                <a:defRPr/>
              </a:pPr>
              <a:t>‹#›</a:t>
            </a:fld>
            <a:endParaRPr lang="en-US" altLang="en-US" dirty="0"/>
          </a:p>
        </p:txBody>
      </p:sp>
    </p:spTree>
    <p:extLst>
      <p:ext uri="{BB962C8B-B14F-4D97-AF65-F5344CB8AC3E}">
        <p14:creationId xmlns:p14="http://schemas.microsoft.com/office/powerpoint/2010/main" val="2119755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3024006-7966-4ECD-A578-A76B2F86F361}" type="datetime1">
              <a:rPr lang="en-US"/>
              <a:pPr>
                <a:defRPr/>
              </a:pPr>
              <a:t>11/30/2021</a:t>
            </a:fld>
            <a:endParaRPr lang="en-US" altLang="en-US" dirty="0"/>
          </a:p>
        </p:txBody>
      </p:sp>
      <p:sp>
        <p:nvSpPr>
          <p:cNvPr id="8" name="Footer Placeholder 4"/>
          <p:cNvSpPr>
            <a:spLocks noGrp="1"/>
          </p:cNvSpPr>
          <p:nvPr>
            <p:ph type="ftr" sz="quarter" idx="11"/>
          </p:nvPr>
        </p:nvSpPr>
        <p:spPr/>
        <p:txBody>
          <a:bodyPr/>
          <a:lstStyle>
            <a:lvl1pPr>
              <a:defRPr/>
            </a:lvl1pPr>
          </a:lstStyle>
          <a:p>
            <a:pPr>
              <a:defRPr/>
            </a:pPr>
            <a:endParaRPr lang="en-US" altLang="en-US" dirty="0"/>
          </a:p>
        </p:txBody>
      </p:sp>
      <p:sp>
        <p:nvSpPr>
          <p:cNvPr id="9" name="Slide Number Placeholder 5"/>
          <p:cNvSpPr>
            <a:spLocks noGrp="1"/>
          </p:cNvSpPr>
          <p:nvPr>
            <p:ph type="sldNum" sz="quarter" idx="12"/>
          </p:nvPr>
        </p:nvSpPr>
        <p:spPr/>
        <p:txBody>
          <a:bodyPr/>
          <a:lstStyle>
            <a:lvl1pPr>
              <a:defRPr/>
            </a:lvl1pPr>
          </a:lstStyle>
          <a:p>
            <a:pPr>
              <a:defRPr/>
            </a:pPr>
            <a:fld id="{68C69CCE-16DC-4A83-BF74-B88FF4FECC36}" type="slidenum">
              <a:rPr lang="en-US" altLang="en-US"/>
              <a:pPr>
                <a:defRPr/>
              </a:pPr>
              <a:t>‹#›</a:t>
            </a:fld>
            <a:endParaRPr lang="en-US" altLang="en-US" dirty="0"/>
          </a:p>
        </p:txBody>
      </p:sp>
    </p:spTree>
    <p:extLst>
      <p:ext uri="{BB962C8B-B14F-4D97-AF65-F5344CB8AC3E}">
        <p14:creationId xmlns:p14="http://schemas.microsoft.com/office/powerpoint/2010/main" val="13645944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E56A08AC-DA96-4507-9F67-1768BC2BD5B0}" type="datetime1">
              <a:rPr lang="en-US"/>
              <a:pPr>
                <a:defRPr/>
              </a:pPr>
              <a:t>11/30/2021</a:t>
            </a:fld>
            <a:endParaRPr lang="en-US" altLang="en-US" dirty="0"/>
          </a:p>
        </p:txBody>
      </p:sp>
      <p:sp>
        <p:nvSpPr>
          <p:cNvPr id="4" name="Footer Placeholder 4"/>
          <p:cNvSpPr>
            <a:spLocks noGrp="1"/>
          </p:cNvSpPr>
          <p:nvPr>
            <p:ph type="ftr" sz="quarter" idx="11"/>
          </p:nvPr>
        </p:nvSpPr>
        <p:spPr/>
        <p:txBody>
          <a:bodyPr/>
          <a:lstStyle>
            <a:lvl1pPr>
              <a:defRPr/>
            </a:lvl1pPr>
          </a:lstStyle>
          <a:p>
            <a:pPr>
              <a:defRPr/>
            </a:pPr>
            <a:endParaRPr lang="en-US" altLang="en-US" dirty="0"/>
          </a:p>
        </p:txBody>
      </p:sp>
      <p:sp>
        <p:nvSpPr>
          <p:cNvPr id="5" name="Slide Number Placeholder 5"/>
          <p:cNvSpPr>
            <a:spLocks noGrp="1"/>
          </p:cNvSpPr>
          <p:nvPr>
            <p:ph type="sldNum" sz="quarter" idx="12"/>
          </p:nvPr>
        </p:nvSpPr>
        <p:spPr/>
        <p:txBody>
          <a:bodyPr/>
          <a:lstStyle>
            <a:lvl1pPr>
              <a:defRPr/>
            </a:lvl1pPr>
          </a:lstStyle>
          <a:p>
            <a:pPr>
              <a:defRPr/>
            </a:pPr>
            <a:fld id="{D046D30B-1D77-4CBB-9C49-B44ACFBF2BED}" type="slidenum">
              <a:rPr lang="en-US" altLang="en-US"/>
              <a:pPr>
                <a:defRPr/>
              </a:pPr>
              <a:t>‹#›</a:t>
            </a:fld>
            <a:endParaRPr lang="en-US" altLang="en-US" dirty="0"/>
          </a:p>
        </p:txBody>
      </p:sp>
    </p:spTree>
    <p:extLst>
      <p:ext uri="{BB962C8B-B14F-4D97-AF65-F5344CB8AC3E}">
        <p14:creationId xmlns:p14="http://schemas.microsoft.com/office/powerpoint/2010/main" val="2060847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CE20353-6F25-40D7-B75D-60763B9D47E1}" type="datetime1">
              <a:rPr lang="en-US"/>
              <a:pPr>
                <a:defRPr/>
              </a:pPr>
              <a:t>11/30/2021</a:t>
            </a:fld>
            <a:endParaRPr lang="en-US" altLang="en-US" dirty="0"/>
          </a:p>
        </p:txBody>
      </p:sp>
      <p:sp>
        <p:nvSpPr>
          <p:cNvPr id="3" name="Footer Placeholder 4"/>
          <p:cNvSpPr>
            <a:spLocks noGrp="1"/>
          </p:cNvSpPr>
          <p:nvPr>
            <p:ph type="ftr" sz="quarter" idx="11"/>
          </p:nvPr>
        </p:nvSpPr>
        <p:spPr/>
        <p:txBody>
          <a:bodyPr/>
          <a:lstStyle>
            <a:lvl1pPr>
              <a:defRPr/>
            </a:lvl1pPr>
          </a:lstStyle>
          <a:p>
            <a:pPr>
              <a:defRPr/>
            </a:pPr>
            <a:endParaRPr lang="en-US" altLang="en-US" dirty="0"/>
          </a:p>
        </p:txBody>
      </p:sp>
      <p:sp>
        <p:nvSpPr>
          <p:cNvPr id="4" name="Slide Number Placeholder 5"/>
          <p:cNvSpPr>
            <a:spLocks noGrp="1"/>
          </p:cNvSpPr>
          <p:nvPr>
            <p:ph type="sldNum" sz="quarter" idx="12"/>
          </p:nvPr>
        </p:nvSpPr>
        <p:spPr/>
        <p:txBody>
          <a:bodyPr/>
          <a:lstStyle>
            <a:lvl1pPr>
              <a:defRPr/>
            </a:lvl1pPr>
          </a:lstStyle>
          <a:p>
            <a:pPr>
              <a:defRPr/>
            </a:pPr>
            <a:fld id="{81627D45-3680-4120-ADEC-2D4CED3EEEA1}" type="slidenum">
              <a:rPr lang="en-US" altLang="en-US"/>
              <a:pPr>
                <a:defRPr/>
              </a:pPr>
              <a:t>‹#›</a:t>
            </a:fld>
            <a:endParaRPr lang="en-US" altLang="en-US" dirty="0"/>
          </a:p>
        </p:txBody>
      </p:sp>
    </p:spTree>
    <p:extLst>
      <p:ext uri="{BB962C8B-B14F-4D97-AF65-F5344CB8AC3E}">
        <p14:creationId xmlns:p14="http://schemas.microsoft.com/office/powerpoint/2010/main" val="1407093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6D603D2-A6C6-48B0-812F-90F123834752}" type="datetime1">
              <a:rPr lang="en-US"/>
              <a:pPr>
                <a:defRPr/>
              </a:pPr>
              <a:t>11/30/2021</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6ACF822A-BFFB-4365-AFE5-43BEEE997710}" type="slidenum">
              <a:rPr lang="en-US" altLang="en-US"/>
              <a:pPr>
                <a:defRPr/>
              </a:pPr>
              <a:t>‹#›</a:t>
            </a:fld>
            <a:endParaRPr lang="en-US" altLang="en-US" dirty="0"/>
          </a:p>
        </p:txBody>
      </p:sp>
    </p:spTree>
    <p:extLst>
      <p:ext uri="{BB962C8B-B14F-4D97-AF65-F5344CB8AC3E}">
        <p14:creationId xmlns:p14="http://schemas.microsoft.com/office/powerpoint/2010/main" val="19344873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2FD799C1-8FC9-44B8-9522-2C9BF5C670C5}" type="datetime1">
              <a:rPr lang="en-US"/>
              <a:pPr>
                <a:defRPr/>
              </a:pPr>
              <a:t>11/30/2021</a:t>
            </a:fld>
            <a:endParaRPr lang="en-US" altLang="en-US" dirty="0"/>
          </a:p>
        </p:txBody>
      </p:sp>
      <p:sp>
        <p:nvSpPr>
          <p:cNvPr id="6" name="Footer Placeholder 4"/>
          <p:cNvSpPr>
            <a:spLocks noGrp="1"/>
          </p:cNvSpPr>
          <p:nvPr>
            <p:ph type="ftr" sz="quarter" idx="11"/>
          </p:nvPr>
        </p:nvSpPr>
        <p:spPr/>
        <p:txBody>
          <a:bodyPr/>
          <a:lstStyle>
            <a:lvl1pPr>
              <a:defRPr/>
            </a:lvl1pPr>
          </a:lstStyle>
          <a:p>
            <a:pPr>
              <a:defRPr/>
            </a:pPr>
            <a:endParaRPr lang="en-US" altLang="en-US" dirty="0"/>
          </a:p>
        </p:txBody>
      </p:sp>
      <p:sp>
        <p:nvSpPr>
          <p:cNvPr id="7" name="Slide Number Placeholder 5"/>
          <p:cNvSpPr>
            <a:spLocks noGrp="1"/>
          </p:cNvSpPr>
          <p:nvPr>
            <p:ph type="sldNum" sz="quarter" idx="12"/>
          </p:nvPr>
        </p:nvSpPr>
        <p:spPr/>
        <p:txBody>
          <a:bodyPr/>
          <a:lstStyle>
            <a:lvl1pPr>
              <a:defRPr/>
            </a:lvl1pPr>
          </a:lstStyle>
          <a:p>
            <a:pPr>
              <a:defRPr/>
            </a:pPr>
            <a:fld id="{48354902-845C-42AB-8626-F072442D32F7}" type="slidenum">
              <a:rPr lang="en-US" altLang="en-US"/>
              <a:pPr>
                <a:defRPr/>
              </a:pPr>
              <a:t>‹#›</a:t>
            </a:fld>
            <a:endParaRPr lang="en-US" altLang="en-US" dirty="0"/>
          </a:p>
        </p:txBody>
      </p:sp>
    </p:spTree>
    <p:extLst>
      <p:ext uri="{BB962C8B-B14F-4D97-AF65-F5344CB8AC3E}">
        <p14:creationId xmlns:p14="http://schemas.microsoft.com/office/powerpoint/2010/main" val="3984554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CEEE49E-90D7-4DC4-B4A7-A2F2BE7F8A81}" type="datetime1">
              <a:rPr lang="en-US"/>
              <a:pPr>
                <a:defRPr/>
              </a:pPr>
              <a:t>11/30/2021</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1773F5B0-CD4F-4AC1-8324-39D68F78EFED}" type="slidenum">
              <a:rPr lang="en-US" altLang="en-US"/>
              <a:pPr>
                <a:defRPr/>
              </a:pPr>
              <a:t>‹#›</a:t>
            </a:fld>
            <a:endParaRPr lang="en-US" altLang="en-US" dirty="0"/>
          </a:p>
        </p:txBody>
      </p:sp>
    </p:spTree>
    <p:extLst>
      <p:ext uri="{BB962C8B-B14F-4D97-AF65-F5344CB8AC3E}">
        <p14:creationId xmlns:p14="http://schemas.microsoft.com/office/powerpoint/2010/main" val="36161818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9B0FEA6-688D-4F5C-93FE-DEECFF1AB383}" type="datetime1">
              <a:rPr lang="en-US"/>
              <a:pPr>
                <a:defRPr/>
              </a:pPr>
              <a:t>11/30/2021</a:t>
            </a:fld>
            <a:endParaRPr lang="en-US" altLang="en-US" dirty="0"/>
          </a:p>
        </p:txBody>
      </p:sp>
      <p:sp>
        <p:nvSpPr>
          <p:cNvPr id="5" name="Footer Placeholder 4"/>
          <p:cNvSpPr>
            <a:spLocks noGrp="1"/>
          </p:cNvSpPr>
          <p:nvPr>
            <p:ph type="ftr" sz="quarter" idx="11"/>
          </p:nvPr>
        </p:nvSpPr>
        <p:spPr/>
        <p:txBody>
          <a:bodyPr/>
          <a:lstStyle>
            <a:lvl1pPr>
              <a:defRPr/>
            </a:lvl1pPr>
          </a:lstStyle>
          <a:p>
            <a:pPr>
              <a:defRPr/>
            </a:pPr>
            <a:endParaRPr lang="en-US" altLang="en-US" dirty="0"/>
          </a:p>
        </p:txBody>
      </p:sp>
      <p:sp>
        <p:nvSpPr>
          <p:cNvPr id="6" name="Slide Number Placeholder 5"/>
          <p:cNvSpPr>
            <a:spLocks noGrp="1"/>
          </p:cNvSpPr>
          <p:nvPr>
            <p:ph type="sldNum" sz="quarter" idx="12"/>
          </p:nvPr>
        </p:nvSpPr>
        <p:spPr/>
        <p:txBody>
          <a:bodyPr/>
          <a:lstStyle>
            <a:lvl1pPr>
              <a:defRPr/>
            </a:lvl1pPr>
          </a:lstStyle>
          <a:p>
            <a:pPr>
              <a:defRPr/>
            </a:pPr>
            <a:fld id="{2E7AA040-820A-4231-839E-5B1AD38EE386}" type="slidenum">
              <a:rPr lang="en-US" altLang="en-US"/>
              <a:pPr>
                <a:defRPr/>
              </a:pPr>
              <a:t>‹#›</a:t>
            </a:fld>
            <a:endParaRPr lang="en-US" altLang="en-US" dirty="0"/>
          </a:p>
        </p:txBody>
      </p:sp>
    </p:spTree>
    <p:extLst>
      <p:ext uri="{BB962C8B-B14F-4D97-AF65-F5344CB8AC3E}">
        <p14:creationId xmlns:p14="http://schemas.microsoft.com/office/powerpoint/2010/main" val="35389527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alphaModFix amt="19000"/>
            <a:lum/>
          </a:blip>
          <a:srcRect/>
          <a:stretch>
            <a:fillRect l="-16000" r="-16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FE7F0EA-49D4-45A4-9C97-6B9A48DA8217}" type="datetime1">
              <a:rPr lang="en-US"/>
              <a:pPr>
                <a:defRPr/>
              </a:pPr>
              <a:t>11/30/2021</a:t>
            </a:fld>
            <a:endParaRPr lang="en-US" alt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lt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E7F75AF0-187E-407A-8136-888F64E12E5D}" type="slidenum">
              <a:rPr lang="en-US" altLang="en-US"/>
              <a:pPr>
                <a:defRPr/>
              </a:pPr>
              <a:t>‹#›</a:t>
            </a:fld>
            <a:endParaRPr lang="en-US" altLang="en-US" dirty="0"/>
          </a:p>
        </p:txBody>
      </p:sp>
    </p:spTree>
  </p:cSld>
  <p:clrMap bg1="lt1" tx1="dk1" bg2="lt2" tx2="dk2" accent1="accent1" accent2="accent2" accent3="accent3" accent4="accent4" accent5="accent5" accent6="accent6" hlink="hlink" folHlink="folHlink"/>
  <p:sldLayoutIdLst>
    <p:sldLayoutId id="2147484127" r:id="rId1"/>
    <p:sldLayoutId id="2147484128" r:id="rId2"/>
    <p:sldLayoutId id="2147484129" r:id="rId3"/>
    <p:sldLayoutId id="2147484130" r:id="rId4"/>
    <p:sldLayoutId id="2147484131" r:id="rId5"/>
    <p:sldLayoutId id="2147484132" r:id="rId6"/>
    <p:sldLayoutId id="2147484133" r:id="rId7"/>
    <p:sldLayoutId id="2147484134" r:id="rId8"/>
    <p:sldLayoutId id="2147484135" r:id="rId9"/>
    <p:sldLayoutId id="2147484136" r:id="rId10"/>
    <p:sldLayoutId id="2147484137" r:id="rId11"/>
  </p:sldLayoutIdLst>
  <p:hf hdr="0" ftr="0" dt="0"/>
  <p:txStyles>
    <p:titleStyle>
      <a:lvl1pPr algn="ctr" rtl="0" eaLnBrk="1" fontAlgn="base" hangingPunct="1">
        <a:spcBef>
          <a:spcPct val="0"/>
        </a:spcBef>
        <a:spcAft>
          <a:spcPct val="0"/>
        </a:spcAft>
        <a:defRPr sz="4400" kern="1200">
          <a:solidFill>
            <a:schemeClr val="tx1"/>
          </a:solidFill>
          <a:latin typeface="+mj-lt"/>
          <a:ea typeface="+mj-ea"/>
          <a:cs typeface="+mj-cs"/>
        </a:defRPr>
      </a:lvl1pPr>
      <a:lvl2pPr algn="ctr" rtl="0" eaLnBrk="1" fontAlgn="base" hangingPunct="1">
        <a:spcBef>
          <a:spcPct val="0"/>
        </a:spcBef>
        <a:spcAft>
          <a:spcPct val="0"/>
        </a:spcAft>
        <a:defRPr sz="4400">
          <a:solidFill>
            <a:schemeClr val="tx1"/>
          </a:solidFill>
          <a:latin typeface="Calibri" pitchFamily="34" charset="0"/>
        </a:defRPr>
      </a:lvl2pPr>
      <a:lvl3pPr algn="ctr" rtl="0" eaLnBrk="1" fontAlgn="base" hangingPunct="1">
        <a:spcBef>
          <a:spcPct val="0"/>
        </a:spcBef>
        <a:spcAft>
          <a:spcPct val="0"/>
        </a:spcAft>
        <a:defRPr sz="4400">
          <a:solidFill>
            <a:schemeClr val="tx1"/>
          </a:solidFill>
          <a:latin typeface="Calibri" pitchFamily="34" charset="0"/>
        </a:defRPr>
      </a:lvl3pPr>
      <a:lvl4pPr algn="ctr" rtl="0" eaLnBrk="1" fontAlgn="base" hangingPunct="1">
        <a:spcBef>
          <a:spcPct val="0"/>
        </a:spcBef>
        <a:spcAft>
          <a:spcPct val="0"/>
        </a:spcAft>
        <a:defRPr sz="4400">
          <a:solidFill>
            <a:schemeClr val="tx1"/>
          </a:solidFill>
          <a:latin typeface="Calibri" pitchFamily="34" charset="0"/>
        </a:defRPr>
      </a:lvl4pPr>
      <a:lvl5pPr algn="ctr" rtl="0" eaLnBrk="1" fontAlgn="base" hangingPunct="1">
        <a:spcBef>
          <a:spcPct val="0"/>
        </a:spcBef>
        <a:spcAft>
          <a:spcPct val="0"/>
        </a:spcAft>
        <a:defRPr sz="4400">
          <a:solidFill>
            <a:schemeClr val="tx1"/>
          </a:solidFill>
          <a:latin typeface="Calibri" pitchFamily="34" charset="0"/>
        </a:defRPr>
      </a:lvl5pPr>
      <a:lvl6pPr marL="457200" algn="ctr" rtl="0" eaLnBrk="1" fontAlgn="base" hangingPunct="1">
        <a:spcBef>
          <a:spcPct val="0"/>
        </a:spcBef>
        <a:spcAft>
          <a:spcPct val="0"/>
        </a:spcAft>
        <a:defRPr sz="4400">
          <a:solidFill>
            <a:schemeClr val="tx1"/>
          </a:solidFill>
          <a:latin typeface="Calibri" pitchFamily="34" charset="0"/>
        </a:defRPr>
      </a:lvl6pPr>
      <a:lvl7pPr marL="914400" algn="ctr" rtl="0" eaLnBrk="1" fontAlgn="base" hangingPunct="1">
        <a:spcBef>
          <a:spcPct val="0"/>
        </a:spcBef>
        <a:spcAft>
          <a:spcPct val="0"/>
        </a:spcAft>
        <a:defRPr sz="4400">
          <a:solidFill>
            <a:schemeClr val="tx1"/>
          </a:solidFill>
          <a:latin typeface="Calibri" pitchFamily="34" charset="0"/>
        </a:defRPr>
      </a:lvl7pPr>
      <a:lvl8pPr marL="1371600" algn="ctr" rtl="0" eaLnBrk="1" fontAlgn="base" hangingPunct="1">
        <a:spcBef>
          <a:spcPct val="0"/>
        </a:spcBef>
        <a:spcAft>
          <a:spcPct val="0"/>
        </a:spcAft>
        <a:defRPr sz="4400">
          <a:solidFill>
            <a:schemeClr val="tx1"/>
          </a:solidFill>
          <a:latin typeface="Calibri" pitchFamily="34" charset="0"/>
        </a:defRPr>
      </a:lvl8pPr>
      <a:lvl9pPr marL="1828800" algn="ctr" rtl="0" eaLnBrk="1" fontAlgn="base" hangingPunct="1">
        <a:spcBef>
          <a:spcPct val="0"/>
        </a:spcBef>
        <a:spcAft>
          <a:spcPct val="0"/>
        </a:spcAft>
        <a:defRPr sz="4400">
          <a:solidFill>
            <a:schemeClr val="tx1"/>
          </a:solidFill>
          <a:latin typeface="Calibri" pitchFamily="34"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2209800"/>
            <a:ext cx="4668838"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p:cNvSpPr>
            <a:spLocks noGrp="1"/>
          </p:cNvSpPr>
          <p:nvPr>
            <p:ph type="subTitle" idx="1"/>
          </p:nvPr>
        </p:nvSpPr>
        <p:spPr/>
        <p:txBody>
          <a:bodyPr/>
          <a:lstStyle/>
          <a:p>
            <a:r>
              <a:rPr lang="en-US" b="1" dirty="0">
                <a:latin typeface="Times New Roman" panose="02020603050405020304" pitchFamily="18" charset="0"/>
                <a:ea typeface="Tahoma" panose="020B0604030504040204" pitchFamily="34" charset="0"/>
                <a:cs typeface="Times New Roman" panose="02020603050405020304" pitchFamily="18" charset="0"/>
              </a:rPr>
              <a:t>Business Services Update</a:t>
            </a:r>
          </a:p>
          <a:p>
            <a:r>
              <a:rPr lang="en-US" b="1" dirty="0">
                <a:latin typeface="Times New Roman" panose="02020603050405020304" pitchFamily="18" charset="0"/>
                <a:ea typeface="Tahoma" panose="020B0604030504040204" pitchFamily="34" charset="0"/>
                <a:cs typeface="Times New Roman" panose="02020603050405020304" pitchFamily="18" charset="0"/>
              </a:rPr>
              <a:t>Board of Education Workshop</a:t>
            </a:r>
          </a:p>
          <a:p>
            <a:r>
              <a:rPr lang="en-US" b="1" dirty="0">
                <a:latin typeface="Times New Roman" panose="02020603050405020304" pitchFamily="18" charset="0"/>
                <a:ea typeface="Tahoma" panose="020B0604030504040204" pitchFamily="34" charset="0"/>
                <a:cs typeface="Times New Roman" panose="02020603050405020304" pitchFamily="18" charset="0"/>
              </a:rPr>
              <a:t>December 7, 2021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Agenda</a:t>
            </a:r>
          </a:p>
        </p:txBody>
      </p:sp>
      <p:pic>
        <p:nvPicPr>
          <p:cNvPr id="5" name="Content Placeholder 4"/>
          <p:cNvPicPr>
            <a:picLocks noGrp="1" noChangeAspect="1"/>
          </p:cNvPicPr>
          <p:nvPr>
            <p:ph idx="1"/>
          </p:nvPr>
        </p:nvPicPr>
        <p:blipFill>
          <a:blip r:embed="rId2" cstate="print">
            <a:extLst>
              <a:ext uri="{BEBA8EAE-BF5A-486C-A8C5-ECC9F3942E4B}">
                <a14:imgProps xmlns:a14="http://schemas.microsoft.com/office/drawing/2010/main">
                  <a14:imgLayer r:embed="rId3">
                    <a14:imgEffect>
                      <a14:colorTemperature colorTemp="659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3657600" y="6096000"/>
            <a:ext cx="2210525" cy="468994"/>
          </a:xfrm>
        </p:spPr>
      </p:pic>
      <p:sp>
        <p:nvSpPr>
          <p:cNvPr id="4" name="Slide Number Placeholder 3"/>
          <p:cNvSpPr>
            <a:spLocks noGrp="1"/>
          </p:cNvSpPr>
          <p:nvPr>
            <p:ph type="sldNum" sz="quarter" idx="12"/>
          </p:nvPr>
        </p:nvSpPr>
        <p:spPr/>
        <p:txBody>
          <a:bodyPr/>
          <a:lstStyle/>
          <a:p>
            <a:pPr>
              <a:defRPr/>
            </a:pPr>
            <a:fld id="{1A25CF7E-05FF-4B4A-9944-BE57E82D8571}" type="slidenum">
              <a:rPr lang="en-US" altLang="en-US" sz="1400" smtClean="0">
                <a:latin typeface="Times New Roman" panose="02020603050405020304" pitchFamily="18" charset="0"/>
                <a:cs typeface="Times New Roman" panose="02020603050405020304" pitchFamily="18" charset="0"/>
              </a:rPr>
              <a:pPr>
                <a:defRPr/>
              </a:pPr>
              <a:t>2</a:t>
            </a:fld>
            <a:endParaRPr lang="en-US" altLang="en-US" sz="1400" dirty="0">
              <a:latin typeface="Times New Roman" panose="02020603050405020304" pitchFamily="18" charset="0"/>
              <a:cs typeface="Times New Roman" panose="02020603050405020304" pitchFamily="18" charset="0"/>
            </a:endParaRPr>
          </a:p>
        </p:txBody>
      </p:sp>
      <p:sp>
        <p:nvSpPr>
          <p:cNvPr id="3" name="TextBox 2"/>
          <p:cNvSpPr txBox="1"/>
          <p:nvPr/>
        </p:nvSpPr>
        <p:spPr>
          <a:xfrm>
            <a:off x="609962" y="1690062"/>
            <a:ext cx="8305800" cy="2246769"/>
          </a:xfrm>
          <a:prstGeom prst="rect">
            <a:avLst/>
          </a:prstGeom>
          <a:noFill/>
        </p:spPr>
        <p:txBody>
          <a:bodyPr wrap="square" rtlCol="0">
            <a:spAutoFit/>
          </a:bodyPr>
          <a:lstStyle/>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2021-22 General Fund Budget Amendment #1</a:t>
            </a:r>
          </a:p>
          <a:p>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Non-recurring/One-time Revenue </a:t>
            </a:r>
          </a:p>
          <a:p>
            <a:r>
              <a:rPr lang="en-US" sz="2000" b="1" dirty="0">
                <a:latin typeface="Times New Roman" panose="02020603050405020304" pitchFamily="18" charset="0"/>
                <a:cs typeface="Times New Roman" panose="02020603050405020304" pitchFamily="18" charset="0"/>
              </a:rPr>
              <a:t> </a:t>
            </a: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Budget Schedule </a:t>
            </a:r>
          </a:p>
          <a:p>
            <a:pPr marL="457200" indent="-457200">
              <a:buFont typeface="Wingdings" panose="05000000000000000000" pitchFamily="2" charset="2"/>
              <a:buChar char="Ø"/>
            </a:pPr>
            <a:endParaRPr lang="en-US" sz="20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660401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9394"/>
            <a:ext cx="8229600" cy="944562"/>
          </a:xfrm>
        </p:spPr>
        <p:txBody>
          <a:bodyPr/>
          <a:lstStyle/>
          <a:p>
            <a:r>
              <a:rPr lang="en-US" sz="3200" b="1" dirty="0">
                <a:latin typeface="Times New Roman" panose="02020603050405020304" pitchFamily="18" charset="0"/>
                <a:cs typeface="Times New Roman" panose="02020603050405020304" pitchFamily="18" charset="0"/>
              </a:rPr>
              <a:t>2021-22 General Fund Budget Amendment #1 Revenue Adjustments</a:t>
            </a:r>
          </a:p>
        </p:txBody>
      </p:sp>
      <p:sp>
        <p:nvSpPr>
          <p:cNvPr id="3" name="Content Placeholder 2"/>
          <p:cNvSpPr>
            <a:spLocks noGrp="1"/>
          </p:cNvSpPr>
          <p:nvPr>
            <p:ph idx="1"/>
          </p:nvPr>
        </p:nvSpPr>
        <p:spPr>
          <a:xfrm>
            <a:off x="381000" y="990600"/>
            <a:ext cx="8382000" cy="5289550"/>
          </a:xfrm>
        </p:spPr>
        <p:txBody>
          <a:bodyPr/>
          <a:lstStyle/>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Local revenue - decrease $3.1 million or 7.5%</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FY 22 state school aid act reduced the amount of hold-harmless property tax millage the district may levy by $248 per pupil (decrease $3.4 million)</a:t>
            </a: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State revenue – increase $3.4 million or 3.23%</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Proposal A Obligation and Discretionary Payment (increase $900,000)</a:t>
            </a:r>
          </a:p>
          <a:p>
            <a:pPr lvl="2">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FTE = 12,450 </a:t>
            </a:r>
          </a:p>
          <a:p>
            <a:pPr lvl="2">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Foundation allowance $9,430 ($115 per pupil increase)</a:t>
            </a:r>
          </a:p>
          <a:p>
            <a:pPr lvl="2">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Section 20m ($56 per pupil) </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Section 147c retirement funding increase $2.3 million </a:t>
            </a:r>
          </a:p>
          <a:p>
            <a:pPr marL="457200" lvl="1" indent="0">
              <a:spcBef>
                <a:spcPts val="0"/>
              </a:spcBef>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Federal revenue - increase $1.0 million or 16.7%</a:t>
            </a:r>
          </a:p>
          <a:p>
            <a:pPr lvl="1">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COVID-19 related federal funding - ESSER III and ARP IDEA </a:t>
            </a: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err="1">
                <a:latin typeface="Times New Roman" panose="02020603050405020304" pitchFamily="18" charset="0"/>
                <a:cs typeface="Times New Roman" panose="02020603050405020304" pitchFamily="18" charset="0"/>
              </a:rPr>
              <a:t>Interdistrict</a:t>
            </a:r>
            <a:r>
              <a:rPr lang="en-US" sz="1600" dirty="0">
                <a:latin typeface="Times New Roman" panose="02020603050405020304" pitchFamily="18" charset="0"/>
                <a:cs typeface="Times New Roman" panose="02020603050405020304" pitchFamily="18" charset="0"/>
              </a:rPr>
              <a:t> revenue – no significant changes </a:t>
            </a:r>
          </a:p>
          <a:p>
            <a:pPr marL="0" indent="0">
              <a:buNone/>
            </a:pPr>
            <a:endParaRPr lang="en-US" sz="1600" dirty="0">
              <a:latin typeface="Times New Roman" panose="02020603050405020304" pitchFamily="18" charset="0"/>
              <a:cs typeface="Times New Roman" panose="02020603050405020304" pitchFamily="18" charset="0"/>
            </a:endParaRPr>
          </a:p>
          <a:p>
            <a:pPr marL="0" indent="0" algn="ctr">
              <a:buNone/>
            </a:pPr>
            <a:r>
              <a:rPr lang="en-US" sz="1600" b="1" dirty="0">
                <a:latin typeface="Times New Roman" panose="02020603050405020304" pitchFamily="18" charset="0"/>
                <a:cs typeface="Times New Roman" panose="02020603050405020304" pitchFamily="18" charset="0"/>
              </a:rPr>
              <a:t>NOTE: 11t and 31o allocations are expected but are not included in this amendment </a:t>
            </a:r>
            <a:endParaRPr lang="en-US" sz="1600" b="1" dirty="0"/>
          </a:p>
          <a:p>
            <a:pPr algn="ctr"/>
            <a:endParaRPr lang="en-US" sz="1600" b="1" dirty="0"/>
          </a:p>
          <a:p>
            <a:pPr lvl="1"/>
            <a:endParaRPr lang="en-US" sz="1200" dirty="0"/>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3</a:t>
            </a:fld>
            <a:endParaRPr lang="en-US" altLang="en-US" dirty="0"/>
          </a:p>
        </p:txBody>
      </p:sp>
    </p:spTree>
    <p:extLst>
      <p:ext uri="{BB962C8B-B14F-4D97-AF65-F5344CB8AC3E}">
        <p14:creationId xmlns:p14="http://schemas.microsoft.com/office/powerpoint/2010/main" val="325554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100" b="1" dirty="0">
                <a:latin typeface="Times New Roman" panose="02020603050405020304" pitchFamily="18" charset="0"/>
                <a:cs typeface="Times New Roman" panose="02020603050405020304" pitchFamily="18" charset="0"/>
              </a:rPr>
              <a:t>2021-22 General Fund Budget Amendment #1</a:t>
            </a:r>
            <a:br>
              <a:rPr lang="en-US" sz="3100" b="1"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 Revenue by Source</a:t>
            </a:r>
            <a:endParaRPr lang="en-US" sz="31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BAECF767-233D-4243-BC52-DE0F5B41B59B}"/>
              </a:ext>
            </a:extLst>
          </p:cNvPr>
          <p:cNvPicPr>
            <a:picLocks noChangeAspect="1"/>
          </p:cNvPicPr>
          <p:nvPr/>
        </p:nvPicPr>
        <p:blipFill>
          <a:blip r:embed="rId2"/>
          <a:stretch>
            <a:fillRect/>
          </a:stretch>
        </p:blipFill>
        <p:spPr>
          <a:xfrm>
            <a:off x="457200" y="2776008"/>
            <a:ext cx="8229600" cy="2174346"/>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4</a:t>
            </a:fld>
            <a:endParaRPr lang="en-US" altLang="en-US"/>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4</a:t>
            </a:fld>
            <a:endParaRPr lang="en-US" altLang="en-US"/>
          </a:p>
        </p:txBody>
      </p:sp>
    </p:spTree>
    <p:extLst>
      <p:ext uri="{BB962C8B-B14F-4D97-AF65-F5344CB8AC3E}">
        <p14:creationId xmlns:p14="http://schemas.microsoft.com/office/powerpoint/2010/main" val="42255137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sz="3200" b="1" dirty="0">
                <a:latin typeface="Times New Roman" panose="02020603050405020304" pitchFamily="18" charset="0"/>
                <a:cs typeface="Times New Roman" panose="02020603050405020304" pitchFamily="18" charset="0"/>
              </a:rPr>
              <a:t>2021-22 General Fund Budget Amendment #1</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Revenue by Source </a:t>
            </a: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5</a:t>
            </a:fld>
            <a:endParaRPr lang="en-US" alt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719329570"/>
              </p:ext>
            </p:extLst>
          </p:nvPr>
        </p:nvGraphicFramePr>
        <p:xfrm>
          <a:off x="228600" y="914400"/>
          <a:ext cx="8839200" cy="59436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5833766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37089"/>
            <a:ext cx="8229600" cy="1143000"/>
          </a:xfrm>
        </p:spPr>
        <p:txBody>
          <a:bodyPr/>
          <a:lstStyle/>
          <a:p>
            <a:r>
              <a:rPr lang="en-US" sz="3200" b="1" dirty="0">
                <a:latin typeface="Times New Roman" panose="02020603050405020304" pitchFamily="18" charset="0"/>
                <a:cs typeface="Times New Roman" panose="02020603050405020304" pitchFamily="18" charset="0"/>
              </a:rPr>
              <a:t>2021-22 General Fund Budget Amendment #1 Expenditure Adjustments</a:t>
            </a:r>
            <a:br>
              <a:rPr lang="en-US" sz="3200" b="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2900" y="1523999"/>
            <a:ext cx="8496300" cy="4953001"/>
          </a:xfrm>
        </p:spPr>
        <p:txBody>
          <a:bodyPr/>
          <a:lstStyle/>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Salaries – increase $1.7 million or 2.2%</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Salaries and benefits have been adjusted for current staffing and lane adjustments </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Adjustments to current schedule B and C contracts </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Para and non-rep wage adjustments per ratification of contracts after original budget adoption</a:t>
            </a:r>
          </a:p>
          <a:p>
            <a:pPr marL="457200" lvl="1"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Benefits – increase $3.1 million or 5.7%</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FICA and retirement increases related to salary changes above </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Increase to MPSERS UAAL retirement costs ($2.3 million)</a:t>
            </a: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Purchased Services – increase $323,000</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Increase in third party substitute costs, including usage and rates </a:t>
            </a: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Payments to Other Districts – increase $459,000</a:t>
            </a:r>
          </a:p>
          <a:p>
            <a:pPr lvl="1">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VLAC Tuition </a:t>
            </a: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342900" lvl="1" indent="-342900">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Supplies and Capital Outlay – no significant changes </a:t>
            </a: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457200" lvl="1"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6</a:t>
            </a:fld>
            <a:endParaRPr lang="en-US" altLang="en-US" dirty="0"/>
          </a:p>
        </p:txBody>
      </p:sp>
    </p:spTree>
    <p:extLst>
      <p:ext uri="{BB962C8B-B14F-4D97-AF65-F5344CB8AC3E}">
        <p14:creationId xmlns:p14="http://schemas.microsoft.com/office/powerpoint/2010/main" val="14723692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7C38953C-B5FA-4F62-B4D2-4BE99F0ABA5B}"/>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100" b="1" dirty="0">
                <a:latin typeface="Times New Roman" panose="02020603050405020304" pitchFamily="18" charset="0"/>
                <a:cs typeface="Times New Roman" panose="02020603050405020304" pitchFamily="18" charset="0"/>
              </a:rPr>
              <a:t>2021-22 General Fund Budget Amendment #1</a:t>
            </a:r>
            <a:br>
              <a:rPr lang="en-US" sz="3100" b="1"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Expenditures by Object</a:t>
            </a:r>
            <a:endParaRPr lang="en-US" sz="31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A622CEF-299B-4ECB-8B9B-42F3FEE61854}"/>
              </a:ext>
            </a:extLst>
          </p:cNvPr>
          <p:cNvPicPr>
            <a:picLocks noChangeAspect="1"/>
          </p:cNvPicPr>
          <p:nvPr/>
        </p:nvPicPr>
        <p:blipFill>
          <a:blip r:embed="rId2"/>
          <a:stretch>
            <a:fillRect/>
          </a:stretch>
        </p:blipFill>
        <p:spPr>
          <a:xfrm>
            <a:off x="457200" y="2275517"/>
            <a:ext cx="8229600" cy="3175329"/>
          </a:xfrm>
          <a:prstGeom prst="rect">
            <a:avLst/>
          </a:prstGeom>
          <a:noFill/>
        </p:spPr>
      </p:pic>
      <p:sp>
        <p:nvSpPr>
          <p:cNvPr id="16" name="Slide Number Placeholder 3">
            <a:extLst>
              <a:ext uri="{FF2B5EF4-FFF2-40B4-BE49-F238E27FC236}">
                <a16:creationId xmlns:a16="http://schemas.microsoft.com/office/drawing/2014/main" id="{4AA8DAD6-79E8-481A-BECE-D991492D7B58}"/>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1A25CF7E-05FF-4B4A-9944-BE57E82D8571}" type="slidenum">
              <a:rPr lang="en-US" altLang="en-US"/>
              <a:pPr>
                <a:spcAft>
                  <a:spcPts val="600"/>
                </a:spcAft>
                <a:defRPr/>
              </a:pPr>
              <a:t>7</a:t>
            </a:fld>
            <a:endParaRPr lang="en-US" altLang="en-US"/>
          </a:p>
        </p:txBody>
      </p:sp>
      <p:sp>
        <p:nvSpPr>
          <p:cNvPr id="4" name="Slide Number Placeholder 3" hidden="1">
            <a:extLst>
              <a:ext uri="{FF2B5EF4-FFF2-40B4-BE49-F238E27FC236}">
                <a16:creationId xmlns:a16="http://schemas.microsoft.com/office/drawing/2014/main" id="{7619BB8E-0483-4DED-849D-D298838F36AD}"/>
              </a:ext>
            </a:extLst>
          </p:cNvPr>
          <p:cNvSpPr>
            <a:spLocks noGrp="1"/>
          </p:cNvSpPr>
          <p:nvPr>
            <p:ph type="sldNum" sz="quarter" idx="12"/>
          </p:nvPr>
        </p:nvSpPr>
        <p:spPr/>
        <p:txBody>
          <a:bodyPr/>
          <a:lstStyle/>
          <a:p>
            <a:pPr>
              <a:spcAft>
                <a:spcPts val="600"/>
              </a:spcAft>
              <a:defRPr/>
            </a:pPr>
            <a:fld id="{1A25CF7E-05FF-4B4A-9944-BE57E82D8571}" type="slidenum">
              <a:rPr lang="en-US" altLang="en-US" smtClean="0"/>
              <a:pPr>
                <a:spcAft>
                  <a:spcPts val="600"/>
                </a:spcAft>
                <a:defRPr/>
              </a:pPr>
              <a:t>7</a:t>
            </a:fld>
            <a:endParaRPr lang="en-US" altLang="en-US"/>
          </a:p>
        </p:txBody>
      </p:sp>
    </p:spTree>
    <p:extLst>
      <p:ext uri="{BB962C8B-B14F-4D97-AF65-F5344CB8AC3E}">
        <p14:creationId xmlns:p14="http://schemas.microsoft.com/office/powerpoint/2010/main" val="255288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
            <a:ext cx="8229600" cy="1005840"/>
          </a:xfrm>
        </p:spPr>
        <p:txBody>
          <a:bodyPr/>
          <a:lstStyle/>
          <a:p>
            <a:r>
              <a:rPr lang="en-US" sz="3200" b="1" dirty="0">
                <a:latin typeface="Times New Roman" panose="02020603050405020304" pitchFamily="18" charset="0"/>
                <a:cs typeface="Times New Roman" panose="02020603050405020304" pitchFamily="18" charset="0"/>
              </a:rPr>
              <a:t>2021-22 General Fund Budget Amendment #1 </a:t>
            </a:r>
            <a:r>
              <a:rPr lang="en-US" sz="2800" b="1" dirty="0">
                <a:latin typeface="Times New Roman" panose="02020603050405020304" pitchFamily="18" charset="0"/>
                <a:cs typeface="Times New Roman" panose="02020603050405020304" pitchFamily="18" charset="0"/>
              </a:rPr>
              <a:t>Expenditures by Object</a:t>
            </a: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8</a:t>
            </a:fld>
            <a:endParaRPr lang="en-US" altLang="en-US"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428136128"/>
              </p:ext>
            </p:extLst>
          </p:nvPr>
        </p:nvGraphicFramePr>
        <p:xfrm>
          <a:off x="0" y="990600"/>
          <a:ext cx="8915400" cy="57308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907526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100" b="1" dirty="0">
                <a:latin typeface="Times New Roman" panose="02020603050405020304" pitchFamily="18" charset="0"/>
                <a:cs typeface="Times New Roman" panose="02020603050405020304" pitchFamily="18" charset="0"/>
              </a:rPr>
              <a:t>2021-22 General Fund Budget Amendment #1</a:t>
            </a:r>
            <a:br>
              <a:rPr lang="en-US" sz="3100" b="1"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Summary of Revenue &amp; Expenditures</a:t>
            </a:r>
          </a:p>
        </p:txBody>
      </p:sp>
      <p:pic>
        <p:nvPicPr>
          <p:cNvPr id="4" name="Picture 3">
            <a:extLst>
              <a:ext uri="{FF2B5EF4-FFF2-40B4-BE49-F238E27FC236}">
                <a16:creationId xmlns:a16="http://schemas.microsoft.com/office/drawing/2014/main" id="{9BB73B85-191C-407F-BCF6-A0E5CCD96146}"/>
              </a:ext>
            </a:extLst>
          </p:cNvPr>
          <p:cNvPicPr>
            <a:picLocks noChangeAspect="1"/>
          </p:cNvPicPr>
          <p:nvPr/>
        </p:nvPicPr>
        <p:blipFill>
          <a:blip r:embed="rId2"/>
          <a:stretch>
            <a:fillRect/>
          </a:stretch>
        </p:blipFill>
        <p:spPr>
          <a:xfrm>
            <a:off x="457200" y="1990988"/>
            <a:ext cx="8229600" cy="3744387"/>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9</a:t>
            </a:fld>
            <a:endParaRPr lang="en-US" altLang="en-US"/>
          </a:p>
        </p:txBody>
      </p:sp>
    </p:spTree>
    <p:extLst>
      <p:ext uri="{BB962C8B-B14F-4D97-AF65-F5344CB8AC3E}">
        <p14:creationId xmlns:p14="http://schemas.microsoft.com/office/powerpoint/2010/main" val="41836494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3100" b="1" dirty="0">
                <a:latin typeface="Times New Roman" panose="02020603050405020304" pitchFamily="18" charset="0"/>
                <a:cs typeface="Times New Roman" panose="02020603050405020304" pitchFamily="18" charset="0"/>
              </a:rPr>
              <a:t>2021-22 General Fund Budget Amendment #1</a:t>
            </a:r>
            <a:br>
              <a:rPr lang="en-US" sz="3100" b="1" dirty="0">
                <a:latin typeface="Times New Roman" panose="02020603050405020304" pitchFamily="18" charset="0"/>
                <a:cs typeface="Times New Roman" panose="02020603050405020304" pitchFamily="18" charset="0"/>
              </a:rPr>
            </a:br>
            <a:r>
              <a:rPr lang="en-US" sz="3100" b="1" dirty="0">
                <a:latin typeface="Times New Roman" panose="02020603050405020304" pitchFamily="18" charset="0"/>
                <a:cs typeface="Times New Roman" panose="02020603050405020304" pitchFamily="18" charset="0"/>
              </a:rPr>
              <a:t>One-time Revenue </a:t>
            </a:r>
          </a:p>
        </p:txBody>
      </p:sp>
      <p:pic>
        <p:nvPicPr>
          <p:cNvPr id="3" name="Picture 2">
            <a:extLst>
              <a:ext uri="{FF2B5EF4-FFF2-40B4-BE49-F238E27FC236}">
                <a16:creationId xmlns:a16="http://schemas.microsoft.com/office/drawing/2014/main" id="{2EB72011-4CD7-43D8-8DB6-F935A6285EB1}"/>
              </a:ext>
            </a:extLst>
          </p:cNvPr>
          <p:cNvPicPr>
            <a:picLocks noChangeAspect="1"/>
          </p:cNvPicPr>
          <p:nvPr/>
        </p:nvPicPr>
        <p:blipFill>
          <a:blip r:embed="rId2"/>
          <a:stretch>
            <a:fillRect/>
          </a:stretch>
        </p:blipFill>
        <p:spPr>
          <a:xfrm>
            <a:off x="457200" y="2422817"/>
            <a:ext cx="8229600" cy="2880728"/>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10</a:t>
            </a:fld>
            <a:endParaRPr lang="en-US" altLang="en-US"/>
          </a:p>
        </p:txBody>
      </p:sp>
    </p:spTree>
    <p:extLst>
      <p:ext uri="{BB962C8B-B14F-4D97-AF65-F5344CB8AC3E}">
        <p14:creationId xmlns:p14="http://schemas.microsoft.com/office/powerpoint/2010/main" val="30684213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2EEB62-A184-49CC-9290-7A857FE2AF42}"/>
              </a:ext>
            </a:extLst>
          </p:cNvPr>
          <p:cNvSpPr>
            <a:spLocks noGrp="1"/>
          </p:cNvSpPr>
          <p:nvPr>
            <p:ph type="title"/>
          </p:nvPr>
        </p:nvSpPr>
        <p:spPr>
          <a:xfrm>
            <a:off x="457200" y="274638"/>
            <a:ext cx="8229600" cy="1143000"/>
          </a:xfrm>
        </p:spPr>
        <p:txBody>
          <a:bodyPr wrap="square" anchor="ctr">
            <a:normAutofit/>
          </a:bodyPr>
          <a:lstStyle/>
          <a:p>
            <a:pPr>
              <a:lnSpc>
                <a:spcPct val="90000"/>
              </a:lnSpc>
            </a:pPr>
            <a:r>
              <a:rPr lang="en-US" sz="2400" b="1" dirty="0">
                <a:latin typeface="Times New Roman" panose="02020603050405020304" pitchFamily="18" charset="0"/>
                <a:cs typeface="Times New Roman" panose="02020603050405020304" pitchFamily="18" charset="0"/>
              </a:rPr>
              <a:t>2021-22 General Fund Budget Amendment #1</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Summary of Revenue &amp; Expenditures</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(excluding one-time revenue and expenditures)</a:t>
            </a:r>
          </a:p>
        </p:txBody>
      </p:sp>
      <p:pic>
        <p:nvPicPr>
          <p:cNvPr id="4" name="Picture 3">
            <a:extLst>
              <a:ext uri="{FF2B5EF4-FFF2-40B4-BE49-F238E27FC236}">
                <a16:creationId xmlns:a16="http://schemas.microsoft.com/office/drawing/2014/main" id="{D01D5E5F-D4D0-4D92-ADAE-E3587B731F43}"/>
              </a:ext>
            </a:extLst>
          </p:cNvPr>
          <p:cNvPicPr>
            <a:picLocks noChangeAspect="1"/>
          </p:cNvPicPr>
          <p:nvPr/>
        </p:nvPicPr>
        <p:blipFill>
          <a:blip r:embed="rId2"/>
          <a:stretch>
            <a:fillRect/>
          </a:stretch>
        </p:blipFill>
        <p:spPr>
          <a:xfrm>
            <a:off x="457200" y="1990988"/>
            <a:ext cx="8229600" cy="3744387"/>
          </a:xfrm>
          <a:prstGeom prst="rect">
            <a:avLst/>
          </a:prstGeom>
          <a:noFill/>
        </p:spPr>
      </p:pic>
      <p:sp>
        <p:nvSpPr>
          <p:cNvPr id="2" name="Slide Number Placeholder 1">
            <a:extLst>
              <a:ext uri="{FF2B5EF4-FFF2-40B4-BE49-F238E27FC236}">
                <a16:creationId xmlns:a16="http://schemas.microsoft.com/office/drawing/2014/main" id="{4D733362-333C-4721-A846-791328827D87}"/>
              </a:ext>
            </a:extLst>
          </p:cNvPr>
          <p:cNvSpPr>
            <a:spLocks noGrp="1"/>
          </p:cNvSpPr>
          <p:nvPr>
            <p:ph type="sldNum" sz="quarter" idx="12"/>
          </p:nvPr>
        </p:nvSpPr>
        <p:spPr>
          <a:xfrm>
            <a:off x="6553200" y="6356350"/>
            <a:ext cx="2133600" cy="365125"/>
          </a:xfrm>
        </p:spPr>
        <p:txBody>
          <a:bodyPr anchor="ctr">
            <a:normAutofit/>
          </a:bodyPr>
          <a:lstStyle/>
          <a:p>
            <a:pPr>
              <a:spcAft>
                <a:spcPts val="600"/>
              </a:spcAft>
              <a:defRPr/>
            </a:pPr>
            <a:fld id="{81627D45-3680-4120-ADEC-2D4CED3EEEA1}" type="slidenum">
              <a:rPr lang="en-US" altLang="en-US" smtClean="0"/>
              <a:pPr>
                <a:spcAft>
                  <a:spcPts val="600"/>
                </a:spcAft>
                <a:defRPr/>
              </a:pPr>
              <a:t>11</a:t>
            </a:fld>
            <a:endParaRPr lang="en-US" altLang="en-US"/>
          </a:p>
        </p:txBody>
      </p:sp>
    </p:spTree>
    <p:extLst>
      <p:ext uri="{BB962C8B-B14F-4D97-AF65-F5344CB8AC3E}">
        <p14:creationId xmlns:p14="http://schemas.microsoft.com/office/powerpoint/2010/main" val="2404610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B7611-0857-4C91-8D83-EE13049AD4B6}"/>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So What, Now What</a:t>
            </a:r>
          </a:p>
        </p:txBody>
      </p:sp>
      <p:sp>
        <p:nvSpPr>
          <p:cNvPr id="3" name="Content Placeholder 2">
            <a:extLst>
              <a:ext uri="{FF2B5EF4-FFF2-40B4-BE49-F238E27FC236}">
                <a16:creationId xmlns:a16="http://schemas.microsoft.com/office/drawing/2014/main" id="{D60F27A6-FB02-45AE-AD8C-7F9343F2B931}"/>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Declining Enrollment</a:t>
            </a:r>
          </a:p>
          <a:p>
            <a:r>
              <a:rPr lang="en-US" dirty="0">
                <a:latin typeface="Times New Roman" panose="02020603050405020304" pitchFamily="18" charset="0"/>
                <a:cs typeface="Times New Roman" panose="02020603050405020304" pitchFamily="18" charset="0"/>
              </a:rPr>
              <a:t>Federal Funding</a:t>
            </a:r>
          </a:p>
          <a:p>
            <a:r>
              <a:rPr lang="en-US" dirty="0">
                <a:latin typeface="Times New Roman" panose="02020603050405020304" pitchFamily="18" charset="0"/>
                <a:cs typeface="Times New Roman" panose="02020603050405020304" pitchFamily="18" charset="0"/>
              </a:rPr>
              <a:t>Structural Deficit</a:t>
            </a:r>
          </a:p>
          <a:p>
            <a:r>
              <a:rPr lang="en-US" dirty="0">
                <a:latin typeface="Times New Roman" panose="02020603050405020304" pitchFamily="18" charset="0"/>
                <a:cs typeface="Times New Roman" panose="02020603050405020304" pitchFamily="18" charset="0"/>
              </a:rPr>
              <a:t>Strategic Use of Fund Balance</a:t>
            </a:r>
          </a:p>
          <a:p>
            <a:r>
              <a:rPr lang="en-US" dirty="0">
                <a:latin typeface="Times New Roman" panose="02020603050405020304" pitchFamily="18" charset="0"/>
                <a:cs typeface="Times New Roman" panose="02020603050405020304" pitchFamily="18" charset="0"/>
              </a:rPr>
              <a:t>Right-Sizing Staff</a:t>
            </a:r>
          </a:p>
        </p:txBody>
      </p:sp>
      <p:sp>
        <p:nvSpPr>
          <p:cNvPr id="4" name="Slide Number Placeholder 3">
            <a:extLst>
              <a:ext uri="{FF2B5EF4-FFF2-40B4-BE49-F238E27FC236}">
                <a16:creationId xmlns:a16="http://schemas.microsoft.com/office/drawing/2014/main" id="{DF3E9B75-312A-40AE-8375-B225E4E245A5}"/>
              </a:ext>
            </a:extLst>
          </p:cNvPr>
          <p:cNvSpPr>
            <a:spLocks noGrp="1"/>
          </p:cNvSpPr>
          <p:nvPr>
            <p:ph type="sldNum" sz="quarter" idx="12"/>
          </p:nvPr>
        </p:nvSpPr>
        <p:spPr/>
        <p:txBody>
          <a:bodyPr/>
          <a:lstStyle/>
          <a:p>
            <a:pPr>
              <a:defRPr/>
            </a:pPr>
            <a:fld id="{1A25CF7E-05FF-4B4A-9944-BE57E82D8571}" type="slidenum">
              <a:rPr lang="en-US" altLang="en-US" smtClean="0"/>
              <a:pPr>
                <a:defRPr/>
              </a:pPr>
              <a:t>12</a:t>
            </a:fld>
            <a:endParaRPr lang="en-US" altLang="en-US" dirty="0"/>
          </a:p>
        </p:txBody>
      </p:sp>
    </p:spTree>
    <p:extLst>
      <p:ext uri="{BB962C8B-B14F-4D97-AF65-F5344CB8AC3E}">
        <p14:creationId xmlns:p14="http://schemas.microsoft.com/office/powerpoint/2010/main" val="6824204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152400"/>
            <a:ext cx="7086600" cy="838200"/>
          </a:xfrm>
        </p:spPr>
        <p:txBody>
          <a:bodyPr/>
          <a:lstStyle/>
          <a:p>
            <a:r>
              <a:rPr lang="en-US" sz="3600" b="1" dirty="0">
                <a:latin typeface="Times New Roman" panose="02020603050405020304" pitchFamily="18" charset="0"/>
                <a:cs typeface="Times New Roman" panose="02020603050405020304" pitchFamily="18" charset="0"/>
              </a:rPr>
              <a:t>Budget Schedule</a:t>
            </a:r>
          </a:p>
        </p:txBody>
      </p:sp>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13</a:t>
            </a:fld>
            <a:endParaRPr lang="en-US" altLang="en-US" dirty="0"/>
          </a:p>
        </p:txBody>
      </p:sp>
      <p:sp>
        <p:nvSpPr>
          <p:cNvPr id="7" name="TextBox 6"/>
          <p:cNvSpPr txBox="1"/>
          <p:nvPr/>
        </p:nvSpPr>
        <p:spPr>
          <a:xfrm>
            <a:off x="304800" y="1524000"/>
            <a:ext cx="8534400" cy="4154984"/>
          </a:xfrm>
          <a:prstGeom prst="rect">
            <a:avLst/>
          </a:prstGeom>
          <a:noFill/>
        </p:spPr>
        <p:txBody>
          <a:bodyPr wrap="square" rtlCol="0">
            <a:spAutoFit/>
          </a:bodyPr>
          <a:lstStyle/>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March: Amend 2021-22 General Fund Budget Amendment #2</a:t>
            </a:r>
          </a:p>
          <a:p>
            <a:pPr marL="457200" indent="-4572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April: Amend 2021-22 ancillary fund budgets </a:t>
            </a:r>
          </a:p>
          <a:p>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April - May: Develop 2022-23 budgets and 2021-22 final amendments </a:t>
            </a:r>
          </a:p>
          <a:p>
            <a:pPr marL="457200" indent="-4572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June: Public Hearing and Millage Rate Adoption</a:t>
            </a:r>
          </a:p>
          <a:p>
            <a:pPr marL="457200" indent="-457200">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June: 2022-23 Budget Adoption and 2021-22 Budget Amendment (final)</a:t>
            </a:r>
          </a:p>
        </p:txBody>
      </p:sp>
    </p:spTree>
    <p:extLst>
      <p:ext uri="{BB962C8B-B14F-4D97-AF65-F5344CB8AC3E}">
        <p14:creationId xmlns:p14="http://schemas.microsoft.com/office/powerpoint/2010/main" val="41960308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1A25CF7E-05FF-4B4A-9944-BE57E82D8571}" type="slidenum">
              <a:rPr lang="en-US" altLang="en-US" smtClean="0"/>
              <a:pPr>
                <a:defRPr/>
              </a:pPr>
              <a:t>14</a:t>
            </a:fld>
            <a:endParaRPr lang="en-US" altLang="en-US" dirty="0"/>
          </a:p>
        </p:txBody>
      </p:sp>
      <p:sp>
        <p:nvSpPr>
          <p:cNvPr id="5" name="Content Placeholder 2"/>
          <p:cNvSpPr>
            <a:spLocks noGrp="1"/>
          </p:cNvSpPr>
          <p:nvPr>
            <p:ph idx="1"/>
          </p:nvPr>
        </p:nvSpPr>
        <p:spPr>
          <a:xfrm>
            <a:off x="381000" y="1219200"/>
            <a:ext cx="8229600" cy="4525963"/>
          </a:xfrm>
        </p:spPr>
        <p:txBody>
          <a:bodyPr/>
          <a:lstStyle/>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endParaRPr lang="en-US" sz="2400" b="1" dirty="0">
              <a:latin typeface="Times New Roman" panose="02020603050405020304" pitchFamily="18" charset="0"/>
              <a:cs typeface="Times New Roman" panose="02020603050405020304" pitchFamily="18" charset="0"/>
            </a:endParaRPr>
          </a:p>
          <a:p>
            <a:pPr marL="0" indent="0" algn="ctr">
              <a:buNone/>
            </a:pPr>
            <a:r>
              <a:rPr lang="en-US" sz="6600" b="1" dirty="0">
                <a:latin typeface="Times New Roman" panose="02020603050405020304" pitchFamily="18" charset="0"/>
                <a:cs typeface="Times New Roman" panose="02020603050405020304" pitchFamily="18" charset="0"/>
              </a:rPr>
              <a:t>Questions?</a:t>
            </a:r>
          </a:p>
        </p:txBody>
      </p:sp>
    </p:spTree>
    <p:extLst>
      <p:ext uri="{BB962C8B-B14F-4D97-AF65-F5344CB8AC3E}">
        <p14:creationId xmlns:p14="http://schemas.microsoft.com/office/powerpoint/2010/main" val="3415985247"/>
      </p:ext>
    </p:extLst>
  </p:cSld>
  <p:clrMapOvr>
    <a:masterClrMapping/>
  </p:clrMapOvr>
</p:sld>
</file>

<file path=ppt/theme/theme1.xml><?xml version="1.0" encoding="utf-8"?>
<a:theme xmlns:a="http://schemas.openxmlformats.org/drawingml/2006/main" name="OneTroyPPT 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377</TotalTime>
  <Words>670</Words>
  <Application>Microsoft Office PowerPoint</Application>
  <PresentationFormat>On-screen Show (4:3)</PresentationFormat>
  <Paragraphs>108</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Tahoma</vt:lpstr>
      <vt:lpstr>Times New Roman</vt:lpstr>
      <vt:lpstr>Wingdings</vt:lpstr>
      <vt:lpstr>OneTroyPPT Template</vt:lpstr>
      <vt:lpstr>PowerPoint Presentation</vt:lpstr>
      <vt:lpstr>Agenda</vt:lpstr>
      <vt:lpstr>2021-22 General Fund Budget Amendment #1 Revenue Adjustments</vt:lpstr>
      <vt:lpstr>2021-22 General Fund Budget Amendment #1  Revenue by Source</vt:lpstr>
      <vt:lpstr>2021-22 General Fund Budget Amendment #1 Revenue by Source </vt:lpstr>
      <vt:lpstr>2021-22 General Fund Budget Amendment #1 Expenditure Adjustments </vt:lpstr>
      <vt:lpstr>2021-22 General Fund Budget Amendment #1 Expenditures by Object</vt:lpstr>
      <vt:lpstr>2021-22 General Fund Budget Amendment #1 Expenditures by Object</vt:lpstr>
      <vt:lpstr>2021-22 General Fund Budget Amendment #1 Summary of Revenue &amp; Expenditures</vt:lpstr>
      <vt:lpstr>2021-22 General Fund Budget Amendment #1 One-time Revenue </vt:lpstr>
      <vt:lpstr>2021-22 General Fund Budget Amendment #1 Summary of Revenue &amp; Expenditures (excluding one-time revenue and expenditures)</vt:lpstr>
      <vt:lpstr>So What, Now What</vt:lpstr>
      <vt:lpstr>Budget Schedule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West, Rick</dc:creator>
  <cp:lastModifiedBy>West, Rick</cp:lastModifiedBy>
  <cp:revision>11</cp:revision>
  <dcterms:created xsi:type="dcterms:W3CDTF">2020-11-30T21:31:33Z</dcterms:created>
  <dcterms:modified xsi:type="dcterms:W3CDTF">2021-11-30T23:41:48Z</dcterms:modified>
</cp:coreProperties>
</file>