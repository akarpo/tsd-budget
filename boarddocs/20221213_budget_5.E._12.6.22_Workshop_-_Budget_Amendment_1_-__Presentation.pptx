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8" r:id="rId1"/>
  </p:sldMasterIdLst>
  <p:notesMasterIdLst>
    <p:notesMasterId r:id="rId11"/>
  </p:notesMasterIdLst>
  <p:handoutMasterIdLst>
    <p:handoutMasterId r:id="rId12"/>
  </p:handoutMasterIdLst>
  <p:sldIdLst>
    <p:sldId id="256" r:id="rId2"/>
    <p:sldId id="317" r:id="rId3"/>
    <p:sldId id="263" r:id="rId4"/>
    <p:sldId id="280" r:id="rId5"/>
    <p:sldId id="330" r:id="rId6"/>
    <p:sldId id="333" r:id="rId7"/>
    <p:sldId id="313" r:id="rId8"/>
    <p:sldId id="334" r:id="rId9"/>
    <p:sldId id="335" r:id="rId10"/>
  </p:sldIdLst>
  <p:sldSz cx="9144000" cy="6858000" type="screen4x3"/>
  <p:notesSz cx="7010400" cy="9236075"/>
  <p:defaultTextStyle>
    <a:defPPr>
      <a:defRPr lang="en-US"/>
    </a:defPPr>
    <a:lvl1pPr algn="l" rtl="0" fontAlgn="base">
      <a:spcBef>
        <a:spcPct val="0"/>
      </a:spcBef>
      <a:spcAft>
        <a:spcPct val="0"/>
      </a:spcAft>
      <a:defRPr sz="3000" kern="1200">
        <a:solidFill>
          <a:schemeClr val="tx1"/>
        </a:solidFill>
        <a:latin typeface="Arial" charset="0"/>
        <a:ea typeface="+mn-ea"/>
        <a:cs typeface="Arial" charset="0"/>
      </a:defRPr>
    </a:lvl1pPr>
    <a:lvl2pPr marL="457200" algn="l" rtl="0" fontAlgn="base">
      <a:spcBef>
        <a:spcPct val="0"/>
      </a:spcBef>
      <a:spcAft>
        <a:spcPct val="0"/>
      </a:spcAft>
      <a:defRPr sz="3000" kern="1200">
        <a:solidFill>
          <a:schemeClr val="tx1"/>
        </a:solidFill>
        <a:latin typeface="Arial" charset="0"/>
        <a:ea typeface="+mn-ea"/>
        <a:cs typeface="Arial" charset="0"/>
      </a:defRPr>
    </a:lvl2pPr>
    <a:lvl3pPr marL="914400" algn="l" rtl="0" fontAlgn="base">
      <a:spcBef>
        <a:spcPct val="0"/>
      </a:spcBef>
      <a:spcAft>
        <a:spcPct val="0"/>
      </a:spcAft>
      <a:defRPr sz="3000" kern="1200">
        <a:solidFill>
          <a:schemeClr val="tx1"/>
        </a:solidFill>
        <a:latin typeface="Arial" charset="0"/>
        <a:ea typeface="+mn-ea"/>
        <a:cs typeface="Arial" charset="0"/>
      </a:defRPr>
    </a:lvl3pPr>
    <a:lvl4pPr marL="1371600" algn="l" rtl="0" fontAlgn="base">
      <a:spcBef>
        <a:spcPct val="0"/>
      </a:spcBef>
      <a:spcAft>
        <a:spcPct val="0"/>
      </a:spcAft>
      <a:defRPr sz="3000" kern="1200">
        <a:solidFill>
          <a:schemeClr val="tx1"/>
        </a:solidFill>
        <a:latin typeface="Arial" charset="0"/>
        <a:ea typeface="+mn-ea"/>
        <a:cs typeface="Arial" charset="0"/>
      </a:defRPr>
    </a:lvl4pPr>
    <a:lvl5pPr marL="1828800" algn="l" rtl="0" fontAlgn="base">
      <a:spcBef>
        <a:spcPct val="0"/>
      </a:spcBef>
      <a:spcAft>
        <a:spcPct val="0"/>
      </a:spcAft>
      <a:defRPr sz="3000" kern="1200">
        <a:solidFill>
          <a:schemeClr val="tx1"/>
        </a:solidFill>
        <a:latin typeface="Arial" charset="0"/>
        <a:ea typeface="+mn-ea"/>
        <a:cs typeface="Arial" charset="0"/>
      </a:defRPr>
    </a:lvl5pPr>
    <a:lvl6pPr marL="2286000" algn="l" defTabSz="914400" rtl="0" eaLnBrk="1" latinLnBrk="0" hangingPunct="1">
      <a:defRPr sz="3000" kern="1200">
        <a:solidFill>
          <a:schemeClr val="tx1"/>
        </a:solidFill>
        <a:latin typeface="Arial" charset="0"/>
        <a:ea typeface="+mn-ea"/>
        <a:cs typeface="Arial" charset="0"/>
      </a:defRPr>
    </a:lvl6pPr>
    <a:lvl7pPr marL="2743200" algn="l" defTabSz="914400" rtl="0" eaLnBrk="1" latinLnBrk="0" hangingPunct="1">
      <a:defRPr sz="3000" kern="1200">
        <a:solidFill>
          <a:schemeClr val="tx1"/>
        </a:solidFill>
        <a:latin typeface="Arial" charset="0"/>
        <a:ea typeface="+mn-ea"/>
        <a:cs typeface="Arial" charset="0"/>
      </a:defRPr>
    </a:lvl7pPr>
    <a:lvl8pPr marL="3200400" algn="l" defTabSz="914400" rtl="0" eaLnBrk="1" latinLnBrk="0" hangingPunct="1">
      <a:defRPr sz="3000" kern="1200">
        <a:solidFill>
          <a:schemeClr val="tx1"/>
        </a:solidFill>
        <a:latin typeface="Arial" charset="0"/>
        <a:ea typeface="+mn-ea"/>
        <a:cs typeface="Arial" charset="0"/>
      </a:defRPr>
    </a:lvl8pPr>
    <a:lvl9pPr marL="3657600" algn="l" defTabSz="914400" rtl="0" eaLnBrk="1" latinLnBrk="0" hangingPunct="1">
      <a:defRPr sz="30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9"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66"/>
    <a:srgbClr val="0066FF"/>
    <a:srgbClr val="0298EC"/>
    <a:srgbClr val="FFCC00"/>
    <a:srgbClr val="DDF0D4"/>
    <a:srgbClr val="D9F2C6"/>
    <a:srgbClr val="0000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6005" autoAdjust="0"/>
  </p:normalViewPr>
  <p:slideViewPr>
    <p:cSldViewPr>
      <p:cViewPr varScale="1">
        <p:scale>
          <a:sx n="82" d="100"/>
          <a:sy n="82" d="100"/>
        </p:scale>
        <p:origin x="1363"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1404" y="732"/>
      </p:cViewPr>
      <p:guideLst>
        <p:guide orient="horz" pos="2909"/>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b="1" dirty="0">
                <a:solidFill>
                  <a:schemeClr val="tx1"/>
                </a:solidFill>
                <a:latin typeface="Times New Roman" panose="02020603050405020304" pitchFamily="18" charset="0"/>
                <a:cs typeface="Times New Roman" panose="02020603050405020304" pitchFamily="18" charset="0"/>
              </a:rPr>
              <a:t>Student Enrollment</a:t>
            </a:r>
            <a:r>
              <a:rPr lang="en-US" b="1" baseline="0" dirty="0">
                <a:solidFill>
                  <a:schemeClr val="tx1"/>
                </a:solidFill>
                <a:latin typeface="Times New Roman" panose="02020603050405020304" pitchFamily="18" charset="0"/>
                <a:cs typeface="Times New Roman" panose="02020603050405020304" pitchFamily="18" charset="0"/>
              </a:rPr>
              <a:t> (FTE)</a:t>
            </a:r>
            <a:r>
              <a:rPr lang="en-US" b="1" dirty="0">
                <a:solidFill>
                  <a:schemeClr val="tx1"/>
                </a:solidFill>
                <a:latin typeface="Times New Roman" panose="02020603050405020304" pitchFamily="18" charset="0"/>
                <a:cs typeface="Times New Roman" panose="02020603050405020304" pitchFamily="18" charset="0"/>
              </a:rPr>
              <a:t> vs. Teacher FTE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'FTE Data'!$A$5</c:f>
              <c:strCache>
                <c:ptCount val="1"/>
                <c:pt idx="0">
                  <c:v>Student FTE</c:v>
                </c:pt>
              </c:strCache>
            </c:strRef>
          </c:tx>
          <c:spPr>
            <a:solidFill>
              <a:schemeClr val="accent1"/>
            </a:solidFill>
            <a:ln>
              <a:noFill/>
            </a:ln>
            <a:effectLst/>
          </c:spPr>
          <c:invertIfNegative val="0"/>
          <c:cat>
            <c:strRef>
              <c:f>'FTE Data'!$B$4:$J$4</c:f>
              <c:strCache>
                <c:ptCount val="9"/>
                <c:pt idx="0">
                  <c:v>2014-2015</c:v>
                </c:pt>
                <c:pt idx="1">
                  <c:v>2015-2016</c:v>
                </c:pt>
                <c:pt idx="2">
                  <c:v>2016-2017</c:v>
                </c:pt>
                <c:pt idx="3">
                  <c:v>2017-2018</c:v>
                </c:pt>
                <c:pt idx="4">
                  <c:v>2018-2019</c:v>
                </c:pt>
                <c:pt idx="5">
                  <c:v>2019-2020</c:v>
                </c:pt>
                <c:pt idx="6">
                  <c:v>2020-2021</c:v>
                </c:pt>
                <c:pt idx="7">
                  <c:v>2021-2022</c:v>
                </c:pt>
                <c:pt idx="8">
                  <c:v>2022-2023</c:v>
                </c:pt>
              </c:strCache>
            </c:strRef>
          </c:cat>
          <c:val>
            <c:numRef>
              <c:f>'FTE Data'!$B$5:$J$5</c:f>
              <c:numCache>
                <c:formatCode>#,##0_);\(#,##0\)</c:formatCode>
                <c:ptCount val="9"/>
                <c:pt idx="0">
                  <c:v>12563</c:v>
                </c:pt>
                <c:pt idx="1">
                  <c:v>12717</c:v>
                </c:pt>
                <c:pt idx="2">
                  <c:v>12881</c:v>
                </c:pt>
                <c:pt idx="3">
                  <c:v>13081</c:v>
                </c:pt>
                <c:pt idx="4">
                  <c:v>13096</c:v>
                </c:pt>
                <c:pt idx="5">
                  <c:v>13111</c:v>
                </c:pt>
                <c:pt idx="6">
                  <c:v>12773</c:v>
                </c:pt>
                <c:pt idx="7">
                  <c:v>12428</c:v>
                </c:pt>
                <c:pt idx="8">
                  <c:v>12352</c:v>
                </c:pt>
              </c:numCache>
            </c:numRef>
          </c:val>
          <c:extLst>
            <c:ext xmlns:c16="http://schemas.microsoft.com/office/drawing/2014/chart" uri="{C3380CC4-5D6E-409C-BE32-E72D297353CC}">
              <c16:uniqueId val="{00000000-D92A-474F-86B4-EE916B723615}"/>
            </c:ext>
          </c:extLst>
        </c:ser>
        <c:dLbls>
          <c:showLegendKey val="0"/>
          <c:showVal val="0"/>
          <c:showCatName val="0"/>
          <c:showSerName val="0"/>
          <c:showPercent val="0"/>
          <c:showBubbleSize val="0"/>
        </c:dLbls>
        <c:gapWidth val="219"/>
        <c:overlap val="-27"/>
        <c:axId val="274299727"/>
        <c:axId val="274302639"/>
      </c:barChart>
      <c:lineChart>
        <c:grouping val="standard"/>
        <c:varyColors val="0"/>
        <c:ser>
          <c:idx val="1"/>
          <c:order val="1"/>
          <c:tx>
            <c:strRef>
              <c:f>'FTE Data'!$A$6</c:f>
              <c:strCache>
                <c:ptCount val="1"/>
                <c:pt idx="0">
                  <c:v>TEA FTE</c:v>
                </c:pt>
              </c:strCache>
            </c:strRef>
          </c:tx>
          <c:spPr>
            <a:ln w="50800" cap="rnd">
              <a:solidFill>
                <a:schemeClr val="accent2"/>
              </a:solidFill>
              <a:round/>
            </a:ln>
            <a:effectLst/>
          </c:spPr>
          <c:marker>
            <c:symbol val="none"/>
          </c:marker>
          <c:cat>
            <c:strRef>
              <c:f>'FTE Data'!$B$4:$J$4</c:f>
              <c:strCache>
                <c:ptCount val="9"/>
                <c:pt idx="0">
                  <c:v>2014-2015</c:v>
                </c:pt>
                <c:pt idx="1">
                  <c:v>2015-2016</c:v>
                </c:pt>
                <c:pt idx="2">
                  <c:v>2016-2017</c:v>
                </c:pt>
                <c:pt idx="3">
                  <c:v>2017-2018</c:v>
                </c:pt>
                <c:pt idx="4">
                  <c:v>2018-2019</c:v>
                </c:pt>
                <c:pt idx="5">
                  <c:v>2019-2020</c:v>
                </c:pt>
                <c:pt idx="6">
                  <c:v>2020-2021</c:v>
                </c:pt>
                <c:pt idx="7">
                  <c:v>2021-2022</c:v>
                </c:pt>
                <c:pt idx="8">
                  <c:v>2022-2023</c:v>
                </c:pt>
              </c:strCache>
            </c:strRef>
          </c:cat>
          <c:val>
            <c:numRef>
              <c:f>'FTE Data'!$B$6:$J$6</c:f>
              <c:numCache>
                <c:formatCode>#,##0.00_);\(#,##0.00\)</c:formatCode>
                <c:ptCount val="9"/>
                <c:pt idx="0">
                  <c:v>772.3</c:v>
                </c:pt>
                <c:pt idx="1">
                  <c:v>787.6</c:v>
                </c:pt>
                <c:pt idx="2">
                  <c:v>800.4</c:v>
                </c:pt>
                <c:pt idx="3">
                  <c:v>815.39</c:v>
                </c:pt>
                <c:pt idx="4">
                  <c:v>837.6</c:v>
                </c:pt>
                <c:pt idx="5">
                  <c:v>836.8</c:v>
                </c:pt>
                <c:pt idx="6">
                  <c:v>812.6</c:v>
                </c:pt>
                <c:pt idx="7">
                  <c:v>850.2</c:v>
                </c:pt>
                <c:pt idx="8">
                  <c:v>845.5</c:v>
                </c:pt>
              </c:numCache>
            </c:numRef>
          </c:val>
          <c:smooth val="0"/>
          <c:extLst>
            <c:ext xmlns:c16="http://schemas.microsoft.com/office/drawing/2014/chart" uri="{C3380CC4-5D6E-409C-BE32-E72D297353CC}">
              <c16:uniqueId val="{00000001-D92A-474F-86B4-EE916B723615}"/>
            </c:ext>
          </c:extLst>
        </c:ser>
        <c:dLbls>
          <c:showLegendKey val="0"/>
          <c:showVal val="0"/>
          <c:showCatName val="0"/>
          <c:showSerName val="0"/>
          <c:showPercent val="0"/>
          <c:showBubbleSize val="0"/>
        </c:dLbls>
        <c:marker val="1"/>
        <c:smooth val="0"/>
        <c:axId val="468917455"/>
        <c:axId val="274304303"/>
      </c:lineChart>
      <c:catAx>
        <c:axId val="2742997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302639"/>
        <c:crosses val="autoZero"/>
        <c:auto val="1"/>
        <c:lblAlgn val="ctr"/>
        <c:lblOffset val="100"/>
        <c:noMultiLvlLbl val="0"/>
      </c:catAx>
      <c:valAx>
        <c:axId val="274302639"/>
        <c:scaling>
          <c:orientation val="minMax"/>
        </c:scaling>
        <c:delete val="0"/>
        <c:axPos val="l"/>
        <c:majorGridlines>
          <c:spPr>
            <a:ln w="9525" cap="flat" cmpd="sng" algn="ctr">
              <a:solidFill>
                <a:schemeClr val="tx1">
                  <a:lumMod val="15000"/>
                  <a:lumOff val="85000"/>
                </a:schemeClr>
              </a:solidFill>
              <a:round/>
            </a:ln>
            <a:effectLst/>
          </c:spPr>
        </c:majorGridlines>
        <c:numFmt formatCode="#,##0_);\(#,##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74299727"/>
        <c:crosses val="autoZero"/>
        <c:crossBetween val="between"/>
      </c:valAx>
      <c:valAx>
        <c:axId val="274304303"/>
        <c:scaling>
          <c:orientation val="minMax"/>
        </c:scaling>
        <c:delete val="0"/>
        <c:axPos val="r"/>
        <c:numFmt formatCode="#,##0_);\(#,##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468917455"/>
        <c:crosses val="max"/>
        <c:crossBetween val="between"/>
      </c:valAx>
      <c:catAx>
        <c:axId val="468917455"/>
        <c:scaling>
          <c:orientation val="minMax"/>
        </c:scaling>
        <c:delete val="1"/>
        <c:axPos val="b"/>
        <c:numFmt formatCode="General" sourceLinked="1"/>
        <c:majorTickMark val="none"/>
        <c:minorTickMark val="none"/>
        <c:tickLblPos val="nextTo"/>
        <c:crossAx val="27430430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57A432-3554-4B62-8BB4-8132471F6B3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51572C9-33BE-4C36-9D0D-086A8889F033}">
      <dgm:prSet/>
      <dgm:spPr/>
      <dgm:t>
        <a:bodyPr/>
        <a:lstStyle/>
        <a:p>
          <a:pPr algn="ctr"/>
          <a:r>
            <a:rPr lang="en-US" dirty="0">
              <a:latin typeface="Times New Roman" panose="02020603050405020304" pitchFamily="18" charset="0"/>
              <a:cs typeface="Times New Roman" panose="02020603050405020304" pitchFamily="18" charset="0"/>
            </a:rPr>
            <a:t>State Source Revenue: </a:t>
          </a:r>
        </a:p>
      </dgm:t>
    </dgm:pt>
    <dgm:pt modelId="{459EC477-CDA8-4593-BF77-BC229AE0653D}" type="parTrans" cxnId="{2B33CB4E-F4A1-47F9-B9BB-0BD0ADD43C98}">
      <dgm:prSet/>
      <dgm:spPr/>
      <dgm:t>
        <a:bodyPr/>
        <a:lstStyle/>
        <a:p>
          <a:endParaRPr lang="en-US"/>
        </a:p>
      </dgm:t>
    </dgm:pt>
    <dgm:pt modelId="{D698F2F1-5EF0-4E6B-8B8A-33B1E1BA9A89}" type="sibTrans" cxnId="{2B33CB4E-F4A1-47F9-B9BB-0BD0ADD43C98}">
      <dgm:prSet/>
      <dgm:spPr/>
      <dgm:t>
        <a:bodyPr/>
        <a:lstStyle/>
        <a:p>
          <a:endParaRPr lang="en-US"/>
        </a:p>
      </dgm:t>
    </dgm:pt>
    <dgm:pt modelId="{4D4CB5D7-F11C-49C8-8F87-D642326EEFDF}">
      <dgm:prSet/>
      <dgm:spPr/>
      <dgm:t>
        <a:bodyPr/>
        <a:lstStyle/>
        <a:p>
          <a:pPr algn="l"/>
          <a:r>
            <a:rPr lang="en-US" dirty="0">
              <a:latin typeface="Times New Roman" panose="02020603050405020304" pitchFamily="18" charset="0"/>
              <a:cs typeface="Times New Roman" panose="02020603050405020304" pitchFamily="18" charset="0"/>
            </a:rPr>
            <a:t>31a At Risk fully funded     (+$1.6 million)</a:t>
          </a:r>
        </a:p>
      </dgm:t>
    </dgm:pt>
    <dgm:pt modelId="{4C5B29F1-71C0-45B4-8765-72E0CE56AC1E}" type="parTrans" cxnId="{6AE3F389-5BD4-484E-8680-F4F99C1F56B9}">
      <dgm:prSet/>
      <dgm:spPr/>
      <dgm:t>
        <a:bodyPr/>
        <a:lstStyle/>
        <a:p>
          <a:endParaRPr lang="en-US"/>
        </a:p>
      </dgm:t>
    </dgm:pt>
    <dgm:pt modelId="{A3A178E4-5040-416A-90C4-E46D3EDE1C3B}" type="sibTrans" cxnId="{6AE3F389-5BD4-484E-8680-F4F99C1F56B9}">
      <dgm:prSet/>
      <dgm:spPr/>
      <dgm:t>
        <a:bodyPr/>
        <a:lstStyle/>
        <a:p>
          <a:endParaRPr lang="en-US"/>
        </a:p>
      </dgm:t>
    </dgm:pt>
    <dgm:pt modelId="{FA335215-D21F-4FD4-9168-33934B84CBFF}">
      <dgm:prSet/>
      <dgm:spPr/>
      <dgm:t>
        <a:bodyPr/>
        <a:lstStyle/>
        <a:p>
          <a:pPr algn="ctr"/>
          <a:r>
            <a:rPr lang="en-US" dirty="0">
              <a:latin typeface="Times New Roman" panose="02020603050405020304" pitchFamily="18" charset="0"/>
              <a:cs typeface="Times New Roman" panose="02020603050405020304" pitchFamily="18" charset="0"/>
            </a:rPr>
            <a:t>Federal Source Revenue: </a:t>
          </a:r>
        </a:p>
        <a:p>
          <a:pPr algn="ctr"/>
          <a:r>
            <a:rPr lang="en-US" dirty="0">
              <a:latin typeface="Times New Roman" panose="02020603050405020304" pitchFamily="18" charset="0"/>
              <a:cs typeface="Times New Roman" panose="02020603050405020304" pitchFamily="18" charset="0"/>
            </a:rPr>
            <a:t>ESSER Equalization (11t) </a:t>
          </a:r>
        </a:p>
      </dgm:t>
    </dgm:pt>
    <dgm:pt modelId="{1E58CCAA-0503-49E4-A049-17BD4B540B8E}" type="parTrans" cxnId="{4AEB811D-A1F4-4E6A-92EC-EF94166D7629}">
      <dgm:prSet/>
      <dgm:spPr/>
      <dgm:t>
        <a:bodyPr/>
        <a:lstStyle/>
        <a:p>
          <a:endParaRPr lang="en-US"/>
        </a:p>
      </dgm:t>
    </dgm:pt>
    <dgm:pt modelId="{3C84700D-461A-4935-A4CC-F5FA362F696B}" type="sibTrans" cxnId="{4AEB811D-A1F4-4E6A-92EC-EF94166D7629}">
      <dgm:prSet/>
      <dgm:spPr/>
      <dgm:t>
        <a:bodyPr/>
        <a:lstStyle/>
        <a:p>
          <a:endParaRPr lang="en-US"/>
        </a:p>
      </dgm:t>
    </dgm:pt>
    <dgm:pt modelId="{D57AE9A0-3A3A-482A-AAEC-42F5962B9B8B}">
      <dgm:prSet/>
      <dgm:spPr/>
      <dgm:t>
        <a:bodyPr/>
        <a:lstStyle/>
        <a:p>
          <a:r>
            <a:rPr lang="en-US" dirty="0">
              <a:latin typeface="Times New Roman" panose="02020603050405020304" pitchFamily="18" charset="0"/>
              <a:cs typeface="Times New Roman" panose="02020603050405020304" pitchFamily="18" charset="0"/>
            </a:rPr>
            <a:t>Salaries and Benefits: Adjusted for current staffing and lane adjustments</a:t>
          </a:r>
        </a:p>
      </dgm:t>
    </dgm:pt>
    <dgm:pt modelId="{E02E7121-0DD7-4666-942F-F75EFE78CDF4}" type="parTrans" cxnId="{53779E96-7A3C-41AF-8188-3FD072653EEF}">
      <dgm:prSet/>
      <dgm:spPr/>
      <dgm:t>
        <a:bodyPr/>
        <a:lstStyle/>
        <a:p>
          <a:endParaRPr lang="en-US"/>
        </a:p>
      </dgm:t>
    </dgm:pt>
    <dgm:pt modelId="{65A9BCF2-21A7-485C-8B54-A7FC3347AE37}" type="sibTrans" cxnId="{53779E96-7A3C-41AF-8188-3FD072653EEF}">
      <dgm:prSet/>
      <dgm:spPr/>
      <dgm:t>
        <a:bodyPr/>
        <a:lstStyle/>
        <a:p>
          <a:endParaRPr lang="en-US"/>
        </a:p>
      </dgm:t>
    </dgm:pt>
    <dgm:pt modelId="{9212F3FE-B48A-49BC-A412-0C98CFABB212}">
      <dgm:prSet/>
      <dgm:spPr/>
      <dgm:t>
        <a:bodyPr/>
        <a:lstStyle/>
        <a:p>
          <a:pPr algn="ctr"/>
          <a:r>
            <a:rPr lang="en-US" dirty="0">
              <a:latin typeface="Times New Roman" panose="02020603050405020304" pitchFamily="18" charset="0"/>
              <a:cs typeface="Times New Roman" panose="02020603050405020304" pitchFamily="18" charset="0"/>
            </a:rPr>
            <a:t>Benefits:                     Adjusted for 147c retirement revenue increase </a:t>
          </a:r>
        </a:p>
      </dgm:t>
    </dgm:pt>
    <dgm:pt modelId="{89DEDD90-0121-4B3E-AF79-C17287701138}" type="parTrans" cxnId="{6E180183-A3B0-46EF-8FD0-369137735D67}">
      <dgm:prSet/>
      <dgm:spPr/>
      <dgm:t>
        <a:bodyPr/>
        <a:lstStyle/>
        <a:p>
          <a:endParaRPr lang="en-US"/>
        </a:p>
      </dgm:t>
    </dgm:pt>
    <dgm:pt modelId="{4936DC70-53DF-49EA-B18B-0203C7220201}" type="sibTrans" cxnId="{6E180183-A3B0-46EF-8FD0-369137735D67}">
      <dgm:prSet/>
      <dgm:spPr/>
      <dgm:t>
        <a:bodyPr/>
        <a:lstStyle/>
        <a:p>
          <a:endParaRPr lang="en-US"/>
        </a:p>
      </dgm:t>
    </dgm:pt>
    <dgm:pt modelId="{4672BB1D-E4C0-4FE9-B1C4-0955250BDA31}">
      <dgm:prSet/>
      <dgm:spPr/>
      <dgm:t>
        <a:bodyPr/>
        <a:lstStyle/>
        <a:p>
          <a:pPr algn="ctr"/>
          <a:r>
            <a:rPr lang="en-US" dirty="0">
              <a:latin typeface="Times New Roman" panose="02020603050405020304" pitchFamily="18" charset="0"/>
              <a:cs typeface="Times New Roman" panose="02020603050405020304" pitchFamily="18" charset="0"/>
            </a:rPr>
            <a:t>State Source Revenue:</a:t>
          </a:r>
        </a:p>
      </dgm:t>
    </dgm:pt>
    <dgm:pt modelId="{40E17627-80F8-4318-B18B-DCDEBF1A7D91}" type="sibTrans" cxnId="{4D74F3C5-8507-42B7-9493-1CC9FF4C881C}">
      <dgm:prSet/>
      <dgm:spPr/>
      <dgm:t>
        <a:bodyPr/>
        <a:lstStyle/>
        <a:p>
          <a:endParaRPr lang="en-US"/>
        </a:p>
      </dgm:t>
    </dgm:pt>
    <dgm:pt modelId="{424C4EF4-96C4-48EF-8B2D-F204D06D2FDA}" type="parTrans" cxnId="{4D74F3C5-8507-42B7-9493-1CC9FF4C881C}">
      <dgm:prSet/>
      <dgm:spPr/>
      <dgm:t>
        <a:bodyPr/>
        <a:lstStyle/>
        <a:p>
          <a:endParaRPr lang="en-US"/>
        </a:p>
      </dgm:t>
    </dgm:pt>
    <dgm:pt modelId="{B0C7B6D4-8819-43BD-B97A-31DB06918B3D}">
      <dgm:prSet/>
      <dgm:spPr/>
      <dgm:t>
        <a:bodyPr/>
        <a:lstStyle/>
        <a:p>
          <a:pPr algn="l"/>
          <a:r>
            <a:rPr lang="en-US" dirty="0">
              <a:latin typeface="Times New Roman" panose="02020603050405020304" pitchFamily="18" charset="0"/>
              <a:cs typeface="Times New Roman" panose="02020603050405020304" pitchFamily="18" charset="0"/>
            </a:rPr>
            <a:t>FTE: 12,351 (12,349)</a:t>
          </a:r>
        </a:p>
      </dgm:t>
    </dgm:pt>
    <dgm:pt modelId="{91442634-E11D-4917-88B4-C73A538A7492}" type="parTrans" cxnId="{1E91A3A1-4496-4FA2-90D6-5E7DBAD1E1EF}">
      <dgm:prSet/>
      <dgm:spPr/>
      <dgm:t>
        <a:bodyPr/>
        <a:lstStyle/>
        <a:p>
          <a:endParaRPr lang="en-US"/>
        </a:p>
      </dgm:t>
    </dgm:pt>
    <dgm:pt modelId="{32C0BF9A-61B3-4CD2-89DE-5D4255A9354E}" type="sibTrans" cxnId="{1E91A3A1-4496-4FA2-90D6-5E7DBAD1E1EF}">
      <dgm:prSet/>
      <dgm:spPr/>
      <dgm:t>
        <a:bodyPr/>
        <a:lstStyle/>
        <a:p>
          <a:endParaRPr lang="en-US"/>
        </a:p>
      </dgm:t>
    </dgm:pt>
    <dgm:pt modelId="{744DC220-7894-4F4B-A915-B50454661D39}">
      <dgm:prSet/>
      <dgm:spPr/>
      <dgm:t>
        <a:bodyPr/>
        <a:lstStyle/>
        <a:p>
          <a:pPr algn="l"/>
          <a:r>
            <a:rPr lang="en-US" dirty="0">
              <a:latin typeface="Times New Roman" panose="02020603050405020304" pitchFamily="18" charset="0"/>
              <a:cs typeface="Times New Roman" panose="02020603050405020304" pitchFamily="18" charset="0"/>
            </a:rPr>
            <a:t>51a Special Education   (+2.3 million)</a:t>
          </a:r>
        </a:p>
      </dgm:t>
    </dgm:pt>
    <dgm:pt modelId="{7BA5495C-A845-40BB-A2D4-A260777BC193}" type="parTrans" cxnId="{E8C0E39C-881A-4B73-B53B-C7C373E0DBD8}">
      <dgm:prSet/>
      <dgm:spPr/>
      <dgm:t>
        <a:bodyPr/>
        <a:lstStyle/>
        <a:p>
          <a:endParaRPr lang="en-US"/>
        </a:p>
      </dgm:t>
    </dgm:pt>
    <dgm:pt modelId="{4030A7A2-B7F8-42AF-B212-1F8293CA2F99}" type="sibTrans" cxnId="{E8C0E39C-881A-4B73-B53B-C7C373E0DBD8}">
      <dgm:prSet/>
      <dgm:spPr/>
      <dgm:t>
        <a:bodyPr/>
        <a:lstStyle/>
        <a:p>
          <a:endParaRPr lang="en-US"/>
        </a:p>
      </dgm:t>
    </dgm:pt>
    <dgm:pt modelId="{E84CCEE1-E1BC-42C0-A068-2771BC262A43}">
      <dgm:prSet/>
      <dgm:spPr/>
      <dgm:t>
        <a:bodyPr/>
        <a:lstStyle/>
        <a:p>
          <a:pPr algn="ctr"/>
          <a:r>
            <a:rPr lang="en-US" dirty="0">
              <a:latin typeface="Times New Roman" panose="02020603050405020304" pitchFamily="18" charset="0"/>
              <a:cs typeface="Times New Roman" panose="02020603050405020304" pitchFamily="18" charset="0"/>
            </a:rPr>
            <a:t>State Source Revenue:</a:t>
          </a:r>
        </a:p>
      </dgm:t>
    </dgm:pt>
    <dgm:pt modelId="{E9C1BBFC-788A-4FB2-A11F-854F05AE191F}" type="parTrans" cxnId="{F6B0C38E-4B0F-46D3-B0F0-63518E821B10}">
      <dgm:prSet/>
      <dgm:spPr/>
      <dgm:t>
        <a:bodyPr/>
        <a:lstStyle/>
        <a:p>
          <a:endParaRPr lang="en-US"/>
        </a:p>
      </dgm:t>
    </dgm:pt>
    <dgm:pt modelId="{70008FA4-91E1-4EB5-BCAE-BE5BE537E5A8}" type="sibTrans" cxnId="{F6B0C38E-4B0F-46D3-B0F0-63518E821B10}">
      <dgm:prSet/>
      <dgm:spPr/>
      <dgm:t>
        <a:bodyPr/>
        <a:lstStyle/>
        <a:p>
          <a:endParaRPr lang="en-US"/>
        </a:p>
      </dgm:t>
    </dgm:pt>
    <dgm:pt modelId="{71EDA2AB-45E9-4DFB-B7FB-57D315AC3289}">
      <dgm:prSet/>
      <dgm:spPr/>
      <dgm:t>
        <a:bodyPr/>
        <a:lstStyle/>
        <a:p>
          <a:pPr algn="l"/>
          <a:r>
            <a:rPr lang="en-US" dirty="0">
              <a:latin typeface="Times New Roman" panose="02020603050405020304" pitchFamily="18" charset="0"/>
              <a:cs typeface="Times New Roman" panose="02020603050405020304" pitchFamily="18" charset="0"/>
            </a:rPr>
            <a:t>Foundation: $9,874 (9,865)</a:t>
          </a:r>
        </a:p>
      </dgm:t>
    </dgm:pt>
    <dgm:pt modelId="{94307B74-4A47-419A-A0E1-04F3D2D1A242}" type="parTrans" cxnId="{C96FC298-DBD4-4044-BAD6-27965F0BFA04}">
      <dgm:prSet/>
      <dgm:spPr/>
      <dgm:t>
        <a:bodyPr/>
        <a:lstStyle/>
        <a:p>
          <a:endParaRPr lang="en-US"/>
        </a:p>
      </dgm:t>
    </dgm:pt>
    <dgm:pt modelId="{91AC9730-77FB-47A5-95AD-B3BD33CD3B61}" type="sibTrans" cxnId="{C96FC298-DBD4-4044-BAD6-27965F0BFA04}">
      <dgm:prSet/>
      <dgm:spPr/>
      <dgm:t>
        <a:bodyPr/>
        <a:lstStyle/>
        <a:p>
          <a:endParaRPr lang="en-US"/>
        </a:p>
      </dgm:t>
    </dgm:pt>
    <dgm:pt modelId="{DE0D2FB0-E9E9-4D47-A207-EC8F4B977707}">
      <dgm:prSet/>
      <dgm:spPr/>
      <dgm:t>
        <a:bodyPr/>
        <a:lstStyle/>
        <a:p>
          <a:pPr algn="l"/>
          <a:endParaRPr lang="en-US" dirty="0">
            <a:latin typeface="Times New Roman" panose="02020603050405020304" pitchFamily="18" charset="0"/>
            <a:cs typeface="Times New Roman" panose="02020603050405020304" pitchFamily="18" charset="0"/>
          </a:endParaRPr>
        </a:p>
      </dgm:t>
    </dgm:pt>
    <dgm:pt modelId="{1C82A4F5-3A08-44E3-8B7F-3E03ABF2FC15}" type="parTrans" cxnId="{10B29FCD-4638-4EAF-9FC3-922191EC4A5A}">
      <dgm:prSet/>
      <dgm:spPr/>
      <dgm:t>
        <a:bodyPr/>
        <a:lstStyle/>
        <a:p>
          <a:endParaRPr lang="en-US"/>
        </a:p>
      </dgm:t>
    </dgm:pt>
    <dgm:pt modelId="{8F249EDC-68F2-441A-BE94-5B567C16EC76}" type="sibTrans" cxnId="{10B29FCD-4638-4EAF-9FC3-922191EC4A5A}">
      <dgm:prSet/>
      <dgm:spPr/>
      <dgm:t>
        <a:bodyPr/>
        <a:lstStyle/>
        <a:p>
          <a:endParaRPr lang="en-US"/>
        </a:p>
      </dgm:t>
    </dgm:pt>
    <dgm:pt modelId="{E446D7E9-11E2-47F0-B14A-32E9A6C5C7DD}">
      <dgm:prSet/>
      <dgm:spPr/>
      <dgm:t>
        <a:bodyPr/>
        <a:lstStyle/>
        <a:p>
          <a:pPr algn="l"/>
          <a:r>
            <a:rPr lang="en-US" dirty="0">
              <a:latin typeface="Times New Roman" panose="02020603050405020304" pitchFamily="18" charset="0"/>
              <a:cs typeface="Times New Roman" panose="02020603050405020304" pitchFamily="18" charset="0"/>
            </a:rPr>
            <a:t>147c retirement revenue (+$1.7 million)</a:t>
          </a:r>
        </a:p>
      </dgm:t>
    </dgm:pt>
    <dgm:pt modelId="{E0C79CD5-3818-4F4D-9572-C643C79F8F55}" type="parTrans" cxnId="{9280E1E2-D010-4E22-9E40-A485D637D66E}">
      <dgm:prSet/>
      <dgm:spPr/>
      <dgm:t>
        <a:bodyPr/>
        <a:lstStyle/>
        <a:p>
          <a:endParaRPr lang="en-US"/>
        </a:p>
      </dgm:t>
    </dgm:pt>
    <dgm:pt modelId="{374B13BF-9F01-47E5-86A4-D47AFF52F4CA}" type="sibTrans" cxnId="{9280E1E2-D010-4E22-9E40-A485D637D66E}">
      <dgm:prSet/>
      <dgm:spPr/>
      <dgm:t>
        <a:bodyPr/>
        <a:lstStyle/>
        <a:p>
          <a:endParaRPr lang="en-US"/>
        </a:p>
      </dgm:t>
    </dgm:pt>
    <dgm:pt modelId="{06F8B67F-F365-44DF-8029-1ED3E64F2189}" type="pres">
      <dgm:prSet presAssocID="{A357A432-3554-4B62-8BB4-8132471F6B3E}" presName="diagram" presStyleCnt="0">
        <dgm:presLayoutVars>
          <dgm:dir/>
          <dgm:resizeHandles val="exact"/>
        </dgm:presLayoutVars>
      </dgm:prSet>
      <dgm:spPr/>
    </dgm:pt>
    <dgm:pt modelId="{9D48B2F5-0142-488C-A2CB-E2580AD9E459}" type="pres">
      <dgm:prSet presAssocID="{4672BB1D-E4C0-4FE9-B1C4-0955250BDA31}" presName="node" presStyleLbl="node1" presStyleIdx="0" presStyleCnt="6">
        <dgm:presLayoutVars>
          <dgm:bulletEnabled val="1"/>
        </dgm:presLayoutVars>
      </dgm:prSet>
      <dgm:spPr/>
    </dgm:pt>
    <dgm:pt modelId="{56A818F3-CD9A-40D4-9024-155E93C6EED2}" type="pres">
      <dgm:prSet presAssocID="{40E17627-80F8-4318-B18B-DCDEBF1A7D91}" presName="sibTrans" presStyleCnt="0"/>
      <dgm:spPr/>
    </dgm:pt>
    <dgm:pt modelId="{BAA0630F-6FBA-4010-8270-D1F60BDD839F}" type="pres">
      <dgm:prSet presAssocID="{951572C9-33BE-4C36-9D0D-086A8889F033}" presName="node" presStyleLbl="node1" presStyleIdx="1" presStyleCnt="6">
        <dgm:presLayoutVars>
          <dgm:bulletEnabled val="1"/>
        </dgm:presLayoutVars>
      </dgm:prSet>
      <dgm:spPr/>
    </dgm:pt>
    <dgm:pt modelId="{FC9A277A-CCCA-45CB-92A7-ED1A32DEE88E}" type="pres">
      <dgm:prSet presAssocID="{D698F2F1-5EF0-4E6B-8B8A-33B1E1BA9A89}" presName="sibTrans" presStyleCnt="0"/>
      <dgm:spPr/>
    </dgm:pt>
    <dgm:pt modelId="{21BB3C05-0DD2-473F-8D14-A5A9EEE81A80}" type="pres">
      <dgm:prSet presAssocID="{E84CCEE1-E1BC-42C0-A068-2771BC262A43}" presName="node" presStyleLbl="node1" presStyleIdx="2" presStyleCnt="6">
        <dgm:presLayoutVars>
          <dgm:bulletEnabled val="1"/>
        </dgm:presLayoutVars>
      </dgm:prSet>
      <dgm:spPr/>
    </dgm:pt>
    <dgm:pt modelId="{130FFFAD-0634-481A-96B3-BBB84A6CECF8}" type="pres">
      <dgm:prSet presAssocID="{70008FA4-91E1-4EB5-BCAE-BE5BE537E5A8}" presName="sibTrans" presStyleCnt="0"/>
      <dgm:spPr/>
    </dgm:pt>
    <dgm:pt modelId="{B4CB9AE5-44EE-4938-A7F5-B3E97B079557}" type="pres">
      <dgm:prSet presAssocID="{FA335215-D21F-4FD4-9168-33934B84CBFF}" presName="node" presStyleLbl="node1" presStyleIdx="3" presStyleCnt="6">
        <dgm:presLayoutVars>
          <dgm:bulletEnabled val="1"/>
        </dgm:presLayoutVars>
      </dgm:prSet>
      <dgm:spPr/>
    </dgm:pt>
    <dgm:pt modelId="{D15706E1-AA9A-46AB-AE9D-6FDC5A92E2F9}" type="pres">
      <dgm:prSet presAssocID="{3C84700D-461A-4935-A4CC-F5FA362F696B}" presName="sibTrans" presStyleCnt="0"/>
      <dgm:spPr/>
    </dgm:pt>
    <dgm:pt modelId="{AC4871F3-751E-4E49-858B-DBFBA2337AC4}" type="pres">
      <dgm:prSet presAssocID="{D57AE9A0-3A3A-482A-AAEC-42F5962B9B8B}" presName="node" presStyleLbl="node1" presStyleIdx="4" presStyleCnt="6">
        <dgm:presLayoutVars>
          <dgm:bulletEnabled val="1"/>
        </dgm:presLayoutVars>
      </dgm:prSet>
      <dgm:spPr/>
    </dgm:pt>
    <dgm:pt modelId="{856B6615-9CC3-429A-87AB-671FA1898AD8}" type="pres">
      <dgm:prSet presAssocID="{65A9BCF2-21A7-485C-8B54-A7FC3347AE37}" presName="sibTrans" presStyleCnt="0"/>
      <dgm:spPr/>
    </dgm:pt>
    <dgm:pt modelId="{AB1AE4C4-8B15-4C5E-8651-667A3641130D}" type="pres">
      <dgm:prSet presAssocID="{9212F3FE-B48A-49BC-A412-0C98CFABB212}" presName="node" presStyleLbl="node1" presStyleIdx="5" presStyleCnt="6">
        <dgm:presLayoutVars>
          <dgm:bulletEnabled val="1"/>
        </dgm:presLayoutVars>
      </dgm:prSet>
      <dgm:spPr/>
    </dgm:pt>
  </dgm:ptLst>
  <dgm:cxnLst>
    <dgm:cxn modelId="{3B684E02-3097-40E2-9633-3850CB23B046}" type="presOf" srcId="{E84CCEE1-E1BC-42C0-A068-2771BC262A43}" destId="{21BB3C05-0DD2-473F-8D14-A5A9EEE81A80}" srcOrd="0" destOrd="0" presId="urn:microsoft.com/office/officeart/2005/8/layout/default"/>
    <dgm:cxn modelId="{25A64F0A-A958-4720-B9B3-8215D4AA2847}" type="presOf" srcId="{D57AE9A0-3A3A-482A-AAEC-42F5962B9B8B}" destId="{AC4871F3-751E-4E49-858B-DBFBA2337AC4}" srcOrd="0" destOrd="0" presId="urn:microsoft.com/office/officeart/2005/8/layout/default"/>
    <dgm:cxn modelId="{3694710E-DA13-4C69-83E8-11DF42663984}" type="presOf" srcId="{A357A432-3554-4B62-8BB4-8132471F6B3E}" destId="{06F8B67F-F365-44DF-8029-1ED3E64F2189}" srcOrd="0" destOrd="0" presId="urn:microsoft.com/office/officeart/2005/8/layout/default"/>
    <dgm:cxn modelId="{E10D7F16-71F9-435C-8709-6D43769781F8}" type="presOf" srcId="{B0C7B6D4-8819-43BD-B97A-31DB06918B3D}" destId="{9D48B2F5-0142-488C-A2CB-E2580AD9E459}" srcOrd="0" destOrd="1" presId="urn:microsoft.com/office/officeart/2005/8/layout/default"/>
    <dgm:cxn modelId="{4AEB811D-A1F4-4E6A-92EC-EF94166D7629}" srcId="{A357A432-3554-4B62-8BB4-8132471F6B3E}" destId="{FA335215-D21F-4FD4-9168-33934B84CBFF}" srcOrd="3" destOrd="0" parTransId="{1E58CCAA-0503-49E4-A049-17BD4B540B8E}" sibTransId="{3C84700D-461A-4935-A4CC-F5FA362F696B}"/>
    <dgm:cxn modelId="{27688F23-B2A9-4FE8-B520-693BB137EA79}" type="presOf" srcId="{951572C9-33BE-4C36-9D0D-086A8889F033}" destId="{BAA0630F-6FBA-4010-8270-D1F60BDD839F}" srcOrd="0" destOrd="0" presId="urn:microsoft.com/office/officeart/2005/8/layout/default"/>
    <dgm:cxn modelId="{E3CE3038-D289-44BF-97A1-1F9F353F98EC}" type="presOf" srcId="{DE0D2FB0-E9E9-4D47-A207-EC8F4B977707}" destId="{9D48B2F5-0142-488C-A2CB-E2580AD9E459}" srcOrd="0" destOrd="2" presId="urn:microsoft.com/office/officeart/2005/8/layout/default"/>
    <dgm:cxn modelId="{CC6A2039-E50B-4F12-828F-A3EC26ED17F2}" type="presOf" srcId="{E446D7E9-11E2-47F0-B14A-32E9A6C5C7DD}" destId="{21BB3C05-0DD2-473F-8D14-A5A9EEE81A80}" srcOrd="0" destOrd="1" presId="urn:microsoft.com/office/officeart/2005/8/layout/default"/>
    <dgm:cxn modelId="{A15B2B3B-35CE-4EDD-8D82-B390070889EE}" type="presOf" srcId="{71EDA2AB-45E9-4DFB-B7FB-57D315AC3289}" destId="{9D48B2F5-0142-488C-A2CB-E2580AD9E459}" srcOrd="0" destOrd="3" presId="urn:microsoft.com/office/officeart/2005/8/layout/default"/>
    <dgm:cxn modelId="{2B33CB4E-F4A1-47F9-B9BB-0BD0ADD43C98}" srcId="{A357A432-3554-4B62-8BB4-8132471F6B3E}" destId="{951572C9-33BE-4C36-9D0D-086A8889F033}" srcOrd="1" destOrd="0" parTransId="{459EC477-CDA8-4593-BF77-BC229AE0653D}" sibTransId="{D698F2F1-5EF0-4E6B-8B8A-33B1E1BA9A89}"/>
    <dgm:cxn modelId="{CCF6CF81-4127-4409-AD90-524B15769D00}" type="presOf" srcId="{FA335215-D21F-4FD4-9168-33934B84CBFF}" destId="{B4CB9AE5-44EE-4938-A7F5-B3E97B079557}" srcOrd="0" destOrd="0" presId="urn:microsoft.com/office/officeart/2005/8/layout/default"/>
    <dgm:cxn modelId="{7D97E181-D0E0-416B-86B1-29F69E4ABF1E}" type="presOf" srcId="{744DC220-7894-4F4B-A915-B50454661D39}" destId="{BAA0630F-6FBA-4010-8270-D1F60BDD839F}" srcOrd="0" destOrd="2" presId="urn:microsoft.com/office/officeart/2005/8/layout/default"/>
    <dgm:cxn modelId="{6E180183-A3B0-46EF-8FD0-369137735D67}" srcId="{A357A432-3554-4B62-8BB4-8132471F6B3E}" destId="{9212F3FE-B48A-49BC-A412-0C98CFABB212}" srcOrd="5" destOrd="0" parTransId="{89DEDD90-0121-4B3E-AF79-C17287701138}" sibTransId="{4936DC70-53DF-49EA-B18B-0203C7220201}"/>
    <dgm:cxn modelId="{6AE3F389-5BD4-484E-8680-F4F99C1F56B9}" srcId="{951572C9-33BE-4C36-9D0D-086A8889F033}" destId="{4D4CB5D7-F11C-49C8-8F87-D642326EEFDF}" srcOrd="0" destOrd="0" parTransId="{4C5B29F1-71C0-45B4-8765-72E0CE56AC1E}" sibTransId="{A3A178E4-5040-416A-90C4-E46D3EDE1C3B}"/>
    <dgm:cxn modelId="{F6B0C38E-4B0F-46D3-B0F0-63518E821B10}" srcId="{A357A432-3554-4B62-8BB4-8132471F6B3E}" destId="{E84CCEE1-E1BC-42C0-A068-2771BC262A43}" srcOrd="2" destOrd="0" parTransId="{E9C1BBFC-788A-4FB2-A11F-854F05AE191F}" sibTransId="{70008FA4-91E1-4EB5-BCAE-BE5BE537E5A8}"/>
    <dgm:cxn modelId="{53779E96-7A3C-41AF-8188-3FD072653EEF}" srcId="{A357A432-3554-4B62-8BB4-8132471F6B3E}" destId="{D57AE9A0-3A3A-482A-AAEC-42F5962B9B8B}" srcOrd="4" destOrd="0" parTransId="{E02E7121-0DD7-4666-942F-F75EFE78CDF4}" sibTransId="{65A9BCF2-21A7-485C-8B54-A7FC3347AE37}"/>
    <dgm:cxn modelId="{C96FC298-DBD4-4044-BAD6-27965F0BFA04}" srcId="{4672BB1D-E4C0-4FE9-B1C4-0955250BDA31}" destId="{71EDA2AB-45E9-4DFB-B7FB-57D315AC3289}" srcOrd="2" destOrd="0" parTransId="{94307B74-4A47-419A-A0E1-04F3D2D1A242}" sibTransId="{91AC9730-77FB-47A5-95AD-B3BD33CD3B61}"/>
    <dgm:cxn modelId="{E8C0E39C-881A-4B73-B53B-C7C373E0DBD8}" srcId="{951572C9-33BE-4C36-9D0D-086A8889F033}" destId="{744DC220-7894-4F4B-A915-B50454661D39}" srcOrd="1" destOrd="0" parTransId="{7BA5495C-A845-40BB-A2D4-A260777BC193}" sibTransId="{4030A7A2-B7F8-42AF-B212-1F8293CA2F99}"/>
    <dgm:cxn modelId="{1E91A3A1-4496-4FA2-90D6-5E7DBAD1E1EF}" srcId="{4672BB1D-E4C0-4FE9-B1C4-0955250BDA31}" destId="{B0C7B6D4-8819-43BD-B97A-31DB06918B3D}" srcOrd="0" destOrd="0" parTransId="{91442634-E11D-4917-88B4-C73A538A7492}" sibTransId="{32C0BF9A-61B3-4CD2-89DE-5D4255A9354E}"/>
    <dgm:cxn modelId="{EEACA5A2-D355-4ECD-9C48-353AB537521B}" type="presOf" srcId="{4672BB1D-E4C0-4FE9-B1C4-0955250BDA31}" destId="{9D48B2F5-0142-488C-A2CB-E2580AD9E459}" srcOrd="0" destOrd="0" presId="urn:microsoft.com/office/officeart/2005/8/layout/default"/>
    <dgm:cxn modelId="{4D74F3C5-8507-42B7-9493-1CC9FF4C881C}" srcId="{A357A432-3554-4B62-8BB4-8132471F6B3E}" destId="{4672BB1D-E4C0-4FE9-B1C4-0955250BDA31}" srcOrd="0" destOrd="0" parTransId="{424C4EF4-96C4-48EF-8B2D-F204D06D2FDA}" sibTransId="{40E17627-80F8-4318-B18B-DCDEBF1A7D91}"/>
    <dgm:cxn modelId="{510732CA-2CC7-4161-9397-9BF3B134D8EC}" type="presOf" srcId="{9212F3FE-B48A-49BC-A412-0C98CFABB212}" destId="{AB1AE4C4-8B15-4C5E-8651-667A3641130D}" srcOrd="0" destOrd="0" presId="urn:microsoft.com/office/officeart/2005/8/layout/default"/>
    <dgm:cxn modelId="{10B29FCD-4638-4EAF-9FC3-922191EC4A5A}" srcId="{4672BB1D-E4C0-4FE9-B1C4-0955250BDA31}" destId="{DE0D2FB0-E9E9-4D47-A207-EC8F4B977707}" srcOrd="1" destOrd="0" parTransId="{1C82A4F5-3A08-44E3-8B7F-3E03ABF2FC15}" sibTransId="{8F249EDC-68F2-441A-BE94-5B567C16EC76}"/>
    <dgm:cxn modelId="{9280E1E2-D010-4E22-9E40-A485D637D66E}" srcId="{E84CCEE1-E1BC-42C0-A068-2771BC262A43}" destId="{E446D7E9-11E2-47F0-B14A-32E9A6C5C7DD}" srcOrd="0" destOrd="0" parTransId="{E0C79CD5-3818-4F4D-9572-C643C79F8F55}" sibTransId="{374B13BF-9F01-47E5-86A4-D47AFF52F4CA}"/>
    <dgm:cxn modelId="{0DC358ED-457F-48F3-8EA3-D2E87CDB5026}" type="presOf" srcId="{4D4CB5D7-F11C-49C8-8F87-D642326EEFDF}" destId="{BAA0630F-6FBA-4010-8270-D1F60BDD839F}" srcOrd="0" destOrd="1" presId="urn:microsoft.com/office/officeart/2005/8/layout/default"/>
    <dgm:cxn modelId="{35493F8B-A2CC-4705-A3F5-062B8A739A79}" type="presParOf" srcId="{06F8B67F-F365-44DF-8029-1ED3E64F2189}" destId="{9D48B2F5-0142-488C-A2CB-E2580AD9E459}" srcOrd="0" destOrd="0" presId="urn:microsoft.com/office/officeart/2005/8/layout/default"/>
    <dgm:cxn modelId="{0749ED62-E4A8-44F4-8F66-FF845713A3A3}" type="presParOf" srcId="{06F8B67F-F365-44DF-8029-1ED3E64F2189}" destId="{56A818F3-CD9A-40D4-9024-155E93C6EED2}" srcOrd="1" destOrd="0" presId="urn:microsoft.com/office/officeart/2005/8/layout/default"/>
    <dgm:cxn modelId="{AF9699A5-C223-4C7B-9B36-F9FC38530C7C}" type="presParOf" srcId="{06F8B67F-F365-44DF-8029-1ED3E64F2189}" destId="{BAA0630F-6FBA-4010-8270-D1F60BDD839F}" srcOrd="2" destOrd="0" presId="urn:microsoft.com/office/officeart/2005/8/layout/default"/>
    <dgm:cxn modelId="{334C23CA-6852-4D8C-B4C9-BA66B93445BE}" type="presParOf" srcId="{06F8B67F-F365-44DF-8029-1ED3E64F2189}" destId="{FC9A277A-CCCA-45CB-92A7-ED1A32DEE88E}" srcOrd="3" destOrd="0" presId="urn:microsoft.com/office/officeart/2005/8/layout/default"/>
    <dgm:cxn modelId="{9BAE4E25-7723-4F0B-B4F8-64FB0A8497FD}" type="presParOf" srcId="{06F8B67F-F365-44DF-8029-1ED3E64F2189}" destId="{21BB3C05-0DD2-473F-8D14-A5A9EEE81A80}" srcOrd="4" destOrd="0" presId="urn:microsoft.com/office/officeart/2005/8/layout/default"/>
    <dgm:cxn modelId="{4C61336C-FCCF-4C6A-9761-E546CAF2504B}" type="presParOf" srcId="{06F8B67F-F365-44DF-8029-1ED3E64F2189}" destId="{130FFFAD-0634-481A-96B3-BBB84A6CECF8}" srcOrd="5" destOrd="0" presId="urn:microsoft.com/office/officeart/2005/8/layout/default"/>
    <dgm:cxn modelId="{C91BA2E4-2560-4F0A-82EB-6B3C4E7A3B12}" type="presParOf" srcId="{06F8B67F-F365-44DF-8029-1ED3E64F2189}" destId="{B4CB9AE5-44EE-4938-A7F5-B3E97B079557}" srcOrd="6" destOrd="0" presId="urn:microsoft.com/office/officeart/2005/8/layout/default"/>
    <dgm:cxn modelId="{7A2D3CED-5553-44EF-A857-90C7582D73FA}" type="presParOf" srcId="{06F8B67F-F365-44DF-8029-1ED3E64F2189}" destId="{D15706E1-AA9A-46AB-AE9D-6FDC5A92E2F9}" srcOrd="7" destOrd="0" presId="urn:microsoft.com/office/officeart/2005/8/layout/default"/>
    <dgm:cxn modelId="{CDFA76C8-D948-4AB2-81CC-F99DF88F141C}" type="presParOf" srcId="{06F8B67F-F365-44DF-8029-1ED3E64F2189}" destId="{AC4871F3-751E-4E49-858B-DBFBA2337AC4}" srcOrd="8" destOrd="0" presId="urn:microsoft.com/office/officeart/2005/8/layout/default"/>
    <dgm:cxn modelId="{FBAD42CD-1F22-49F4-8C31-10296A14F7DD}" type="presParOf" srcId="{06F8B67F-F365-44DF-8029-1ED3E64F2189}" destId="{856B6615-9CC3-429A-87AB-671FA1898AD8}" srcOrd="9" destOrd="0" presId="urn:microsoft.com/office/officeart/2005/8/layout/default"/>
    <dgm:cxn modelId="{3CD12FBC-5F6C-4156-84EE-B447E14C5144}" type="presParOf" srcId="{06F8B67F-F365-44DF-8029-1ED3E64F2189}" destId="{AB1AE4C4-8B15-4C5E-8651-667A3641130D}"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48B2F5-0142-488C-A2CB-E2580AD9E459}">
      <dsp:nvSpPr>
        <dsp:cNvPr id="0" name=""/>
        <dsp:cNvSpPr/>
      </dsp:nvSpPr>
      <dsp:spPr>
        <a:xfrm>
          <a:off x="1263532" y="230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State Source Revenue:</a:t>
          </a:r>
        </a:p>
        <a:p>
          <a:pPr marL="171450" lvl="1" indent="-171450" algn="l"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FTE: 12,351 (12,349)</a:t>
          </a:r>
        </a:p>
        <a:p>
          <a:pPr marL="171450" lvl="1" indent="-171450" algn="l" defTabSz="844550">
            <a:lnSpc>
              <a:spcPct val="90000"/>
            </a:lnSpc>
            <a:spcBef>
              <a:spcPct val="0"/>
            </a:spcBef>
            <a:spcAft>
              <a:spcPct val="15000"/>
            </a:spcAft>
            <a:buChar char="•"/>
          </a:pPr>
          <a:endParaRPr lang="en-US" sz="1900" kern="1200" dirty="0">
            <a:latin typeface="Times New Roman" panose="02020603050405020304" pitchFamily="18" charset="0"/>
            <a:cs typeface="Times New Roman" panose="02020603050405020304" pitchFamily="18" charset="0"/>
          </a:endParaRPr>
        </a:p>
        <a:p>
          <a:pPr marL="171450" lvl="1" indent="-171450" algn="l"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Foundation: $9,874 (9,865)</a:t>
          </a:r>
        </a:p>
      </dsp:txBody>
      <dsp:txXfrm>
        <a:off x="1263532" y="2306"/>
        <a:ext cx="2969493" cy="1781695"/>
      </dsp:txXfrm>
    </dsp:sp>
    <dsp:sp modelId="{BAA0630F-6FBA-4010-8270-D1F60BDD839F}">
      <dsp:nvSpPr>
        <dsp:cNvPr id="0" name=""/>
        <dsp:cNvSpPr/>
      </dsp:nvSpPr>
      <dsp:spPr>
        <a:xfrm>
          <a:off x="4529974" y="230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State Source Revenue: </a:t>
          </a:r>
        </a:p>
        <a:p>
          <a:pPr marL="171450" lvl="1" indent="-171450" algn="l"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31a At Risk fully funded     (+$1.6 million)</a:t>
          </a:r>
        </a:p>
        <a:p>
          <a:pPr marL="171450" lvl="1" indent="-171450" algn="l"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51a Special Education   (+2.3 million)</a:t>
          </a:r>
        </a:p>
      </dsp:txBody>
      <dsp:txXfrm>
        <a:off x="4529974" y="2306"/>
        <a:ext cx="2969493" cy="1781695"/>
      </dsp:txXfrm>
    </dsp:sp>
    <dsp:sp modelId="{21BB3C05-0DD2-473F-8D14-A5A9EEE81A80}">
      <dsp:nvSpPr>
        <dsp:cNvPr id="0" name=""/>
        <dsp:cNvSpPr/>
      </dsp:nvSpPr>
      <dsp:spPr>
        <a:xfrm>
          <a:off x="1263532" y="2080951"/>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State Source Revenue:</a:t>
          </a:r>
        </a:p>
        <a:p>
          <a:pPr marL="171450" lvl="1" indent="-171450" algn="l"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147c retirement revenue (+$1.7 million)</a:t>
          </a:r>
        </a:p>
      </dsp:txBody>
      <dsp:txXfrm>
        <a:off x="1263532" y="2080951"/>
        <a:ext cx="2969493" cy="1781695"/>
      </dsp:txXfrm>
    </dsp:sp>
    <dsp:sp modelId="{B4CB9AE5-44EE-4938-A7F5-B3E97B079557}">
      <dsp:nvSpPr>
        <dsp:cNvPr id="0" name=""/>
        <dsp:cNvSpPr/>
      </dsp:nvSpPr>
      <dsp:spPr>
        <a:xfrm>
          <a:off x="4529974" y="2080951"/>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Federal Source Revenue: </a:t>
          </a:r>
        </a:p>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ESSER Equalization (11t) </a:t>
          </a:r>
        </a:p>
      </dsp:txBody>
      <dsp:txXfrm>
        <a:off x="4529974" y="2080951"/>
        <a:ext cx="2969493" cy="1781695"/>
      </dsp:txXfrm>
    </dsp:sp>
    <dsp:sp modelId="{AC4871F3-751E-4E49-858B-DBFBA2337AC4}">
      <dsp:nvSpPr>
        <dsp:cNvPr id="0" name=""/>
        <dsp:cNvSpPr/>
      </dsp:nvSpPr>
      <dsp:spPr>
        <a:xfrm>
          <a:off x="1263532" y="415959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Salaries and Benefits: Adjusted for current staffing and lane adjustments</a:t>
          </a:r>
        </a:p>
      </dsp:txBody>
      <dsp:txXfrm>
        <a:off x="1263532" y="4159596"/>
        <a:ext cx="2969493" cy="1781695"/>
      </dsp:txXfrm>
    </dsp:sp>
    <dsp:sp modelId="{AB1AE4C4-8B15-4C5E-8651-667A3641130D}">
      <dsp:nvSpPr>
        <dsp:cNvPr id="0" name=""/>
        <dsp:cNvSpPr/>
      </dsp:nvSpPr>
      <dsp:spPr>
        <a:xfrm>
          <a:off x="4529974" y="415959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Benefits:                     Adjusted for 147c retirement revenue increase </a:t>
          </a:r>
        </a:p>
      </dsp:txBody>
      <dsp:txXfrm>
        <a:off x="4529974" y="4159596"/>
        <a:ext cx="2969493" cy="178169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2738" name="Rectangle 2"/>
          <p:cNvSpPr>
            <a:spLocks noGrp="1" noChangeArrowheads="1"/>
          </p:cNvSpPr>
          <p:nvPr>
            <p:ph type="hdr" sz="quarter"/>
          </p:nvPr>
        </p:nvSpPr>
        <p:spPr bwMode="auto">
          <a:xfrm>
            <a:off x="12" y="0"/>
            <a:ext cx="3038475"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spcBef>
                <a:spcPct val="20000"/>
              </a:spcBef>
              <a:buFontTx/>
              <a:buNone/>
              <a:defRPr sz="1300">
                <a:latin typeface="Tahoma" pitchFamily="34" charset="0"/>
                <a:cs typeface="+mn-cs"/>
              </a:defRPr>
            </a:lvl1pPr>
          </a:lstStyle>
          <a:p>
            <a:pPr>
              <a:defRPr/>
            </a:pPr>
            <a:endParaRPr lang="en-US"/>
          </a:p>
        </p:txBody>
      </p:sp>
      <p:sp>
        <p:nvSpPr>
          <p:cNvPr id="372739" name="Rectangle 3"/>
          <p:cNvSpPr>
            <a:spLocks noGrp="1" noChangeArrowheads="1"/>
          </p:cNvSpPr>
          <p:nvPr>
            <p:ph type="dt" sz="quarter" idx="1"/>
          </p:nvPr>
        </p:nvSpPr>
        <p:spPr bwMode="auto">
          <a:xfrm>
            <a:off x="3971936" y="0"/>
            <a:ext cx="3038475"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lgn="r">
              <a:spcBef>
                <a:spcPct val="20000"/>
              </a:spcBef>
              <a:buFontTx/>
              <a:buNone/>
              <a:defRPr sz="1300">
                <a:latin typeface="Tahoma" pitchFamily="34" charset="0"/>
                <a:cs typeface="+mn-cs"/>
              </a:defRPr>
            </a:lvl1pPr>
          </a:lstStyle>
          <a:p>
            <a:pPr>
              <a:defRPr/>
            </a:pPr>
            <a:endParaRPr lang="en-US"/>
          </a:p>
        </p:txBody>
      </p:sp>
      <p:sp>
        <p:nvSpPr>
          <p:cNvPr id="372740" name="Rectangle 4"/>
          <p:cNvSpPr>
            <a:spLocks noGrp="1" noChangeArrowheads="1"/>
          </p:cNvSpPr>
          <p:nvPr>
            <p:ph type="ftr" sz="quarter" idx="2"/>
          </p:nvPr>
        </p:nvSpPr>
        <p:spPr bwMode="auto">
          <a:xfrm>
            <a:off x="12" y="8773968"/>
            <a:ext cx="3038475"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spcBef>
                <a:spcPct val="20000"/>
              </a:spcBef>
              <a:buFontTx/>
              <a:buNone/>
              <a:defRPr sz="1300">
                <a:latin typeface="Tahoma" pitchFamily="34" charset="0"/>
                <a:cs typeface="+mn-cs"/>
              </a:defRPr>
            </a:lvl1pPr>
          </a:lstStyle>
          <a:p>
            <a:pPr>
              <a:defRPr/>
            </a:pPr>
            <a:r>
              <a:rPr lang="en-US"/>
              <a:t>Enrollment Projections - Why and How</a:t>
            </a:r>
          </a:p>
        </p:txBody>
      </p:sp>
      <p:sp>
        <p:nvSpPr>
          <p:cNvPr id="372741" name="Rectangle 5"/>
          <p:cNvSpPr>
            <a:spLocks noGrp="1" noChangeArrowheads="1"/>
          </p:cNvSpPr>
          <p:nvPr>
            <p:ph type="sldNum" sz="quarter" idx="3"/>
          </p:nvPr>
        </p:nvSpPr>
        <p:spPr bwMode="auto">
          <a:xfrm>
            <a:off x="3971936" y="8773968"/>
            <a:ext cx="3038475"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lgn="r">
              <a:spcBef>
                <a:spcPct val="20000"/>
              </a:spcBef>
              <a:buFontTx/>
              <a:buNone/>
              <a:defRPr sz="1300">
                <a:latin typeface="Tahoma" pitchFamily="34" charset="0"/>
                <a:cs typeface="+mn-cs"/>
              </a:defRPr>
            </a:lvl1pPr>
          </a:lstStyle>
          <a:p>
            <a:pPr>
              <a:defRPr/>
            </a:pPr>
            <a:fld id="{D4EA7CEE-2394-4F9B-8C99-0BD898ABC9E8}" type="slidenum">
              <a:rPr lang="en-US"/>
              <a:pPr>
                <a:defRPr/>
              </a:pPr>
              <a:t>‹#›</a:t>
            </a:fld>
            <a:endParaRPr lang="en-US"/>
          </a:p>
        </p:txBody>
      </p:sp>
    </p:spTree>
    <p:extLst>
      <p:ext uri="{BB962C8B-B14F-4D97-AF65-F5344CB8AC3E}">
        <p14:creationId xmlns:p14="http://schemas.microsoft.com/office/powerpoint/2010/main" val="2048531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2510" name="Rectangle 14"/>
          <p:cNvSpPr>
            <a:spLocks noGrp="1" noChangeArrowheads="1"/>
          </p:cNvSpPr>
          <p:nvPr>
            <p:ph type="hdr" sz="quarter"/>
          </p:nvPr>
        </p:nvSpPr>
        <p:spPr bwMode="auto">
          <a:xfrm>
            <a:off x="12" y="0"/>
            <a:ext cx="3038475"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eaLnBrk="0" hangingPunct="0">
              <a:spcBef>
                <a:spcPct val="20000"/>
              </a:spcBef>
              <a:buFontTx/>
              <a:buNone/>
              <a:defRPr sz="1300">
                <a:latin typeface="Tahoma" pitchFamily="34" charset="0"/>
                <a:cs typeface="+mn-cs"/>
              </a:defRPr>
            </a:lvl1pPr>
          </a:lstStyle>
          <a:p>
            <a:pPr>
              <a:defRPr/>
            </a:pPr>
            <a:endParaRPr lang="en-US"/>
          </a:p>
        </p:txBody>
      </p:sp>
      <p:sp>
        <p:nvSpPr>
          <p:cNvPr id="27651" name="Rectangle 15"/>
          <p:cNvSpPr>
            <a:spLocks noGrp="1" noRot="1" noChangeAspect="1" noChangeArrowheads="1" noTextEdit="1"/>
          </p:cNvSpPr>
          <p:nvPr>
            <p:ph type="sldImg" idx="2"/>
          </p:nvPr>
        </p:nvSpPr>
        <p:spPr bwMode="auto">
          <a:xfrm>
            <a:off x="1195388" y="692150"/>
            <a:ext cx="4619625" cy="34639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2512" name="Rectangle 16"/>
          <p:cNvSpPr>
            <a:spLocks noGrp="1" noChangeArrowheads="1"/>
          </p:cNvSpPr>
          <p:nvPr>
            <p:ph type="body" sz="quarter" idx="3"/>
          </p:nvPr>
        </p:nvSpPr>
        <p:spPr bwMode="auto">
          <a:xfrm>
            <a:off x="935049" y="4386190"/>
            <a:ext cx="5140325" cy="4157496"/>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2513" name="Rectangle 17"/>
          <p:cNvSpPr>
            <a:spLocks noGrp="1" noChangeArrowheads="1"/>
          </p:cNvSpPr>
          <p:nvPr>
            <p:ph type="dt" idx="1"/>
          </p:nvPr>
        </p:nvSpPr>
        <p:spPr bwMode="auto">
          <a:xfrm>
            <a:off x="3971936" y="0"/>
            <a:ext cx="3038475"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lgn="r" eaLnBrk="0" hangingPunct="0">
              <a:spcBef>
                <a:spcPct val="20000"/>
              </a:spcBef>
              <a:buFontTx/>
              <a:buNone/>
              <a:defRPr sz="1300">
                <a:latin typeface="Tahoma" pitchFamily="34" charset="0"/>
                <a:cs typeface="+mn-cs"/>
              </a:defRPr>
            </a:lvl1pPr>
          </a:lstStyle>
          <a:p>
            <a:pPr>
              <a:defRPr/>
            </a:pPr>
            <a:endParaRPr lang="en-US"/>
          </a:p>
        </p:txBody>
      </p:sp>
      <p:sp>
        <p:nvSpPr>
          <p:cNvPr id="362514" name="Rectangle 18"/>
          <p:cNvSpPr>
            <a:spLocks noGrp="1" noChangeArrowheads="1"/>
          </p:cNvSpPr>
          <p:nvPr>
            <p:ph type="ftr" sz="quarter" idx="4"/>
          </p:nvPr>
        </p:nvSpPr>
        <p:spPr bwMode="auto">
          <a:xfrm>
            <a:off x="12" y="8773968"/>
            <a:ext cx="3038475"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eaLnBrk="0" hangingPunct="0">
              <a:spcBef>
                <a:spcPct val="20000"/>
              </a:spcBef>
              <a:buFontTx/>
              <a:buNone/>
              <a:defRPr sz="1300">
                <a:latin typeface="Tahoma" pitchFamily="34" charset="0"/>
                <a:cs typeface="+mn-cs"/>
              </a:defRPr>
            </a:lvl1pPr>
          </a:lstStyle>
          <a:p>
            <a:pPr>
              <a:defRPr/>
            </a:pPr>
            <a:endParaRPr lang="en-US"/>
          </a:p>
        </p:txBody>
      </p:sp>
      <p:sp>
        <p:nvSpPr>
          <p:cNvPr id="362515" name="Rectangle 19"/>
          <p:cNvSpPr>
            <a:spLocks noGrp="1" noChangeArrowheads="1"/>
          </p:cNvSpPr>
          <p:nvPr>
            <p:ph type="sldNum" sz="quarter" idx="5"/>
          </p:nvPr>
        </p:nvSpPr>
        <p:spPr bwMode="auto">
          <a:xfrm>
            <a:off x="3971936" y="8773968"/>
            <a:ext cx="3038475"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lgn="r" eaLnBrk="0" hangingPunct="0">
              <a:spcBef>
                <a:spcPct val="20000"/>
              </a:spcBef>
              <a:buFontTx/>
              <a:buNone/>
              <a:defRPr sz="1300">
                <a:latin typeface="Tahoma" pitchFamily="34" charset="0"/>
                <a:cs typeface="+mn-cs"/>
              </a:defRPr>
            </a:lvl1pPr>
          </a:lstStyle>
          <a:p>
            <a:pPr>
              <a:defRPr/>
            </a:pPr>
            <a:fld id="{C4A85720-D93E-4351-AF84-D93DA6C7213A}" type="slidenum">
              <a:rPr lang="en-US"/>
              <a:pPr>
                <a:defRPr/>
              </a:pPr>
              <a:t>‹#›</a:t>
            </a:fld>
            <a:endParaRPr lang="en-US"/>
          </a:p>
        </p:txBody>
      </p:sp>
    </p:spTree>
    <p:extLst>
      <p:ext uri="{BB962C8B-B14F-4D97-AF65-F5344CB8AC3E}">
        <p14:creationId xmlns:p14="http://schemas.microsoft.com/office/powerpoint/2010/main" val="6316168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9"/>
          <p:cNvSpPr>
            <a:spLocks noGrp="1" noChangeArrowheads="1"/>
          </p:cNvSpPr>
          <p:nvPr>
            <p:ph type="sldNum" sz="quarter" idx="5"/>
          </p:nvPr>
        </p:nvSpPr>
        <p:spPr/>
        <p:txBody>
          <a:bodyPr/>
          <a:lstStyle/>
          <a:p>
            <a:pPr>
              <a:defRPr/>
            </a:pPr>
            <a:fld id="{3436AA5D-F24A-48A3-B49F-1391C759B1F5}" type="slidenum">
              <a:rPr lang="en-US" smtClean="0"/>
              <a:pPr>
                <a:defRPr/>
              </a:pPr>
              <a:t>1</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Frequently, presenters must deliver material of a technical nature to an audience unfamiliar with the topic or vocabulary.  The material may be complex or heavy with detail.  To present technical material effectively, use the following guidelines from Dale Carnegie Training®.</a:t>
            </a:r>
          </a:p>
          <a:p>
            <a:r>
              <a:rPr lang="en-US" dirty="0"/>
              <a:t> </a:t>
            </a:r>
          </a:p>
          <a:p>
            <a:r>
              <a:rPr lang="en-US" dirty="0"/>
              <a:t>Consider the amount of time available and prepare to organize your material.  Narrow your topic.  Divide your presentation into clear segments. Follow a logical progression. Maintain your focus throughout. Close the presentation with a summary, repetition of the key steps, or a logical conclusion.</a:t>
            </a:r>
          </a:p>
          <a:p>
            <a:r>
              <a:rPr lang="en-US" dirty="0"/>
              <a:t> </a:t>
            </a:r>
          </a:p>
          <a:p>
            <a:r>
              <a:rPr lang="en-US" dirty="0"/>
              <a:t>Keep your audience in mind at all times.  For example, be sure data is clear and information is relevant.  Keep the level of detail and vocabulary appropriate for the audience.  Use visuals to support key points or steps.  Keep alert to the needs of your listeners, and you will have a more receptive audience.</a:t>
            </a:r>
          </a:p>
        </p:txBody>
      </p:sp>
    </p:spTree>
    <p:extLst>
      <p:ext uri="{BB962C8B-B14F-4D97-AF65-F5344CB8AC3E}">
        <p14:creationId xmlns:p14="http://schemas.microsoft.com/office/powerpoint/2010/main" val="4002434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C4A85720-D93E-4351-AF84-D93DA6C7213A}" type="slidenum">
              <a:rPr kumimoji="0" lang="en-US" sz="1300" b="0" i="0" u="none" strike="noStrike" kern="1200" cap="none" spc="0" normalizeH="0" baseline="0" noProof="0" smtClean="0">
                <a:ln>
                  <a:noFill/>
                </a:ln>
                <a:solidFill>
                  <a:srgbClr val="000000"/>
                </a:solidFill>
                <a:effectLst/>
                <a:uLnTx/>
                <a:uFillTx/>
                <a:latin typeface="Tahoma" pitchFamily="34" charset="0"/>
                <a:ea typeface="+mn-ea"/>
                <a:cs typeface="+mn-cs"/>
              </a:rPr>
              <a:pPr marL="0" marR="0" lvl="0" indent="0" algn="r" defTabSz="914400" rtl="0" eaLnBrk="0" fontAlgn="base" latinLnBrk="0" hangingPunct="0">
                <a:lnSpc>
                  <a:spcPct val="100000"/>
                </a:lnSpc>
                <a:spcBef>
                  <a:spcPct val="20000"/>
                </a:spcBef>
                <a:spcAft>
                  <a:spcPct val="0"/>
                </a:spcAft>
                <a:buClrTx/>
                <a:buSzTx/>
                <a:buFontTx/>
                <a:buNone/>
                <a:tabLst/>
                <a:defRPr/>
              </a:pPr>
              <a:t>7</a:t>
            </a:fld>
            <a:endParaRPr kumimoji="0" lang="en-US" sz="1300" b="0" i="0" u="none" strike="noStrike" kern="1200" cap="none" spc="0" normalizeH="0" baseline="0" noProof="0">
              <a:ln>
                <a:noFill/>
              </a:ln>
              <a:solidFill>
                <a:srgbClr val="000000"/>
              </a:solidFill>
              <a:effectLst/>
              <a:uLnTx/>
              <a:uFillTx/>
              <a:latin typeface="Tahoma" pitchFamily="34" charset="0"/>
              <a:ea typeface="+mn-ea"/>
              <a:cs typeface="+mn-cs"/>
            </a:endParaRPr>
          </a:p>
        </p:txBody>
      </p:sp>
    </p:spTree>
    <p:extLst>
      <p:ext uri="{BB962C8B-B14F-4D97-AF65-F5344CB8AC3E}">
        <p14:creationId xmlns:p14="http://schemas.microsoft.com/office/powerpoint/2010/main" val="1182274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pPr>
              <a:defRPr/>
            </a:pPr>
            <a:fld id="{13DE0193-D1BF-4952-98EF-3903CD0E6D36}" type="datetime1">
              <a:rPr lang="en-US" smtClean="0"/>
              <a:pPr>
                <a:defRPr/>
              </a:pPr>
              <a:t>11/30/2022</a:t>
            </a:fld>
            <a:endParaRPr lang="en-US" altLang="en-US"/>
          </a:p>
        </p:txBody>
      </p:sp>
      <p:sp>
        <p:nvSpPr>
          <p:cNvPr id="5" name="Footer Placeholder 4"/>
          <p:cNvSpPr>
            <a:spLocks noGrp="1"/>
          </p:cNvSpPr>
          <p:nvPr>
            <p:ph type="ftr" sz="quarter" idx="11"/>
          </p:nvPr>
        </p:nvSpPr>
        <p:spPr>
          <a:xfrm>
            <a:off x="3623733" y="6117336"/>
            <a:ext cx="3609438" cy="365125"/>
          </a:xfrm>
        </p:spPr>
        <p:txBody>
          <a:bodyPr/>
          <a:lstStyle/>
          <a:p>
            <a:pPr>
              <a:defRPr/>
            </a:pPr>
            <a:endParaRPr lang="en-US" altLang="en-US"/>
          </a:p>
        </p:txBody>
      </p:sp>
      <p:sp>
        <p:nvSpPr>
          <p:cNvPr id="6" name="Slide Number Placeholder 5"/>
          <p:cNvSpPr>
            <a:spLocks noGrp="1"/>
          </p:cNvSpPr>
          <p:nvPr>
            <p:ph type="sldNum" sz="quarter" idx="12"/>
          </p:nvPr>
        </p:nvSpPr>
        <p:spPr>
          <a:xfrm>
            <a:off x="8275320" y="6117336"/>
            <a:ext cx="411480" cy="365125"/>
          </a:xfrm>
        </p:spPr>
        <p:txBody>
          <a:bodyPr/>
          <a:lstStyle/>
          <a:p>
            <a:pPr>
              <a:defRPr/>
            </a:pPr>
            <a:fld id="{17F6527C-09EA-4256-9CF7-89437F3A6D56}" type="slidenum">
              <a:rPr lang="en-US" altLang="en-US" smtClean="0"/>
              <a:pPr>
                <a:defRPr/>
              </a:pPr>
              <a:t>‹#›</a:t>
            </a:fld>
            <a:endParaRPr lang="en-US" alt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1187003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pPr>
              <a:defRPr/>
            </a:pPr>
            <a:fld id="{55B004B1-B11D-4B2B-85C6-0EECC016E13F}" type="datetime1">
              <a:rPr lang="en-US" smtClean="0"/>
              <a:pPr>
                <a:defRPr/>
              </a:pPr>
              <a:t>11/30/2022</a:t>
            </a:fld>
            <a:endParaRPr lang="en-US" altLang="en-US"/>
          </a:p>
        </p:txBody>
      </p:sp>
      <p:sp>
        <p:nvSpPr>
          <p:cNvPr id="5" name="Footer Placeholder 4"/>
          <p:cNvSpPr>
            <a:spLocks noGrp="1"/>
          </p:cNvSpPr>
          <p:nvPr>
            <p:ph type="ftr" sz="quarter" idx="11"/>
          </p:nvPr>
        </p:nvSpPr>
        <p:spPr>
          <a:xfrm>
            <a:off x="1972647" y="6108173"/>
            <a:ext cx="5314517" cy="365125"/>
          </a:xfrm>
        </p:spPr>
        <p:txBody>
          <a:bodyPr/>
          <a:lstStyle/>
          <a:p>
            <a:pPr>
              <a:defRPr/>
            </a:pPr>
            <a:endParaRPr lang="en-US" altLang="en-US"/>
          </a:p>
        </p:txBody>
      </p:sp>
      <p:sp>
        <p:nvSpPr>
          <p:cNvPr id="6" name="Slide Number Placeholder 5"/>
          <p:cNvSpPr>
            <a:spLocks noGrp="1"/>
          </p:cNvSpPr>
          <p:nvPr>
            <p:ph type="sldNum" sz="quarter" idx="12"/>
          </p:nvPr>
        </p:nvSpPr>
        <p:spPr>
          <a:xfrm>
            <a:off x="8258967" y="6108173"/>
            <a:ext cx="427833" cy="365125"/>
          </a:xfrm>
        </p:spPr>
        <p:txBody>
          <a:bodyPr/>
          <a:lstStyle/>
          <a:p>
            <a:pPr>
              <a:defRPr/>
            </a:pPr>
            <a:fld id="{1A25CF7E-05FF-4B4A-9944-BE57E82D8571}" type="slidenum">
              <a:rPr lang="en-US" altLang="en-US" smtClean="0"/>
              <a:pPr>
                <a:defRPr/>
              </a:pPr>
              <a:t>‹#›</a:t>
            </a:fld>
            <a:endParaRPr lang="en-US" altLang="en-US"/>
          </a:p>
        </p:txBody>
      </p:sp>
    </p:spTree>
    <p:extLst>
      <p:ext uri="{BB962C8B-B14F-4D97-AF65-F5344CB8AC3E}">
        <p14:creationId xmlns:p14="http://schemas.microsoft.com/office/powerpoint/2010/main" val="3051185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1A3FD60-6DEF-4021-A4BD-2ABEBDDE8F87}" type="datetime1">
              <a:rPr lang="en-US" smtClean="0"/>
              <a:pPr>
                <a:defRPr/>
              </a:pPr>
              <a:t>11/30/2022</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a:xfrm>
            <a:off x="8273317" y="6116070"/>
            <a:ext cx="413483" cy="365125"/>
          </a:xfrm>
        </p:spPr>
        <p:txBody>
          <a:bodyPr/>
          <a:lstStyle/>
          <a:p>
            <a:pPr>
              <a:defRPr/>
            </a:pPr>
            <a:fld id="{141FDA88-53DF-491F-ACF1-54DC3129BB39}" type="slidenum">
              <a:rPr lang="en-US" altLang="en-US" smtClean="0"/>
              <a:pPr>
                <a:defRPr/>
              </a:pPr>
              <a:t>‹#›</a:t>
            </a:fld>
            <a:endParaRPr lang="en-US" altLang="en-US"/>
          </a:p>
        </p:txBody>
      </p:sp>
    </p:spTree>
    <p:extLst>
      <p:ext uri="{BB962C8B-B14F-4D97-AF65-F5344CB8AC3E}">
        <p14:creationId xmlns:p14="http://schemas.microsoft.com/office/powerpoint/2010/main" val="1362580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BC1EA10C-0A2F-4B1C-AFD5-D695854A4BB0}" type="datetime1">
              <a:rPr lang="en-US" smtClean="0"/>
              <a:pPr>
                <a:defRPr/>
              </a:pPr>
              <a:t>11/30/2022</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453DE79C-EF84-454B-BCEC-3BC154D27F88}" type="slidenum">
              <a:rPr lang="en-US" altLang="en-US" smtClean="0"/>
              <a:pPr>
                <a:defRPr/>
              </a:pPr>
              <a:t>‹#›</a:t>
            </a:fld>
            <a:endParaRPr lang="en-US" altLang="en-US"/>
          </a:p>
        </p:txBody>
      </p:sp>
    </p:spTree>
    <p:extLst>
      <p:ext uri="{BB962C8B-B14F-4D97-AF65-F5344CB8AC3E}">
        <p14:creationId xmlns:p14="http://schemas.microsoft.com/office/powerpoint/2010/main" val="3347112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53024006-7966-4ECD-A578-A76B2F86F361}" type="datetime1">
              <a:rPr lang="en-US" smtClean="0"/>
              <a:pPr>
                <a:defRPr/>
              </a:pPr>
              <a:t>11/30/2022</a:t>
            </a:fld>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pPr>
              <a:defRPr/>
            </a:pPr>
            <a:fld id="{68C69CCE-16DC-4A83-BF74-B88FF4FECC36}" type="slidenum">
              <a:rPr lang="en-US" altLang="en-US" smtClean="0"/>
              <a:pPr>
                <a:defRPr/>
              </a:pPr>
              <a:t>‹#›</a:t>
            </a:fld>
            <a:endParaRPr lang="en-US" altLang="en-US"/>
          </a:p>
        </p:txBody>
      </p:sp>
    </p:spTree>
    <p:extLst>
      <p:ext uri="{BB962C8B-B14F-4D97-AF65-F5344CB8AC3E}">
        <p14:creationId xmlns:p14="http://schemas.microsoft.com/office/powerpoint/2010/main" val="705720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E56A08AC-DA96-4507-9F67-1768BC2BD5B0}" type="datetime1">
              <a:rPr lang="en-US" smtClean="0"/>
              <a:pPr>
                <a:defRPr/>
              </a:pPr>
              <a:t>11/30/2022</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D046D30B-1D77-4CBB-9C49-B44ACFBF2BED}" type="slidenum">
              <a:rPr lang="en-US" altLang="en-US" smtClean="0"/>
              <a:pPr>
                <a:defRPr/>
              </a:pPr>
              <a:t>‹#›</a:t>
            </a:fld>
            <a:endParaRPr lang="en-US" altLang="en-US"/>
          </a:p>
        </p:txBody>
      </p:sp>
    </p:spTree>
    <p:extLst>
      <p:ext uri="{BB962C8B-B14F-4D97-AF65-F5344CB8AC3E}">
        <p14:creationId xmlns:p14="http://schemas.microsoft.com/office/powerpoint/2010/main" val="81993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CE20353-6F25-40D7-B75D-60763B9D47E1}" type="datetime1">
              <a:rPr lang="en-US" smtClean="0"/>
              <a:pPr>
                <a:defRPr/>
              </a:pPr>
              <a:t>11/30/2022</a:t>
            </a:fld>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pPr>
              <a:defRPr/>
            </a:pPr>
            <a:fld id="{81627D45-3680-4120-ADEC-2D4CED3EEEA1}" type="slidenum">
              <a:rPr lang="en-US" altLang="en-US" smtClean="0"/>
              <a:pPr>
                <a:defRPr/>
              </a:pPr>
              <a:t>‹#›</a:t>
            </a:fld>
            <a:endParaRPr lang="en-US" altLang="en-US"/>
          </a:p>
        </p:txBody>
      </p:sp>
    </p:spTree>
    <p:extLst>
      <p:ext uri="{BB962C8B-B14F-4D97-AF65-F5344CB8AC3E}">
        <p14:creationId xmlns:p14="http://schemas.microsoft.com/office/powerpoint/2010/main" val="3129708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6D603D2-A6C6-48B0-812F-90F123834752}" type="datetime1">
              <a:rPr lang="en-US" smtClean="0"/>
              <a:pPr>
                <a:defRPr/>
              </a:pPr>
              <a:t>11/30/2022</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6ACF822A-BFFB-4365-AFE5-43BEEE997710}" type="slidenum">
              <a:rPr lang="en-US" altLang="en-US" smtClean="0"/>
              <a:pPr>
                <a:defRPr/>
              </a:pPr>
              <a:t>‹#›</a:t>
            </a:fld>
            <a:endParaRPr lang="en-US" altLang="en-US"/>
          </a:p>
        </p:txBody>
      </p:sp>
    </p:spTree>
    <p:extLst>
      <p:ext uri="{BB962C8B-B14F-4D97-AF65-F5344CB8AC3E}">
        <p14:creationId xmlns:p14="http://schemas.microsoft.com/office/powerpoint/2010/main" val="3965154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2FD799C1-8FC9-44B8-9522-2C9BF5C670C5}" type="datetime1">
              <a:rPr lang="en-US" smtClean="0"/>
              <a:pPr>
                <a:defRPr/>
              </a:pPr>
              <a:t>11/30/2022</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48354902-845C-42AB-8626-F072442D32F7}" type="slidenum">
              <a:rPr lang="en-US" altLang="en-US" smtClean="0"/>
              <a:pPr>
                <a:defRPr/>
              </a:pPr>
              <a:t>‹#›</a:t>
            </a:fld>
            <a:endParaRPr lang="en-US" altLang="en-US"/>
          </a:p>
        </p:txBody>
      </p:sp>
    </p:spTree>
    <p:extLst>
      <p:ext uri="{BB962C8B-B14F-4D97-AF65-F5344CB8AC3E}">
        <p14:creationId xmlns:p14="http://schemas.microsoft.com/office/powerpoint/2010/main" val="1609422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FE7F0EA-49D4-45A4-9C97-6B9A48DA8217}" type="datetime1">
              <a:rPr lang="en-US" smtClean="0"/>
              <a:pPr>
                <a:defRPr/>
              </a:pPr>
              <a:t>11/30/2022</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286500587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11/30/2022</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182326915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11/30/2022</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187380368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11/30/2022</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320840579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11/30/2022</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38866387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11/30/2022</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255626713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CEEE49E-90D7-4DC4-B4A7-A2F2BE7F8A81}" type="datetime1">
              <a:rPr lang="en-US" smtClean="0"/>
              <a:pPr>
                <a:defRPr/>
              </a:pPr>
              <a:t>11/30/2022</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1773F5B0-CD4F-4AC1-8324-39D68F78EFED}" type="slidenum">
              <a:rPr lang="en-US" altLang="en-US" smtClean="0"/>
              <a:pPr>
                <a:defRPr/>
              </a:pPr>
              <a:t>‹#›</a:t>
            </a:fld>
            <a:endParaRPr lang="en-US" altLang="en-US"/>
          </a:p>
        </p:txBody>
      </p:sp>
    </p:spTree>
    <p:extLst>
      <p:ext uri="{BB962C8B-B14F-4D97-AF65-F5344CB8AC3E}">
        <p14:creationId xmlns:p14="http://schemas.microsoft.com/office/powerpoint/2010/main" val="3432144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9B0FEA6-688D-4F5C-93FE-DEECFF1AB383}" type="datetime1">
              <a:rPr lang="en-US" smtClean="0"/>
              <a:pPr>
                <a:defRPr/>
              </a:pPr>
              <a:t>11/30/2022</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2E7AA040-820A-4231-839E-5B1AD38EE386}" type="slidenum">
              <a:rPr lang="en-US" altLang="en-US" smtClean="0"/>
              <a:pPr>
                <a:defRPr/>
              </a:pPr>
              <a:t>‹#›</a:t>
            </a:fld>
            <a:endParaRPr lang="en-US" altLang="en-US"/>
          </a:p>
        </p:txBody>
      </p:sp>
    </p:spTree>
    <p:extLst>
      <p:ext uri="{BB962C8B-B14F-4D97-AF65-F5344CB8AC3E}">
        <p14:creationId xmlns:p14="http://schemas.microsoft.com/office/powerpoint/2010/main" val="1413087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EFE7F0EA-49D4-45A4-9C97-6B9A48DA8217}" type="datetime1">
              <a:rPr lang="en-US" smtClean="0"/>
              <a:pPr>
                <a:defRPr/>
              </a:pPr>
              <a:t>11/30/2022</a:t>
            </a:fld>
            <a:endParaRPr lang="en-US" alt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defRPr/>
            </a:pPr>
            <a:endParaRPr lang="en-US" alt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3363414631"/>
      </p:ext>
    </p:extLst>
  </p:cSld>
  <p:clrMap bg1="lt1" tx1="dk1" bg2="lt2" tx2="dk2" accent1="accent1" accent2="accent2" accent3="accent3" accent4="accent4" accent5="accent5" accent6="accent6" hlink="hlink" folHlink="folHlink"/>
  <p:sldLayoutIdLst>
    <p:sldLayoutId id="2147484139" r:id="rId1"/>
    <p:sldLayoutId id="2147484140" r:id="rId2"/>
    <p:sldLayoutId id="2147484141" r:id="rId3"/>
    <p:sldLayoutId id="2147484142" r:id="rId4"/>
    <p:sldLayoutId id="2147484143" r:id="rId5"/>
    <p:sldLayoutId id="2147484144" r:id="rId6"/>
    <p:sldLayoutId id="2147484145" r:id="rId7"/>
    <p:sldLayoutId id="2147484146" r:id="rId8"/>
    <p:sldLayoutId id="2147484147" r:id="rId9"/>
    <p:sldLayoutId id="2147484148" r:id="rId10"/>
    <p:sldLayoutId id="2147484149" r:id="rId11"/>
    <p:sldLayoutId id="2147484150" r:id="rId12"/>
    <p:sldLayoutId id="2147484151" r:id="rId13"/>
    <p:sldLayoutId id="2147484152" r:id="rId14"/>
    <p:sldLayoutId id="2147484153" r:id="rId15"/>
    <p:sldLayoutId id="2147484154" r:id="rId16"/>
    <p:sldLayoutId id="2147484155"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05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209800"/>
            <a:ext cx="4668838"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p:cNvSpPr>
            <a:spLocks noGrp="1"/>
          </p:cNvSpPr>
          <p:nvPr>
            <p:ph type="subTitle" idx="1"/>
          </p:nvPr>
        </p:nvSpPr>
        <p:spPr>
          <a:xfrm>
            <a:off x="1371600" y="3886200"/>
            <a:ext cx="6400800" cy="1905000"/>
          </a:xfrm>
        </p:spPr>
        <p:txBody>
          <a:bodyPr>
            <a:normAutofit lnSpcReduction="10000"/>
          </a:bodyPr>
          <a:lstStyle/>
          <a:p>
            <a:pPr>
              <a:spcBef>
                <a:spcPct val="50000"/>
              </a:spcBef>
            </a:pP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Business Services Update</a:t>
            </a:r>
          </a:p>
          <a:p>
            <a:pPr>
              <a:spcBef>
                <a:spcPct val="50000"/>
              </a:spcBef>
            </a:pP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General Fund Amendment 1</a:t>
            </a:r>
          </a:p>
          <a:p>
            <a:pPr>
              <a:spcBef>
                <a:spcPct val="50000"/>
              </a:spcBef>
            </a:pP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December 6, 2022</a:t>
            </a:r>
            <a:endParaRPr lang="en-US" sz="2800" b="1" dirty="0">
              <a:ln w="12700">
                <a:solidFill>
                  <a:schemeClr val="bg2">
                    <a:lumMod val="25000"/>
                  </a:schemeClr>
                </a:solidFill>
                <a:prstDash val="solid"/>
              </a:ln>
              <a:solidFill>
                <a:schemeClr val="tx1"/>
              </a:solidFill>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1"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2"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3"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14"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5"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6"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useBgFill="1">
        <p:nvSpPr>
          <p:cNvPr id="18" name="Rectangle 17">
            <a:extLst>
              <a:ext uri="{FF2B5EF4-FFF2-40B4-BE49-F238E27FC236}">
                <a16:creationId xmlns:a16="http://schemas.microsoft.com/office/drawing/2014/main" id="{E58348C3-6249-4952-AA86-C63DB35EA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DE6174AD-DBB0-43E6-98C2-738DB3A152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19326" y="-4763"/>
            <a:ext cx="3761187" cy="6862763"/>
            <a:chOff x="2928938" y="-4763"/>
            <a:chExt cx="5014912" cy="6862763"/>
          </a:xfrm>
        </p:grpSpPr>
        <p:sp>
          <p:nvSpPr>
            <p:cNvPr id="21" name="Freeform 6">
              <a:extLst>
                <a:ext uri="{FF2B5EF4-FFF2-40B4-BE49-F238E27FC236}">
                  <a16:creationId xmlns:a16="http://schemas.microsoft.com/office/drawing/2014/main" id="{50A59800-3661-4778-9D8A-F816C85C41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2" name="Freeform 7">
              <a:extLst>
                <a:ext uri="{FF2B5EF4-FFF2-40B4-BE49-F238E27FC236}">
                  <a16:creationId xmlns:a16="http://schemas.microsoft.com/office/drawing/2014/main" id="{7A810977-C816-4698-B7E7-0E6BDED79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3" name="Freeform 9">
              <a:extLst>
                <a:ext uri="{FF2B5EF4-FFF2-40B4-BE49-F238E27FC236}">
                  <a16:creationId xmlns:a16="http://schemas.microsoft.com/office/drawing/2014/main" id="{181E4B1B-2437-4A14-8927-817FC7AED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4" name="Freeform 10">
              <a:extLst>
                <a:ext uri="{FF2B5EF4-FFF2-40B4-BE49-F238E27FC236}">
                  <a16:creationId xmlns:a16="http://schemas.microsoft.com/office/drawing/2014/main" id="{3F98AD26-9FF7-44EA-B876-9C857F8ED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5" name="Freeform 11">
              <a:extLst>
                <a:ext uri="{FF2B5EF4-FFF2-40B4-BE49-F238E27FC236}">
                  <a16:creationId xmlns:a16="http://schemas.microsoft.com/office/drawing/2014/main" id="{32EBB12A-A9CE-446F-9462-15DAC0D0F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6" name="Freeform 12">
              <a:extLst>
                <a:ext uri="{FF2B5EF4-FFF2-40B4-BE49-F238E27FC236}">
                  <a16:creationId xmlns:a16="http://schemas.microsoft.com/office/drawing/2014/main" id="{85925599-F99B-48E5-A384-76136C081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096A1A49-4362-4E00-AD52-74BB24CB93FD}"/>
              </a:ext>
            </a:extLst>
          </p:cNvPr>
          <p:cNvSpPr>
            <a:spLocks noGrp="1"/>
          </p:cNvSpPr>
          <p:nvPr>
            <p:ph type="title"/>
          </p:nvPr>
        </p:nvSpPr>
        <p:spPr>
          <a:xfrm>
            <a:off x="4086224" y="1380068"/>
            <a:ext cx="4541042" cy="2616199"/>
          </a:xfrm>
        </p:spPr>
        <p:txBody>
          <a:bodyPr vert="horz" lIns="91440" tIns="45720" rIns="91440" bIns="45720" rtlCol="0" anchor="b">
            <a:normAutofit/>
          </a:bodyPr>
          <a:lstStyle/>
          <a:p>
            <a:pPr algn="r"/>
            <a:r>
              <a:rPr lang="en-US" sz="6000"/>
              <a:t>General Fund</a:t>
            </a:r>
          </a:p>
        </p:txBody>
      </p:sp>
      <p:pic>
        <p:nvPicPr>
          <p:cNvPr id="6" name="Picture 5">
            <a:extLst>
              <a:ext uri="{FF2B5EF4-FFF2-40B4-BE49-F238E27FC236}">
                <a16:creationId xmlns:a16="http://schemas.microsoft.com/office/drawing/2014/main" id="{D60CEA74-FC7A-C417-A403-06DA413554E9}"/>
              </a:ext>
            </a:extLst>
          </p:cNvPr>
          <p:cNvPicPr>
            <a:picLocks noChangeAspect="1"/>
          </p:cNvPicPr>
          <p:nvPr/>
        </p:nvPicPr>
        <p:blipFill rotWithShape="1">
          <a:blip r:embed="rId3"/>
          <a:srcRect l="50646" r="15838"/>
          <a:stretch/>
        </p:blipFill>
        <p:spPr>
          <a:xfrm>
            <a:off x="20" y="10"/>
            <a:ext cx="4086205" cy="6857990"/>
          </a:xfrm>
          <a:custGeom>
            <a:avLst/>
            <a:gdLst/>
            <a:ahLst/>
            <a:cxnLst/>
            <a:rect l="l" t="t" r="r" b="b"/>
            <a:pathLst>
              <a:path w="5448300" h="6858000">
                <a:moveTo>
                  <a:pt x="0" y="0"/>
                </a:moveTo>
                <a:lnTo>
                  <a:pt x="3513666" y="0"/>
                </a:lnTo>
                <a:lnTo>
                  <a:pt x="2861733" y="2548466"/>
                </a:lnTo>
                <a:lnTo>
                  <a:pt x="5448300" y="6853767"/>
                </a:lnTo>
                <a:lnTo>
                  <a:pt x="0" y="6858000"/>
                </a:lnTo>
                <a:lnTo>
                  <a:pt x="0" y="0"/>
                </a:lnTo>
                <a:close/>
              </a:path>
            </a:pathLst>
          </a:custGeom>
          <a:ln w="38100">
            <a:noFill/>
          </a:ln>
          <a:effectLst/>
        </p:spPr>
      </p:pic>
      <p:sp>
        <p:nvSpPr>
          <p:cNvPr id="4" name="Slide Number Placeholder 3">
            <a:extLst>
              <a:ext uri="{FF2B5EF4-FFF2-40B4-BE49-F238E27FC236}">
                <a16:creationId xmlns:a16="http://schemas.microsoft.com/office/drawing/2014/main" id="{D9EFEF5A-B156-456D-BD89-49EF9ADBF791}"/>
              </a:ext>
            </a:extLst>
          </p:cNvPr>
          <p:cNvSpPr>
            <a:spLocks noGrp="1"/>
          </p:cNvSpPr>
          <p:nvPr>
            <p:ph type="sldNum" sz="quarter" idx="12"/>
          </p:nvPr>
        </p:nvSpPr>
        <p:spPr>
          <a:xfrm>
            <a:off x="8213892" y="5883275"/>
            <a:ext cx="413375" cy="365125"/>
          </a:xfrm>
        </p:spPr>
        <p:txBody>
          <a:bodyPr vert="horz" lIns="91440" tIns="45720" rIns="91440" bIns="45720" rtlCol="0" anchor="ctr">
            <a:normAutofit/>
          </a:bodyPr>
          <a:lstStyle/>
          <a:p>
            <a:pPr>
              <a:spcAft>
                <a:spcPts val="600"/>
              </a:spcAft>
              <a:defRPr/>
            </a:pPr>
            <a:fld id="{1A25CF7E-05FF-4B4A-9944-BE57E82D8571}" type="slidenum">
              <a:rPr lang="en-US" altLang="en-US" smtClean="0">
                <a:cs typeface="+mn-cs"/>
              </a:rPr>
              <a:pPr>
                <a:spcAft>
                  <a:spcPts val="600"/>
                </a:spcAft>
                <a:defRPr/>
              </a:pPr>
              <a:t>2</a:t>
            </a:fld>
            <a:endParaRPr lang="en-US" altLang="en-US">
              <a:cs typeface="+mn-cs"/>
            </a:endParaRPr>
          </a:p>
        </p:txBody>
      </p:sp>
    </p:spTree>
    <p:extLst>
      <p:ext uri="{BB962C8B-B14F-4D97-AF65-F5344CB8AC3E}">
        <p14:creationId xmlns:p14="http://schemas.microsoft.com/office/powerpoint/2010/main" val="161855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hidden="1"/>
          <p:cNvSpPr>
            <a:spLocks noGrp="1"/>
          </p:cNvSpPr>
          <p:nvPr>
            <p:ph type="sldNum" sz="quarter" idx="12"/>
          </p:nvPr>
        </p:nvSpPr>
        <p:spPr/>
        <p:txBody>
          <a:bodyPr/>
          <a:lstStyle/>
          <a:p>
            <a:pPr>
              <a:spcAft>
                <a:spcPts val="600"/>
              </a:spcAft>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spcAft>
                  <a:spcPts val="600"/>
                </a:spcAft>
                <a:defRPr/>
              </a:pPr>
              <a:t>3</a:t>
            </a:fld>
            <a:endParaRPr lang="en-US" altLang="en-US" sz="1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6477F66-326C-A713-D92E-62D620E6862D}"/>
              </a:ext>
            </a:extLst>
          </p:cNvPr>
          <p:cNvPicPr>
            <a:picLocks noChangeAspect="1"/>
          </p:cNvPicPr>
          <p:nvPr/>
        </p:nvPicPr>
        <p:blipFill>
          <a:blip r:embed="rId2"/>
          <a:stretch>
            <a:fillRect/>
          </a:stretch>
        </p:blipFill>
        <p:spPr>
          <a:xfrm>
            <a:off x="4471987" y="3319462"/>
            <a:ext cx="200025" cy="219075"/>
          </a:xfrm>
          <a:prstGeom prst="rect">
            <a:avLst/>
          </a:prstGeom>
        </p:spPr>
      </p:pic>
      <p:pic>
        <p:nvPicPr>
          <p:cNvPr id="5" name="Picture 4">
            <a:extLst>
              <a:ext uri="{FF2B5EF4-FFF2-40B4-BE49-F238E27FC236}">
                <a16:creationId xmlns:a16="http://schemas.microsoft.com/office/drawing/2014/main" id="{076630CC-35AD-E83E-0161-649F5A9E44D2}"/>
              </a:ext>
            </a:extLst>
          </p:cNvPr>
          <p:cNvPicPr>
            <a:picLocks noChangeAspect="1"/>
          </p:cNvPicPr>
          <p:nvPr/>
        </p:nvPicPr>
        <p:blipFill>
          <a:blip r:embed="rId3"/>
          <a:stretch>
            <a:fillRect/>
          </a:stretch>
        </p:blipFill>
        <p:spPr>
          <a:xfrm>
            <a:off x="582233" y="293845"/>
            <a:ext cx="8599056" cy="6270309"/>
          </a:xfrm>
          <a:prstGeom prst="rect">
            <a:avLst/>
          </a:prstGeom>
        </p:spPr>
      </p:pic>
    </p:spTree>
    <p:extLst>
      <p:ext uri="{BB962C8B-B14F-4D97-AF65-F5344CB8AC3E}">
        <p14:creationId xmlns:p14="http://schemas.microsoft.com/office/powerpoint/2010/main" val="491185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792162"/>
          </a:xfrm>
        </p:spPr>
        <p:txBody>
          <a:bodyPr/>
          <a:lstStyle/>
          <a:p>
            <a:r>
              <a:rPr lang="en-US" sz="2800" b="1" dirty="0">
                <a:latin typeface="Times New Roman" panose="02020603050405020304" pitchFamily="18" charset="0"/>
                <a:cs typeface="Times New Roman" panose="02020603050405020304" pitchFamily="18" charset="0"/>
              </a:rPr>
              <a:t>Budget Adjustments</a:t>
            </a:r>
          </a:p>
        </p:txBody>
      </p:sp>
      <p:graphicFrame>
        <p:nvGraphicFramePr>
          <p:cNvPr id="6" name="Content Placeholder 2">
            <a:extLst>
              <a:ext uri="{FF2B5EF4-FFF2-40B4-BE49-F238E27FC236}">
                <a16:creationId xmlns:a16="http://schemas.microsoft.com/office/drawing/2014/main" id="{6DE51F43-361C-9E40-5AB3-6BFB1AD74990}"/>
              </a:ext>
            </a:extLst>
          </p:cNvPr>
          <p:cNvGraphicFramePr>
            <a:graphicFrameLocks noGrp="1"/>
          </p:cNvGraphicFramePr>
          <p:nvPr>
            <p:ph idx="1"/>
            <p:extLst>
              <p:ext uri="{D42A27DB-BD31-4B8C-83A1-F6EECF244321}">
                <p14:modId xmlns:p14="http://schemas.microsoft.com/office/powerpoint/2010/main" val="3865136621"/>
              </p:ext>
            </p:extLst>
          </p:nvPr>
        </p:nvGraphicFramePr>
        <p:xfrm>
          <a:off x="190500" y="915255"/>
          <a:ext cx="8763000" cy="594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4</a:t>
            </a:fld>
            <a:endParaRPr lang="en-US" altLang="en-US"/>
          </a:p>
        </p:txBody>
      </p:sp>
    </p:spTree>
    <p:extLst>
      <p:ext uri="{BB962C8B-B14F-4D97-AF65-F5344CB8AC3E}">
        <p14:creationId xmlns:p14="http://schemas.microsoft.com/office/powerpoint/2010/main" val="77730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B7611-0857-4C91-8D83-EE13049AD4B6}"/>
              </a:ext>
            </a:extLst>
          </p:cNvPr>
          <p:cNvSpPr>
            <a:spLocks noGrp="1"/>
          </p:cNvSpPr>
          <p:nvPr>
            <p:ph type="title"/>
          </p:nvPr>
        </p:nvSpPr>
        <p:spPr>
          <a:xfrm>
            <a:off x="990600" y="381000"/>
            <a:ext cx="2500121" cy="1504335"/>
          </a:xfrm>
        </p:spPr>
        <p:txBody>
          <a:bodyPr>
            <a:normAutofit/>
          </a:bodyPr>
          <a:lstStyle/>
          <a:p>
            <a:r>
              <a:rPr lang="en-US" sz="3000" b="1" dirty="0">
                <a:latin typeface="Times New Roman" panose="02020603050405020304" pitchFamily="18" charset="0"/>
                <a:cs typeface="Times New Roman" panose="02020603050405020304" pitchFamily="18" charset="0"/>
              </a:rPr>
              <a:t>So What? Now What?</a:t>
            </a:r>
          </a:p>
        </p:txBody>
      </p:sp>
      <p:sp>
        <p:nvSpPr>
          <p:cNvPr id="3" name="Content Placeholder 2">
            <a:extLst>
              <a:ext uri="{FF2B5EF4-FFF2-40B4-BE49-F238E27FC236}">
                <a16:creationId xmlns:a16="http://schemas.microsoft.com/office/drawing/2014/main" id="{D60F27A6-FB02-45AE-AD8C-7F9343F2B931}"/>
              </a:ext>
            </a:extLst>
          </p:cNvPr>
          <p:cNvSpPr>
            <a:spLocks noGrp="1"/>
          </p:cNvSpPr>
          <p:nvPr>
            <p:ph idx="1"/>
          </p:nvPr>
        </p:nvSpPr>
        <p:spPr>
          <a:xfrm>
            <a:off x="1143000" y="1885335"/>
            <a:ext cx="2500122" cy="2895601"/>
          </a:xfrm>
        </p:spPr>
        <p:txBody>
          <a:bodyPr anchor="t">
            <a:noAutofit/>
          </a:bodyPr>
          <a:lstStyle/>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Federal Funding</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Declining Enrollment</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Structural Deficit</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Right-Sizing Staff</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Strategic use of Fund Balance</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0ACCD12-2515-56D6-2682-2F947F5EA9A4}"/>
              </a:ext>
            </a:extLst>
          </p:cNvPr>
          <p:cNvPicPr>
            <a:picLocks noChangeAspect="1"/>
          </p:cNvPicPr>
          <p:nvPr/>
        </p:nvPicPr>
        <p:blipFill rotWithShape="1">
          <a:blip r:embed="rId3"/>
          <a:srcRect b="9700"/>
          <a:stretch/>
        </p:blipFill>
        <p:spPr>
          <a:xfrm>
            <a:off x="4267200" y="1447800"/>
            <a:ext cx="4680743" cy="4255820"/>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
        <p:nvSpPr>
          <p:cNvPr id="4" name="Slide Number Placeholder 3">
            <a:extLst>
              <a:ext uri="{FF2B5EF4-FFF2-40B4-BE49-F238E27FC236}">
                <a16:creationId xmlns:a16="http://schemas.microsoft.com/office/drawing/2014/main" id="{DF3E9B75-312A-40AE-8375-B225E4E245A5}"/>
              </a:ext>
            </a:extLst>
          </p:cNvPr>
          <p:cNvSpPr>
            <a:spLocks noGrp="1"/>
          </p:cNvSpPr>
          <p:nvPr>
            <p:ph type="sldNum" sz="quarter" idx="12"/>
          </p:nvPr>
        </p:nvSpPr>
        <p:spPr>
          <a:xfrm>
            <a:off x="8213892" y="5867131"/>
            <a:ext cx="413375" cy="365125"/>
          </a:xfrm>
        </p:spPr>
        <p:txBody>
          <a:bodyPr>
            <a:normAutofit/>
          </a:bodyPr>
          <a:lstStyle/>
          <a:p>
            <a:pPr>
              <a:spcAft>
                <a:spcPts val="600"/>
              </a:spcAft>
              <a:defRPr/>
            </a:pPr>
            <a:fld id="{1A25CF7E-05FF-4B4A-9944-BE57E82D8571}" type="slidenum">
              <a:rPr lang="en-US" altLang="en-US" smtClean="0"/>
              <a:pPr>
                <a:spcAft>
                  <a:spcPts val="600"/>
                </a:spcAft>
                <a:defRPr/>
              </a:pPr>
              <a:t>5</a:t>
            </a:fld>
            <a:endParaRPr lang="en-US" altLang="en-US"/>
          </a:p>
        </p:txBody>
      </p:sp>
    </p:spTree>
    <p:extLst>
      <p:ext uri="{BB962C8B-B14F-4D97-AF65-F5344CB8AC3E}">
        <p14:creationId xmlns:p14="http://schemas.microsoft.com/office/powerpoint/2010/main" val="682420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FCD95-839F-329D-9A82-585AAA1E31AF}"/>
              </a:ext>
            </a:extLst>
          </p:cNvPr>
          <p:cNvSpPr>
            <a:spLocks noGrp="1"/>
          </p:cNvSpPr>
          <p:nvPr>
            <p:ph type="title"/>
          </p:nvPr>
        </p:nvSpPr>
        <p:spPr>
          <a:xfrm>
            <a:off x="982133" y="457201"/>
            <a:ext cx="7628467" cy="990599"/>
          </a:xfrm>
        </p:spPr>
        <p:txBody>
          <a:bodyPr/>
          <a:lstStyle/>
          <a:p>
            <a:r>
              <a:rPr lang="en-US">
                <a:latin typeface="Times New Roman" panose="02020603050405020304" pitchFamily="18" charset="0"/>
                <a:cs typeface="Times New Roman" panose="02020603050405020304" pitchFamily="18" charset="0"/>
              </a:rPr>
              <a:t>COVID Stimulus Funds </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13351EB-3451-574F-F21D-2E7B60FFEAEC}"/>
              </a:ext>
            </a:extLst>
          </p:cNvPr>
          <p:cNvSpPr>
            <a:spLocks noGrp="1"/>
          </p:cNvSpPr>
          <p:nvPr>
            <p:ph type="sldNum" sz="quarter" idx="12"/>
          </p:nvPr>
        </p:nvSpPr>
        <p:spPr/>
        <p:txBody>
          <a:bodyPr/>
          <a:lstStyle/>
          <a:p>
            <a:pPr>
              <a:defRPr/>
            </a:pPr>
            <a:fld id="{1A25CF7E-05FF-4B4A-9944-BE57E82D8571}" type="slidenum">
              <a:rPr lang="en-US" altLang="en-US" smtClean="0"/>
              <a:pPr>
                <a:defRPr/>
              </a:pPr>
              <a:t>6</a:t>
            </a:fld>
            <a:endParaRPr lang="en-US" altLang="en-US"/>
          </a:p>
        </p:txBody>
      </p:sp>
      <p:pic>
        <p:nvPicPr>
          <p:cNvPr id="3" name="Picture 2">
            <a:extLst>
              <a:ext uri="{FF2B5EF4-FFF2-40B4-BE49-F238E27FC236}">
                <a16:creationId xmlns:a16="http://schemas.microsoft.com/office/drawing/2014/main" id="{789DB16D-D320-3D6A-1B66-495EB00BBBF2}"/>
              </a:ext>
            </a:extLst>
          </p:cNvPr>
          <p:cNvPicPr>
            <a:picLocks noChangeAspect="1"/>
          </p:cNvPicPr>
          <p:nvPr/>
        </p:nvPicPr>
        <p:blipFill>
          <a:blip r:embed="rId2"/>
          <a:stretch>
            <a:fillRect/>
          </a:stretch>
        </p:blipFill>
        <p:spPr>
          <a:xfrm>
            <a:off x="381000" y="1615834"/>
            <a:ext cx="8502650" cy="3626332"/>
          </a:xfrm>
          <a:prstGeom prst="rect">
            <a:avLst/>
          </a:prstGeom>
        </p:spPr>
      </p:pic>
    </p:spTree>
    <p:extLst>
      <p:ext uri="{BB962C8B-B14F-4D97-AF65-F5344CB8AC3E}">
        <p14:creationId xmlns:p14="http://schemas.microsoft.com/office/powerpoint/2010/main" val="1637906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4" name="Group 53">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5"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56"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57"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58"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59"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60"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62" name="Group 61">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3"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64"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65"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66"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67"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68"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70" name="Freeform: Shape 69">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8213892" y="5883275"/>
            <a:ext cx="413375" cy="365125"/>
          </a:xfrm>
        </p:spPr>
        <p:txBody>
          <a:bodyPr vert="horz" lIns="91440" tIns="45720" rIns="91440" bIns="45720" rtlCol="0" anchor="ctr">
            <a:normAutofit/>
          </a:bodyPr>
          <a:lstStyle/>
          <a:p>
            <a:pPr marR="0" lvl="0" indent="0" defTabSz="457200" fontAlgn="base">
              <a:spcBef>
                <a:spcPct val="0"/>
              </a:spcBef>
              <a:spcAft>
                <a:spcPts val="600"/>
              </a:spcAft>
              <a:buClrTx/>
              <a:buSzTx/>
              <a:buFontTx/>
              <a:buNone/>
              <a:tabLst/>
              <a:defRPr/>
            </a:pPr>
            <a:fld id="{1A25CF7E-05FF-4B4A-9944-BE57E82D8571}" type="slidenum">
              <a:rPr kumimoji="0" lang="en-US" altLang="en-US" u="none" strike="noStrike" cap="none" spc="0" normalizeH="0" baseline="0" noProof="0" smtClean="0">
                <a:ln>
                  <a:noFill/>
                </a:ln>
                <a:uLnTx/>
                <a:uFillTx/>
                <a:cs typeface="+mn-cs"/>
              </a:rPr>
              <a:pPr marR="0" lvl="0" indent="0" defTabSz="457200" fontAlgn="base">
                <a:spcBef>
                  <a:spcPct val="0"/>
                </a:spcBef>
                <a:spcAft>
                  <a:spcPts val="600"/>
                </a:spcAft>
                <a:buClrTx/>
                <a:buSzTx/>
                <a:buFontTx/>
                <a:buNone/>
                <a:tabLst/>
                <a:defRPr/>
              </a:pPr>
              <a:t>7</a:t>
            </a:fld>
            <a:endParaRPr kumimoji="0" lang="en-US" altLang="en-US" u="none" strike="noStrike" cap="none" spc="0" normalizeH="0" baseline="0" noProof="0">
              <a:ln>
                <a:noFill/>
              </a:ln>
              <a:uLnTx/>
              <a:uFillTx/>
              <a:cs typeface="+mn-cs"/>
            </a:endParaRPr>
          </a:p>
        </p:txBody>
      </p:sp>
      <p:graphicFrame>
        <p:nvGraphicFramePr>
          <p:cNvPr id="2" name="Chart 1">
            <a:extLst>
              <a:ext uri="{FF2B5EF4-FFF2-40B4-BE49-F238E27FC236}">
                <a16:creationId xmlns:a16="http://schemas.microsoft.com/office/drawing/2014/main" id="{01B84FC6-BBC1-4430-BB75-7D7840F72A3C}"/>
              </a:ext>
            </a:extLst>
          </p:cNvPr>
          <p:cNvGraphicFramePr>
            <a:graphicFrameLocks/>
          </p:cNvGraphicFramePr>
          <p:nvPr>
            <p:extLst>
              <p:ext uri="{D42A27DB-BD31-4B8C-83A1-F6EECF244321}">
                <p14:modId xmlns:p14="http://schemas.microsoft.com/office/powerpoint/2010/main" val="1797900784"/>
              </p:ext>
            </p:extLst>
          </p:nvPr>
        </p:nvGraphicFramePr>
        <p:xfrm>
          <a:off x="1709946" y="974724"/>
          <a:ext cx="6710154" cy="489902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13902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FCD95-839F-329D-9A82-585AAA1E31AF}"/>
              </a:ext>
            </a:extLst>
          </p:cNvPr>
          <p:cNvSpPr>
            <a:spLocks noGrp="1"/>
          </p:cNvSpPr>
          <p:nvPr>
            <p:ph type="title"/>
          </p:nvPr>
        </p:nvSpPr>
        <p:spPr>
          <a:xfrm>
            <a:off x="982132" y="321932"/>
            <a:ext cx="7552267" cy="533399"/>
          </a:xfrm>
        </p:spPr>
        <p:txBody>
          <a:bodyPr>
            <a:normAutofit fontScale="90000"/>
          </a:bodyPr>
          <a:lstStyle/>
          <a:p>
            <a:r>
              <a:rPr lang="en-US" dirty="0">
                <a:latin typeface="Times New Roman" panose="02020603050405020304" pitchFamily="18" charset="0"/>
                <a:cs typeface="Times New Roman" panose="02020603050405020304" pitchFamily="18" charset="0"/>
              </a:rPr>
              <a:t>General Fund History </a:t>
            </a:r>
          </a:p>
        </p:txBody>
      </p:sp>
      <p:sp>
        <p:nvSpPr>
          <p:cNvPr id="4" name="Slide Number Placeholder 3">
            <a:extLst>
              <a:ext uri="{FF2B5EF4-FFF2-40B4-BE49-F238E27FC236}">
                <a16:creationId xmlns:a16="http://schemas.microsoft.com/office/drawing/2014/main" id="{F13351EB-3451-574F-F21D-2E7B60FFEAEC}"/>
              </a:ext>
            </a:extLst>
          </p:cNvPr>
          <p:cNvSpPr>
            <a:spLocks noGrp="1"/>
          </p:cNvSpPr>
          <p:nvPr>
            <p:ph type="sldNum" sz="quarter" idx="12"/>
          </p:nvPr>
        </p:nvSpPr>
        <p:spPr/>
        <p:txBody>
          <a:bodyPr/>
          <a:lstStyle/>
          <a:p>
            <a:pPr>
              <a:defRPr/>
            </a:pPr>
            <a:fld id="{1A25CF7E-05FF-4B4A-9944-BE57E82D8571}" type="slidenum">
              <a:rPr lang="en-US" altLang="en-US" smtClean="0"/>
              <a:pPr>
                <a:defRPr/>
              </a:pPr>
              <a:t>8</a:t>
            </a:fld>
            <a:endParaRPr lang="en-US" altLang="en-US"/>
          </a:p>
        </p:txBody>
      </p:sp>
      <p:pic>
        <p:nvPicPr>
          <p:cNvPr id="5" name="Picture 4">
            <a:extLst>
              <a:ext uri="{FF2B5EF4-FFF2-40B4-BE49-F238E27FC236}">
                <a16:creationId xmlns:a16="http://schemas.microsoft.com/office/drawing/2014/main" id="{E71FB59C-594D-F138-5006-2080F8263841}"/>
              </a:ext>
            </a:extLst>
          </p:cNvPr>
          <p:cNvPicPr>
            <a:picLocks noChangeAspect="1"/>
          </p:cNvPicPr>
          <p:nvPr/>
        </p:nvPicPr>
        <p:blipFill>
          <a:blip r:embed="rId2"/>
          <a:stretch>
            <a:fillRect/>
          </a:stretch>
        </p:blipFill>
        <p:spPr>
          <a:xfrm>
            <a:off x="1641686" y="1143000"/>
            <a:ext cx="6233160" cy="5463540"/>
          </a:xfrm>
          <a:prstGeom prst="rect">
            <a:avLst/>
          </a:prstGeom>
        </p:spPr>
      </p:pic>
    </p:spTree>
    <p:extLst>
      <p:ext uri="{BB962C8B-B14F-4D97-AF65-F5344CB8AC3E}">
        <p14:creationId xmlns:p14="http://schemas.microsoft.com/office/powerpoint/2010/main" val="640361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FCD95-839F-329D-9A82-585AAA1E31AF}"/>
              </a:ext>
            </a:extLst>
          </p:cNvPr>
          <p:cNvSpPr>
            <a:spLocks noGrp="1"/>
          </p:cNvSpPr>
          <p:nvPr>
            <p:ph type="title"/>
          </p:nvPr>
        </p:nvSpPr>
        <p:spPr>
          <a:xfrm>
            <a:off x="982132" y="298126"/>
            <a:ext cx="7552267" cy="533399"/>
          </a:xfrm>
        </p:spPr>
        <p:txBody>
          <a:bodyPr>
            <a:normAutofit fontScale="90000"/>
          </a:bodyPr>
          <a:lstStyle/>
          <a:p>
            <a:r>
              <a:rPr lang="en-US" dirty="0">
                <a:latin typeface="Times New Roman" panose="02020603050405020304" pitchFamily="18" charset="0"/>
                <a:cs typeface="Times New Roman" panose="02020603050405020304" pitchFamily="18" charset="0"/>
              </a:rPr>
              <a:t>General Fund Projections </a:t>
            </a:r>
          </a:p>
        </p:txBody>
      </p:sp>
      <p:sp>
        <p:nvSpPr>
          <p:cNvPr id="4" name="Slide Number Placeholder 3">
            <a:extLst>
              <a:ext uri="{FF2B5EF4-FFF2-40B4-BE49-F238E27FC236}">
                <a16:creationId xmlns:a16="http://schemas.microsoft.com/office/drawing/2014/main" id="{F13351EB-3451-574F-F21D-2E7B60FFEAEC}"/>
              </a:ext>
            </a:extLst>
          </p:cNvPr>
          <p:cNvSpPr>
            <a:spLocks noGrp="1"/>
          </p:cNvSpPr>
          <p:nvPr>
            <p:ph type="sldNum" sz="quarter" idx="12"/>
          </p:nvPr>
        </p:nvSpPr>
        <p:spPr/>
        <p:txBody>
          <a:bodyPr/>
          <a:lstStyle/>
          <a:p>
            <a:pPr>
              <a:defRPr/>
            </a:pPr>
            <a:fld id="{1A25CF7E-05FF-4B4A-9944-BE57E82D8571}" type="slidenum">
              <a:rPr lang="en-US" altLang="en-US" smtClean="0"/>
              <a:pPr>
                <a:defRPr/>
              </a:pPr>
              <a:t>9</a:t>
            </a:fld>
            <a:endParaRPr lang="en-US" altLang="en-US"/>
          </a:p>
        </p:txBody>
      </p:sp>
      <p:pic>
        <p:nvPicPr>
          <p:cNvPr id="6" name="Picture 5">
            <a:extLst>
              <a:ext uri="{FF2B5EF4-FFF2-40B4-BE49-F238E27FC236}">
                <a16:creationId xmlns:a16="http://schemas.microsoft.com/office/drawing/2014/main" id="{6BEDBCEC-2197-FC6D-2FD5-212DC9BF9A2F}"/>
              </a:ext>
            </a:extLst>
          </p:cNvPr>
          <p:cNvPicPr>
            <a:picLocks noChangeAspect="1"/>
          </p:cNvPicPr>
          <p:nvPr/>
        </p:nvPicPr>
        <p:blipFill>
          <a:blip r:embed="rId2"/>
          <a:stretch>
            <a:fillRect/>
          </a:stretch>
        </p:blipFill>
        <p:spPr>
          <a:xfrm>
            <a:off x="1093046" y="1033564"/>
            <a:ext cx="7330440" cy="5463540"/>
          </a:xfrm>
          <a:prstGeom prst="rect">
            <a:avLst/>
          </a:prstGeom>
        </p:spPr>
      </p:pic>
    </p:spTree>
    <p:extLst>
      <p:ext uri="{BB962C8B-B14F-4D97-AF65-F5344CB8AC3E}">
        <p14:creationId xmlns:p14="http://schemas.microsoft.com/office/powerpoint/2010/main" val="20419843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1527</TotalTime>
  <Words>298</Words>
  <Application>Microsoft Office PowerPoint</Application>
  <PresentationFormat>On-screen Show (4:3)</PresentationFormat>
  <Paragraphs>46</Paragraphs>
  <Slides>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Corbel</vt:lpstr>
      <vt:lpstr>Tahoma</vt:lpstr>
      <vt:lpstr>Times New Roman</vt:lpstr>
      <vt:lpstr>Wingdings</vt:lpstr>
      <vt:lpstr>Parallax</vt:lpstr>
      <vt:lpstr>PowerPoint Presentation</vt:lpstr>
      <vt:lpstr>General Fund</vt:lpstr>
      <vt:lpstr>PowerPoint Presentation</vt:lpstr>
      <vt:lpstr>Budget Adjustments</vt:lpstr>
      <vt:lpstr>So What? Now What?</vt:lpstr>
      <vt:lpstr>COVID Stimulus Funds </vt:lpstr>
      <vt:lpstr>PowerPoint Presentation</vt:lpstr>
      <vt:lpstr>General Fund History </vt:lpstr>
      <vt:lpstr>General Fund Projections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West, Rick</dc:creator>
  <cp:lastModifiedBy>West, Rick</cp:lastModifiedBy>
  <cp:revision>91</cp:revision>
  <dcterms:created xsi:type="dcterms:W3CDTF">2020-06-09T21:05:26Z</dcterms:created>
  <dcterms:modified xsi:type="dcterms:W3CDTF">2022-11-30T21:22:39Z</dcterms:modified>
</cp:coreProperties>
</file>