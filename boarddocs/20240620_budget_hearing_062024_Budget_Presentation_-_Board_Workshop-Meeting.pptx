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5.xml" ContentType="application/vnd.openxmlformats-officedocument.drawingml.chart+xml"/>
  <Override PartName="/ppt/notesSlides/notesSlide2.xml" ContentType="application/vnd.openxmlformats-officedocument.presentationml.notesSlide+xml"/>
  <Override PartName="/ppt/charts/chart6.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7.xml" ContentType="application/vnd.openxmlformats-officedocument.drawingml.chart+xml"/>
  <Override PartName="/ppt/charts/style2.xml" ContentType="application/vnd.ms-office.chartstyle+xml"/>
  <Override PartName="/ppt/charts/colors2.xml" ContentType="application/vnd.ms-office.chartcolorstyle+xml"/>
  <Override PartName="/ppt/charts/chart8.xml" ContentType="application/vnd.openxmlformats-officedocument.drawingml.chart+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8" r:id="rId1"/>
  </p:sldMasterIdLst>
  <p:notesMasterIdLst>
    <p:notesMasterId r:id="rId33"/>
  </p:notesMasterIdLst>
  <p:handoutMasterIdLst>
    <p:handoutMasterId r:id="rId34"/>
  </p:handoutMasterIdLst>
  <p:sldIdLst>
    <p:sldId id="256" r:id="rId2"/>
    <p:sldId id="335" r:id="rId3"/>
    <p:sldId id="257" r:id="rId4"/>
    <p:sldId id="259" r:id="rId5"/>
    <p:sldId id="278" r:id="rId6"/>
    <p:sldId id="350" r:id="rId7"/>
    <p:sldId id="348" r:id="rId8"/>
    <p:sldId id="317" r:id="rId9"/>
    <p:sldId id="336" r:id="rId10"/>
    <p:sldId id="349" r:id="rId11"/>
    <p:sldId id="280" r:id="rId12"/>
    <p:sldId id="329" r:id="rId13"/>
    <p:sldId id="338" r:id="rId14"/>
    <p:sldId id="341" r:id="rId15"/>
    <p:sldId id="262" r:id="rId16"/>
    <p:sldId id="339" r:id="rId17"/>
    <p:sldId id="313" r:id="rId18"/>
    <p:sldId id="351" r:id="rId19"/>
    <p:sldId id="333" r:id="rId20"/>
    <p:sldId id="318" r:id="rId21"/>
    <p:sldId id="345" r:id="rId22"/>
    <p:sldId id="293" r:id="rId23"/>
    <p:sldId id="299" r:id="rId24"/>
    <p:sldId id="319" r:id="rId25"/>
    <p:sldId id="342" r:id="rId26"/>
    <p:sldId id="337" r:id="rId27"/>
    <p:sldId id="303" r:id="rId28"/>
    <p:sldId id="332" r:id="rId29"/>
    <p:sldId id="305" r:id="rId30"/>
    <p:sldId id="298" r:id="rId31"/>
    <p:sldId id="344" r:id="rId32"/>
  </p:sldIdLst>
  <p:sldSz cx="9144000" cy="6858000" type="screen4x3"/>
  <p:notesSz cx="6950075" cy="9236075"/>
  <p:defaultTextStyle>
    <a:defPPr>
      <a:defRPr lang="en-US"/>
    </a:defPPr>
    <a:lvl1pPr algn="l" rtl="0" fontAlgn="base">
      <a:spcBef>
        <a:spcPct val="0"/>
      </a:spcBef>
      <a:spcAft>
        <a:spcPct val="0"/>
      </a:spcAft>
      <a:defRPr sz="3000" kern="1200">
        <a:solidFill>
          <a:schemeClr val="tx1"/>
        </a:solidFill>
        <a:latin typeface="Arial" charset="0"/>
        <a:ea typeface="+mn-ea"/>
        <a:cs typeface="Arial" charset="0"/>
      </a:defRPr>
    </a:lvl1pPr>
    <a:lvl2pPr marL="457200" algn="l" rtl="0" fontAlgn="base">
      <a:spcBef>
        <a:spcPct val="0"/>
      </a:spcBef>
      <a:spcAft>
        <a:spcPct val="0"/>
      </a:spcAft>
      <a:defRPr sz="3000" kern="1200">
        <a:solidFill>
          <a:schemeClr val="tx1"/>
        </a:solidFill>
        <a:latin typeface="Arial" charset="0"/>
        <a:ea typeface="+mn-ea"/>
        <a:cs typeface="Arial" charset="0"/>
      </a:defRPr>
    </a:lvl2pPr>
    <a:lvl3pPr marL="914400" algn="l" rtl="0" fontAlgn="base">
      <a:spcBef>
        <a:spcPct val="0"/>
      </a:spcBef>
      <a:spcAft>
        <a:spcPct val="0"/>
      </a:spcAft>
      <a:defRPr sz="3000" kern="1200">
        <a:solidFill>
          <a:schemeClr val="tx1"/>
        </a:solidFill>
        <a:latin typeface="Arial" charset="0"/>
        <a:ea typeface="+mn-ea"/>
        <a:cs typeface="Arial" charset="0"/>
      </a:defRPr>
    </a:lvl3pPr>
    <a:lvl4pPr marL="1371600" algn="l" rtl="0" fontAlgn="base">
      <a:spcBef>
        <a:spcPct val="0"/>
      </a:spcBef>
      <a:spcAft>
        <a:spcPct val="0"/>
      </a:spcAft>
      <a:defRPr sz="3000" kern="1200">
        <a:solidFill>
          <a:schemeClr val="tx1"/>
        </a:solidFill>
        <a:latin typeface="Arial" charset="0"/>
        <a:ea typeface="+mn-ea"/>
        <a:cs typeface="Arial" charset="0"/>
      </a:defRPr>
    </a:lvl4pPr>
    <a:lvl5pPr marL="1828800" algn="l" rtl="0" fontAlgn="base">
      <a:spcBef>
        <a:spcPct val="0"/>
      </a:spcBef>
      <a:spcAft>
        <a:spcPct val="0"/>
      </a:spcAft>
      <a:defRPr sz="3000" kern="1200">
        <a:solidFill>
          <a:schemeClr val="tx1"/>
        </a:solidFill>
        <a:latin typeface="Arial" charset="0"/>
        <a:ea typeface="+mn-ea"/>
        <a:cs typeface="Arial" charset="0"/>
      </a:defRPr>
    </a:lvl5pPr>
    <a:lvl6pPr marL="2286000" algn="l" defTabSz="914400" rtl="0" eaLnBrk="1" latinLnBrk="0" hangingPunct="1">
      <a:defRPr sz="3000" kern="1200">
        <a:solidFill>
          <a:schemeClr val="tx1"/>
        </a:solidFill>
        <a:latin typeface="Arial" charset="0"/>
        <a:ea typeface="+mn-ea"/>
        <a:cs typeface="Arial" charset="0"/>
      </a:defRPr>
    </a:lvl6pPr>
    <a:lvl7pPr marL="2743200" algn="l" defTabSz="914400" rtl="0" eaLnBrk="1" latinLnBrk="0" hangingPunct="1">
      <a:defRPr sz="3000" kern="1200">
        <a:solidFill>
          <a:schemeClr val="tx1"/>
        </a:solidFill>
        <a:latin typeface="Arial" charset="0"/>
        <a:ea typeface="+mn-ea"/>
        <a:cs typeface="Arial" charset="0"/>
      </a:defRPr>
    </a:lvl7pPr>
    <a:lvl8pPr marL="3200400" algn="l" defTabSz="914400" rtl="0" eaLnBrk="1" latinLnBrk="0" hangingPunct="1">
      <a:defRPr sz="3000" kern="1200">
        <a:solidFill>
          <a:schemeClr val="tx1"/>
        </a:solidFill>
        <a:latin typeface="Arial" charset="0"/>
        <a:ea typeface="+mn-ea"/>
        <a:cs typeface="Arial" charset="0"/>
      </a:defRPr>
    </a:lvl8pPr>
    <a:lvl9pPr marL="3657600" algn="l" defTabSz="914400" rtl="0" eaLnBrk="1" latinLnBrk="0" hangingPunct="1">
      <a:defRPr sz="30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18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a:srgbClr val="0066FF"/>
    <a:srgbClr val="0298EC"/>
    <a:srgbClr val="FFCC00"/>
    <a:srgbClr val="DDF0D4"/>
    <a:srgbClr val="D9F2C6"/>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6005" autoAdjust="0"/>
  </p:normalViewPr>
  <p:slideViewPr>
    <p:cSldViewPr>
      <p:cViewPr varScale="1">
        <p:scale>
          <a:sx n="140" d="100"/>
          <a:sy n="140" d="100"/>
        </p:scale>
        <p:origin x="138" y="4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1404" y="732"/>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xml"/><Relationship Id="rId1" Type="http://schemas.microsoft.com/office/2011/relationships/chartStyle" Target="style1.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2.xml"/><Relationship Id="rId1" Type="http://schemas.microsoft.com/office/2011/relationships/chartStyle" Target="style2.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a:solidFill>
                  <a:schemeClr val="tx1"/>
                </a:solidFill>
                <a:latin typeface="Times New Roman" panose="02020603050405020304" pitchFamily="18" charset="0"/>
                <a:cs typeface="Times New Roman" panose="02020603050405020304" pitchFamily="18" charset="0"/>
              </a:rPr>
              <a:t>2023</a:t>
            </a:r>
            <a:r>
              <a:rPr lang="en-US" baseline="0" dirty="0">
                <a:solidFill>
                  <a:schemeClr val="tx1"/>
                </a:solidFill>
                <a:latin typeface="Times New Roman" panose="02020603050405020304" pitchFamily="18" charset="0"/>
                <a:cs typeface="Times New Roman" panose="02020603050405020304" pitchFamily="18" charset="0"/>
              </a:rPr>
              <a:t> &amp; 2024</a:t>
            </a:r>
            <a:r>
              <a:rPr lang="en-US" dirty="0">
                <a:solidFill>
                  <a:schemeClr val="tx1"/>
                </a:solidFill>
                <a:latin typeface="Times New Roman" panose="02020603050405020304" pitchFamily="18" charset="0"/>
                <a:cs typeface="Times New Roman" panose="02020603050405020304" pitchFamily="18" charset="0"/>
              </a:rPr>
              <a:t> Taxable Values Homestead 
&amp; Non-Homestead</a:t>
            </a:r>
          </a:p>
        </c:rich>
      </c:tx>
      <c:layout>
        <c:manualLayout>
          <c:xMode val="edge"/>
          <c:yMode val="edge"/>
          <c:x val="0.25305054980372349"/>
          <c:y val="4.4243750840442859E-2"/>
        </c:manualLayout>
      </c:layout>
      <c:overlay val="0"/>
    </c:title>
    <c:autoTitleDeleted val="0"/>
    <c:view3D>
      <c:rotX val="15"/>
      <c:hPercent val="41"/>
      <c:rotY val="20"/>
      <c:depthPercent val="100"/>
      <c:rAngAx val="1"/>
    </c:view3D>
    <c:floor>
      <c:thickness val="0"/>
    </c:floor>
    <c:sideWall>
      <c:thickness val="0"/>
    </c:sideWall>
    <c:backWall>
      <c:thickness val="0"/>
    </c:backWall>
    <c:plotArea>
      <c:layout>
        <c:manualLayout>
          <c:layoutTarget val="inner"/>
          <c:xMode val="edge"/>
          <c:yMode val="edge"/>
          <c:x val="0.18682312808724996"/>
          <c:y val="0.22479414677212908"/>
          <c:w val="0.89123196448390662"/>
          <c:h val="0.53996737357259383"/>
        </c:manualLayout>
      </c:layout>
      <c:bar3DChart>
        <c:barDir val="col"/>
        <c:grouping val="clustered"/>
        <c:varyColors val="0"/>
        <c:ser>
          <c:idx val="0"/>
          <c:order val="0"/>
          <c:tx>
            <c:strRef>
              <c:f>Sheet1!$B$1</c:f>
              <c:strCache>
                <c:ptCount val="1"/>
                <c:pt idx="0">
                  <c:v>Homestead</c:v>
                </c:pt>
              </c:strCache>
            </c:strRef>
          </c:tx>
          <c:invertIfNegative val="0"/>
          <c:dLbls>
            <c:dLbl>
              <c:idx val="0"/>
              <c:layout>
                <c:manualLayout>
                  <c:x val="1.8060343308747943E-2"/>
                  <c:y val="-5.33862728141928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CAC-4249-B396-99D18CD4C0C5}"/>
                </c:ext>
              </c:extLst>
            </c:dLbl>
            <c:dLbl>
              <c:idx val="1"/>
              <c:layout>
                <c:manualLayout>
                  <c:x val="2.3867350493055012E-2"/>
                  <c:y val="-3.474384057298997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CAC-4249-B396-99D18CD4C0C5}"/>
                </c:ext>
              </c:extLst>
            </c:dLbl>
            <c:dLbl>
              <c:idx val="2"/>
              <c:layout>
                <c:manualLayout>
                  <c:x val="-5.1400335162186403E-3"/>
                  <c:y val="0.2705839023442783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Sheet1!$A$9:$A$10</c:f>
              <c:numCache>
                <c:formatCode>General</c:formatCode>
                <c:ptCount val="2"/>
                <c:pt idx="0">
                  <c:v>2023</c:v>
                </c:pt>
                <c:pt idx="1">
                  <c:v>2024</c:v>
                </c:pt>
              </c:numCache>
            </c:numRef>
          </c:cat>
          <c:val>
            <c:numRef>
              <c:f>Sheet1!$B$9:$B$10</c:f>
              <c:numCache>
                <c:formatCode>#,##0</c:formatCode>
                <c:ptCount val="2"/>
                <c:pt idx="0">
                  <c:v>3286622690</c:v>
                </c:pt>
                <c:pt idx="1">
                  <c:v>3490317132</c:v>
                </c:pt>
              </c:numCache>
            </c:numRef>
          </c:val>
          <c:extLst>
            <c:ext xmlns:c16="http://schemas.microsoft.com/office/drawing/2014/chart" uri="{C3380CC4-5D6E-409C-BE32-E72D297353CC}">
              <c16:uniqueId val="{00000003-8CAC-4249-B396-99D18CD4C0C5}"/>
            </c:ext>
          </c:extLst>
        </c:ser>
        <c:ser>
          <c:idx val="1"/>
          <c:order val="1"/>
          <c:tx>
            <c:strRef>
              <c:f>Sheet1!$C$1</c:f>
              <c:strCache>
                <c:ptCount val="1"/>
                <c:pt idx="0">
                  <c:v>Non-Homestead</c:v>
                </c:pt>
              </c:strCache>
            </c:strRef>
          </c:tx>
          <c:invertIfNegative val="0"/>
          <c:dLbls>
            <c:dLbl>
              <c:idx val="0"/>
              <c:layout>
                <c:manualLayout>
                  <c:x val="1.339455017102454E-2"/>
                  <c:y val="-4.10889151190067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CAC-4249-B396-99D18CD4C0C5}"/>
                </c:ext>
              </c:extLst>
            </c:dLbl>
            <c:dLbl>
              <c:idx val="1"/>
              <c:layout>
                <c:manualLayout>
                  <c:x val="1.3939647850141181E-2"/>
                  <c:y val="-3.51884833181431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CAC-4249-B396-99D18CD4C0C5}"/>
                </c:ext>
              </c:extLst>
            </c:dLbl>
            <c:dLbl>
              <c:idx val="2"/>
              <c:layout>
                <c:manualLayout>
                  <c:x val="-2.9915520763986142E-3"/>
                  <c:y val="0.257425630145377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Sheet1!$A$9:$A$10</c:f>
              <c:numCache>
                <c:formatCode>General</c:formatCode>
                <c:ptCount val="2"/>
                <c:pt idx="0">
                  <c:v>2023</c:v>
                </c:pt>
                <c:pt idx="1">
                  <c:v>2024</c:v>
                </c:pt>
              </c:numCache>
            </c:numRef>
          </c:cat>
          <c:val>
            <c:numRef>
              <c:f>Sheet1!$C$9:$C$10</c:f>
              <c:numCache>
                <c:formatCode>#,##0</c:formatCode>
                <c:ptCount val="2"/>
                <c:pt idx="0">
                  <c:v>1723353170</c:v>
                </c:pt>
                <c:pt idx="1">
                  <c:v>1860326558</c:v>
                </c:pt>
              </c:numCache>
            </c:numRef>
          </c:val>
          <c:extLst>
            <c:ext xmlns:c16="http://schemas.microsoft.com/office/drawing/2014/chart" uri="{C3380CC4-5D6E-409C-BE32-E72D297353CC}">
              <c16:uniqueId val="{00000007-8CAC-4249-B396-99D18CD4C0C5}"/>
            </c:ext>
          </c:extLst>
        </c:ser>
        <c:ser>
          <c:idx val="2"/>
          <c:order val="2"/>
          <c:tx>
            <c:strRef>
              <c:f>Sheet1!$D$1</c:f>
              <c:strCache>
                <c:ptCount val="1"/>
                <c:pt idx="0">
                  <c:v>Total Taxable Value</c:v>
                </c:pt>
              </c:strCache>
            </c:strRef>
          </c:tx>
          <c:invertIfNegative val="0"/>
          <c:dLbls>
            <c:dLbl>
              <c:idx val="0"/>
              <c:layout>
                <c:manualLayout>
                  <c:x val="5.8307890085167926E-3"/>
                  <c:y val="0.2808349146110056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CAC-4249-B396-99D18CD4C0C5}"/>
                </c:ext>
              </c:extLst>
            </c:dLbl>
            <c:dLbl>
              <c:idx val="1"/>
              <c:layout>
                <c:manualLayout>
                  <c:x val="8.7463556851311956E-3"/>
                  <c:y val="0.288425047438330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CAC-4249-B396-99D18CD4C0C5}"/>
                </c:ext>
              </c:extLst>
            </c:dLbl>
            <c:spPr>
              <a:noFill/>
              <a:ln>
                <a:noFill/>
              </a:ln>
              <a:effectLst/>
            </c:spPr>
            <c:txPr>
              <a:bodyPr rot="-5400000" vert="horz"/>
              <a:lstStyle/>
              <a:p>
                <a:pPr>
                  <a:defRPr>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Sheet1!$A$9:$A$10</c:f>
              <c:numCache>
                <c:formatCode>General</c:formatCode>
                <c:ptCount val="2"/>
                <c:pt idx="0">
                  <c:v>2023</c:v>
                </c:pt>
                <c:pt idx="1">
                  <c:v>2024</c:v>
                </c:pt>
              </c:numCache>
            </c:numRef>
          </c:cat>
          <c:val>
            <c:numRef>
              <c:f>Sheet1!$D$9:$D$10</c:f>
              <c:numCache>
                <c:formatCode>#,##0</c:formatCode>
                <c:ptCount val="2"/>
                <c:pt idx="0">
                  <c:v>5009975860</c:v>
                </c:pt>
                <c:pt idx="1">
                  <c:v>5350643690</c:v>
                </c:pt>
              </c:numCache>
            </c:numRef>
          </c:val>
          <c:extLst>
            <c:ext xmlns:c16="http://schemas.microsoft.com/office/drawing/2014/chart" uri="{C3380CC4-5D6E-409C-BE32-E72D297353CC}">
              <c16:uniqueId val="{0000000A-8CAC-4249-B396-99D18CD4C0C5}"/>
            </c:ext>
          </c:extLst>
        </c:ser>
        <c:dLbls>
          <c:showLegendKey val="0"/>
          <c:showVal val="1"/>
          <c:showCatName val="0"/>
          <c:showSerName val="0"/>
          <c:showPercent val="0"/>
          <c:showBubbleSize val="0"/>
        </c:dLbls>
        <c:gapWidth val="150"/>
        <c:gapDepth val="0"/>
        <c:shape val="box"/>
        <c:axId val="326254768"/>
        <c:axId val="326255328"/>
        <c:axId val="0"/>
      </c:bar3DChart>
      <c:catAx>
        <c:axId val="326254768"/>
        <c:scaling>
          <c:orientation val="minMax"/>
        </c:scaling>
        <c:delete val="0"/>
        <c:axPos val="b"/>
        <c:numFmt formatCode="General" sourceLinked="1"/>
        <c:majorTickMark val="out"/>
        <c:minorTickMark val="none"/>
        <c:tickLblPos val="low"/>
        <c:txPr>
          <a:bodyPr rot="0" vert="horz"/>
          <a:lstStyle/>
          <a:p>
            <a:pPr>
              <a:defRPr>
                <a:latin typeface="Times New Roman" panose="02020603050405020304" pitchFamily="18" charset="0"/>
                <a:cs typeface="Times New Roman" panose="02020603050405020304" pitchFamily="18" charset="0"/>
              </a:defRPr>
            </a:pPr>
            <a:endParaRPr lang="en-US"/>
          </a:p>
        </c:txPr>
        <c:crossAx val="326255328"/>
        <c:crosses val="autoZero"/>
        <c:auto val="1"/>
        <c:lblAlgn val="ctr"/>
        <c:lblOffset val="100"/>
        <c:tickLblSkip val="1"/>
        <c:tickMarkSkip val="1"/>
        <c:noMultiLvlLbl val="0"/>
      </c:catAx>
      <c:valAx>
        <c:axId val="326255328"/>
        <c:scaling>
          <c:orientation val="minMax"/>
        </c:scaling>
        <c:delete val="0"/>
        <c:axPos val="l"/>
        <c:majorGridlines/>
        <c:numFmt formatCode="#,##0" sourceLinked="1"/>
        <c:majorTickMark val="out"/>
        <c:minorTickMark val="none"/>
        <c:tickLblPos val="nextTo"/>
        <c:txPr>
          <a:bodyPr rot="0" vert="horz"/>
          <a:lstStyle/>
          <a:p>
            <a:pPr>
              <a:defRPr>
                <a:latin typeface="Times New Roman" panose="02020603050405020304" pitchFamily="18" charset="0"/>
                <a:cs typeface="Times New Roman" panose="02020603050405020304" pitchFamily="18" charset="0"/>
              </a:defRPr>
            </a:pPr>
            <a:endParaRPr lang="en-US"/>
          </a:p>
        </c:txPr>
        <c:crossAx val="326254768"/>
        <c:crosses val="autoZero"/>
        <c:crossBetween val="between"/>
      </c:valAx>
    </c:plotArea>
    <c:legend>
      <c:legendPos val="b"/>
      <c:layout>
        <c:manualLayout>
          <c:xMode val="edge"/>
          <c:yMode val="edge"/>
          <c:x val="0.1778134110787172"/>
          <c:y val="0.86477057777644972"/>
          <c:w val="0.72181722182686348"/>
          <c:h val="4.9717013551674162E-2"/>
        </c:manualLayout>
      </c:layout>
      <c:overlay val="0"/>
      <c:txPr>
        <a:bodyPr/>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Homestead Millage Comparison  </a:t>
            </a:r>
          </a:p>
        </c:rich>
      </c:tx>
      <c:layout>
        <c:manualLayout>
          <c:xMode val="edge"/>
          <c:yMode val="edge"/>
          <c:x val="0.2414126495057683"/>
          <c:y val="2.4577495994818829E-2"/>
        </c:manualLayout>
      </c:layout>
      <c:overlay val="0"/>
    </c:title>
    <c:autoTitleDeleted val="0"/>
    <c:view3D>
      <c:rotX val="15"/>
      <c:hPercent val="43"/>
      <c:rotY val="20"/>
      <c:depthPercent val="100"/>
      <c:rAngAx val="1"/>
    </c:view3D>
    <c:floor>
      <c:thickness val="0"/>
    </c:floor>
    <c:sideWall>
      <c:thickness val="0"/>
    </c:sideWall>
    <c:backWall>
      <c:thickness val="0"/>
    </c:backWall>
    <c:plotArea>
      <c:layout>
        <c:manualLayout>
          <c:layoutTarget val="inner"/>
          <c:xMode val="edge"/>
          <c:yMode val="edge"/>
          <c:x val="0.1533071409552067"/>
          <c:y val="9.6425162763745437E-2"/>
          <c:w val="0.72918978912319665"/>
          <c:h val="0.70967741935484485"/>
        </c:manualLayout>
      </c:layout>
      <c:bar3DChart>
        <c:barDir val="col"/>
        <c:grouping val="clustered"/>
        <c:varyColors val="0"/>
        <c:ser>
          <c:idx val="0"/>
          <c:order val="0"/>
          <c:tx>
            <c:strRef>
              <c:f>Sheet1!$A$2</c:f>
              <c:strCache>
                <c:ptCount val="1"/>
                <c:pt idx="0">
                  <c:v>S.E.T.</c:v>
                </c:pt>
              </c:strCache>
            </c:strRef>
          </c:tx>
          <c:invertIfNegative val="0"/>
          <c:dLbls>
            <c:dLbl>
              <c:idx val="0"/>
              <c:layout>
                <c:manualLayout>
                  <c:x val="-4.6760611936890649E-4"/>
                  <c:y val="0.1715398575178114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DD9-4F59-BE0B-EF0EB14CB2B6}"/>
                </c:ext>
              </c:extLst>
            </c:dLbl>
            <c:dLbl>
              <c:idx val="1"/>
              <c:layout>
                <c:manualLayout>
                  <c:x val="-3.6504130595246052E-3"/>
                  <c:y val="0.17329433820772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DD9-4F59-BE0B-EF0EB14CB2B6}"/>
                </c:ext>
              </c:extLst>
            </c:dLbl>
            <c:dLbl>
              <c:idx val="2"/>
              <c:layout>
                <c:manualLayout>
                  <c:x val="1.3241201252509305E-3"/>
                  <c:y val="0.17329433820772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DD9-4F59-BE0B-EF0EB14CB2B6}"/>
                </c:ext>
              </c:extLst>
            </c:dLbl>
            <c:dLbl>
              <c:idx val="3"/>
              <c:layout>
                <c:manualLayout>
                  <c:x val="1.8065020145131133E-4"/>
                  <c:y val="0.152492668621700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DD9-4F59-BE0B-EF0EB14CB2B6}"/>
                </c:ext>
              </c:extLst>
            </c:dLbl>
            <c:dLbl>
              <c:idx val="4"/>
              <c:layout>
                <c:manualLayout>
                  <c:x val="2.5356613032066645E-3"/>
                  <c:y val="0.144889472149314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DD9-4F59-BE0B-EF0EB14CB2B6}"/>
                </c:ext>
              </c:extLst>
            </c:dLbl>
            <c:dLbl>
              <c:idx val="5"/>
              <c:layout>
                <c:manualLayout>
                  <c:x val="1.7243496736820941E-3"/>
                  <c:y val="0.1572406858233629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DD9-4F59-BE0B-EF0EB14CB2B6}"/>
                </c:ext>
              </c:extLst>
            </c:dLbl>
            <c:spPr>
              <a:noFill/>
              <a:ln>
                <a:noFill/>
              </a:ln>
              <a:effectLst/>
            </c:spPr>
            <c:txPr>
              <a:bodyPr rot="-5400000" vert="horz"/>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2020/2021</c:v>
                </c:pt>
                <c:pt idx="1">
                  <c:v>Actual
2021/2022</c:v>
                </c:pt>
                <c:pt idx="2">
                  <c:v>Actual
2022/2023</c:v>
                </c:pt>
                <c:pt idx="3">
                  <c:v>Actual
2023/2024</c:v>
                </c:pt>
                <c:pt idx="4">
                  <c:v>Proposed
2024/2025</c:v>
                </c:pt>
              </c:strCache>
            </c:strRef>
          </c:cat>
          <c:val>
            <c:numRef>
              <c:f>Sheet1!$K$2:$O$2</c:f>
              <c:numCache>
                <c:formatCode>0.0000</c:formatCode>
                <c:ptCount val="5"/>
                <c:pt idx="0">
                  <c:v>6</c:v>
                </c:pt>
                <c:pt idx="1">
                  <c:v>6</c:v>
                </c:pt>
                <c:pt idx="2">
                  <c:v>6</c:v>
                </c:pt>
                <c:pt idx="3">
                  <c:v>6</c:v>
                </c:pt>
                <c:pt idx="4">
                  <c:v>6</c:v>
                </c:pt>
              </c:numCache>
            </c:numRef>
          </c:val>
          <c:extLst>
            <c:ext xmlns:c16="http://schemas.microsoft.com/office/drawing/2014/chart" uri="{C3380CC4-5D6E-409C-BE32-E72D297353CC}">
              <c16:uniqueId val="{00000006-2DD9-4F59-BE0B-EF0EB14CB2B6}"/>
            </c:ext>
          </c:extLst>
        </c:ser>
        <c:ser>
          <c:idx val="1"/>
          <c:order val="1"/>
          <c:tx>
            <c:strRef>
              <c:f>Sheet1!$A$3</c:f>
              <c:strCache>
                <c:ptCount val="1"/>
                <c:pt idx="0">
                  <c:v>Hold Harmless</c:v>
                </c:pt>
              </c:strCache>
            </c:strRef>
          </c:tx>
          <c:invertIfNegative val="0"/>
          <c:dLbls>
            <c:dLbl>
              <c:idx val="0"/>
              <c:layout>
                <c:manualLayout>
                  <c:x val="-8.2510178509726244E-4"/>
                  <c:y val="0.2490828646419197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DD9-4F59-BE0B-EF0EB14CB2B6}"/>
                </c:ext>
              </c:extLst>
            </c:dLbl>
            <c:dLbl>
              <c:idx val="1"/>
              <c:layout>
                <c:manualLayout>
                  <c:x val="7.8679820194889436E-4"/>
                  <c:y val="0.1720060695538057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DD9-4F59-BE0B-EF0EB14CB2B6}"/>
                </c:ext>
              </c:extLst>
            </c:dLbl>
            <c:dLbl>
              <c:idx val="2"/>
              <c:layout>
                <c:manualLayout>
                  <c:x val="-2.7576552930884202E-3"/>
                  <c:y val="0.1648226706036744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DD9-4F59-BE0B-EF0EB14CB2B6}"/>
                </c:ext>
              </c:extLst>
            </c:dLbl>
            <c:dLbl>
              <c:idx val="3"/>
              <c:layout>
                <c:manualLayout>
                  <c:x val="1.6656711014571455E-3"/>
                  <c:y val="0.148722112860892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DD9-4F59-BE0B-EF0EB14CB2B6}"/>
                </c:ext>
              </c:extLst>
            </c:dLbl>
            <c:dLbl>
              <c:idx val="4"/>
              <c:layout>
                <c:manualLayout>
                  <c:x val="-1.5346185175130094E-3"/>
                  <c:y val="0.147889435695537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2DD9-4F59-BE0B-EF0EB14CB2B6}"/>
                </c:ext>
              </c:extLst>
            </c:dLbl>
            <c:dLbl>
              <c:idx val="5"/>
              <c:layout>
                <c:manualLayout>
                  <c:x val="-9.1401618275976373E-4"/>
                  <c:y val="0.2299957391689675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2DD9-4F59-BE0B-EF0EB14CB2B6}"/>
                </c:ext>
              </c:extLst>
            </c:dLbl>
            <c:spPr>
              <a:noFill/>
              <a:ln>
                <a:noFill/>
              </a:ln>
              <a:effectLst/>
            </c:spPr>
            <c:txPr>
              <a:bodyPr rot="-5400000" vert="horz"/>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2020/2021</c:v>
                </c:pt>
                <c:pt idx="1">
                  <c:v>Actual
2021/2022</c:v>
                </c:pt>
                <c:pt idx="2">
                  <c:v>Actual
2022/2023</c:v>
                </c:pt>
                <c:pt idx="3">
                  <c:v>Actual
2023/2024</c:v>
                </c:pt>
                <c:pt idx="4">
                  <c:v>Proposed
2024/2025</c:v>
                </c:pt>
              </c:strCache>
            </c:strRef>
          </c:cat>
          <c:val>
            <c:numRef>
              <c:f>Sheet1!$K$3:$O$3</c:f>
              <c:numCache>
                <c:formatCode>0.0000</c:formatCode>
                <c:ptCount val="5"/>
                <c:pt idx="0">
                  <c:v>4.6749999999999998</c:v>
                </c:pt>
                <c:pt idx="1">
                  <c:v>3.3877999999999999</c:v>
                </c:pt>
                <c:pt idx="2">
                  <c:v>3.0693000000000001</c:v>
                </c:pt>
                <c:pt idx="3">
                  <c:v>2.7764000000000002</c:v>
                </c:pt>
                <c:pt idx="4">
                  <c:v>2.7294</c:v>
                </c:pt>
              </c:numCache>
            </c:numRef>
          </c:val>
          <c:extLst>
            <c:ext xmlns:c16="http://schemas.microsoft.com/office/drawing/2014/chart" uri="{C3380CC4-5D6E-409C-BE32-E72D297353CC}">
              <c16:uniqueId val="{0000000D-2DD9-4F59-BE0B-EF0EB14CB2B6}"/>
            </c:ext>
          </c:extLst>
        </c:ser>
        <c:ser>
          <c:idx val="2"/>
          <c:order val="2"/>
          <c:tx>
            <c:strRef>
              <c:f>Sheet1!$A$4</c:f>
              <c:strCache>
                <c:ptCount val="1"/>
                <c:pt idx="0">
                  <c:v>Debt</c:v>
                </c:pt>
              </c:strCache>
            </c:strRef>
          </c:tx>
          <c:invertIfNegative val="0"/>
          <c:dLbls>
            <c:dLbl>
              <c:idx val="0"/>
              <c:layout>
                <c:manualLayout>
                  <c:x val="7.2762329212818541E-4"/>
                  <c:y val="0.209835470566180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2DD9-4F59-BE0B-EF0EB14CB2B6}"/>
                </c:ext>
              </c:extLst>
            </c:dLbl>
            <c:dLbl>
              <c:idx val="1"/>
              <c:layout>
                <c:manualLayout>
                  <c:x val="-2.3258457852233581E-3"/>
                  <c:y val="0.210588076490439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2DD9-4F59-BE0B-EF0EB14CB2B6}"/>
                </c:ext>
              </c:extLst>
            </c:dLbl>
            <c:dLbl>
              <c:idx val="2"/>
              <c:layout>
                <c:manualLayout>
                  <c:x val="-3.9595048405561828E-3"/>
                  <c:y val="0.2110140232470952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2DD9-4F59-BE0B-EF0EB14CB2B6}"/>
                </c:ext>
              </c:extLst>
            </c:dLbl>
            <c:dLbl>
              <c:idx val="3"/>
              <c:layout>
                <c:manualLayout>
                  <c:x val="-1.3341809788830702E-3"/>
                  <c:y val="0.2079187101612319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2DD9-4F59-BE0B-EF0EB14CB2B6}"/>
                </c:ext>
              </c:extLst>
            </c:dLbl>
            <c:dLbl>
              <c:idx val="4"/>
              <c:layout>
                <c:manualLayout>
                  <c:x val="-1.5481417994596875E-3"/>
                  <c:y val="0.2269663292088488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2DD9-4F59-BE0B-EF0EB14CB2B6}"/>
                </c:ext>
              </c:extLst>
            </c:dLbl>
            <c:dLbl>
              <c:idx val="5"/>
              <c:layout>
                <c:manualLayout>
                  <c:x val="-1.6314265064692999E-3"/>
                  <c:y val="0.2097794593857585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2DD9-4F59-BE0B-EF0EB14CB2B6}"/>
                </c:ext>
              </c:extLst>
            </c:dLbl>
            <c:spPr>
              <a:noFill/>
              <a:ln>
                <a:noFill/>
              </a:ln>
              <a:effectLst/>
            </c:spPr>
            <c:txPr>
              <a:bodyPr rot="-5400000" vert="horz"/>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2020/2021</c:v>
                </c:pt>
                <c:pt idx="1">
                  <c:v>Actual
2021/2022</c:v>
                </c:pt>
                <c:pt idx="2">
                  <c:v>Actual
2022/2023</c:v>
                </c:pt>
                <c:pt idx="3">
                  <c:v>Actual
2023/2024</c:v>
                </c:pt>
                <c:pt idx="4">
                  <c:v>Proposed
2024/2025</c:v>
                </c:pt>
              </c:strCache>
            </c:strRef>
          </c:cat>
          <c:val>
            <c:numRef>
              <c:f>Sheet1!$K$4:$O$4</c:f>
              <c:numCache>
                <c:formatCode>0.0000</c:formatCode>
                <c:ptCount val="5"/>
                <c:pt idx="0">
                  <c:v>4.0999999999999996</c:v>
                </c:pt>
                <c:pt idx="1">
                  <c:v>4.0999999999999996</c:v>
                </c:pt>
                <c:pt idx="2">
                  <c:v>4.0999999999999996</c:v>
                </c:pt>
                <c:pt idx="3">
                  <c:v>6.1</c:v>
                </c:pt>
                <c:pt idx="4">
                  <c:v>6.1</c:v>
                </c:pt>
              </c:numCache>
            </c:numRef>
          </c:val>
          <c:extLst>
            <c:ext xmlns:c16="http://schemas.microsoft.com/office/drawing/2014/chart" uri="{C3380CC4-5D6E-409C-BE32-E72D297353CC}">
              <c16:uniqueId val="{00000014-2DD9-4F59-BE0B-EF0EB14CB2B6}"/>
            </c:ext>
          </c:extLst>
        </c:ser>
        <c:ser>
          <c:idx val="3"/>
          <c:order val="3"/>
          <c:tx>
            <c:strRef>
              <c:f>Sheet1!$A$5</c:f>
              <c:strCache>
                <c:ptCount val="1"/>
                <c:pt idx="0">
                  <c:v>Sinking Fund</c:v>
                </c:pt>
              </c:strCache>
            </c:strRef>
          </c:tx>
          <c:invertIfNegative val="0"/>
          <c:dLbls>
            <c:dLbl>
              <c:idx val="0"/>
              <c:layout>
                <c:manualLayout>
                  <c:x val="9.1954022988506301E-3"/>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E39-4BE9-9086-03E6A22481DC}"/>
                </c:ext>
              </c:extLst>
            </c:dLbl>
            <c:dLbl>
              <c:idx val="1"/>
              <c:layout>
                <c:manualLayout>
                  <c:x val="1.0727969348658948E-2"/>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E39-4BE9-9086-03E6A22481DC}"/>
                </c:ext>
              </c:extLst>
            </c:dLbl>
            <c:dLbl>
              <c:idx val="2"/>
              <c:layout>
                <c:manualLayout>
                  <c:x val="9.1954022988505746E-3"/>
                  <c:y val="2.08333333333333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39-4BE9-9086-03E6A22481DC}"/>
                </c:ext>
              </c:extLst>
            </c:dLbl>
            <c:dLbl>
              <c:idx val="3"/>
              <c:layout>
                <c:manualLayout>
                  <c:x val="6.1302681992337167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E39-4BE9-9086-03E6A22481DC}"/>
                </c:ext>
              </c:extLst>
            </c:dLbl>
            <c:dLbl>
              <c:idx val="4"/>
              <c:layout>
                <c:manualLayout>
                  <c:x val="9.195402298850461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E39-4BE9-9086-03E6A22481DC}"/>
                </c:ext>
              </c:extLst>
            </c:dLbl>
            <c:spPr>
              <a:noFill/>
              <a:ln>
                <a:noFill/>
              </a:ln>
              <a:effectLst/>
            </c:spPr>
            <c:txPr>
              <a:bodyPr rot="-5400000" vert="horz" wrap="square" lIns="38100" tIns="19050" rIns="38100" bIns="19050" anchor="ctr">
                <a:spAutoFit/>
              </a:bodyPr>
              <a:lstStyle/>
              <a:p>
                <a:pPr>
                  <a:defRPr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Sheet1!$K$1:$O$1</c:f>
              <c:strCache>
                <c:ptCount val="5"/>
                <c:pt idx="0">
                  <c:v>Actual
2020/2021</c:v>
                </c:pt>
                <c:pt idx="1">
                  <c:v>Actual
2021/2022</c:v>
                </c:pt>
                <c:pt idx="2">
                  <c:v>Actual
2022/2023</c:v>
                </c:pt>
                <c:pt idx="3">
                  <c:v>Actual
2023/2024</c:v>
                </c:pt>
                <c:pt idx="4">
                  <c:v>Proposed
2024/2025</c:v>
                </c:pt>
              </c:strCache>
            </c:strRef>
          </c:cat>
          <c:val>
            <c:numRef>
              <c:f>Sheet1!$K$5:$O$5</c:f>
              <c:numCache>
                <c:formatCode>General</c:formatCode>
                <c:ptCount val="5"/>
                <c:pt idx="0" formatCode="0.0000">
                  <c:v>0.98260000000000003</c:v>
                </c:pt>
                <c:pt idx="1">
                  <c:v>0.97809999999999997</c:v>
                </c:pt>
                <c:pt idx="2">
                  <c:v>0.96509999999999996</c:v>
                </c:pt>
                <c:pt idx="3" formatCode="0.0000">
                  <c:v>0.96509999999999996</c:v>
                </c:pt>
                <c:pt idx="4" formatCode="0.0000">
                  <c:v>0.96060000000000001</c:v>
                </c:pt>
              </c:numCache>
            </c:numRef>
          </c:val>
          <c:extLst>
            <c:ext xmlns:c16="http://schemas.microsoft.com/office/drawing/2014/chart" uri="{C3380CC4-5D6E-409C-BE32-E72D297353CC}">
              <c16:uniqueId val="{00000000-0E39-4BE9-9086-03E6A22481DC}"/>
            </c:ext>
          </c:extLst>
        </c:ser>
        <c:dLbls>
          <c:showLegendKey val="0"/>
          <c:showVal val="1"/>
          <c:showCatName val="0"/>
          <c:showSerName val="0"/>
          <c:showPercent val="0"/>
          <c:showBubbleSize val="0"/>
        </c:dLbls>
        <c:gapWidth val="150"/>
        <c:gapDepth val="0"/>
        <c:shape val="box"/>
        <c:axId val="326988064"/>
        <c:axId val="326988624"/>
        <c:axId val="0"/>
      </c:bar3DChart>
      <c:catAx>
        <c:axId val="326988064"/>
        <c:scaling>
          <c:orientation val="minMax"/>
        </c:scaling>
        <c:delete val="0"/>
        <c:axPos val="b"/>
        <c:numFmt formatCode="General" sourceLinked="1"/>
        <c:majorTickMark val="out"/>
        <c:minorTickMark val="none"/>
        <c:tickLblPos val="low"/>
        <c:txPr>
          <a:bodyPr rot="0" vert="horz"/>
          <a:lstStyle/>
          <a:p>
            <a:pPr>
              <a:defRPr/>
            </a:pPr>
            <a:endParaRPr lang="en-US"/>
          </a:p>
        </c:txPr>
        <c:crossAx val="326988624"/>
        <c:crosses val="autoZero"/>
        <c:auto val="1"/>
        <c:lblAlgn val="ctr"/>
        <c:lblOffset val="100"/>
        <c:tickLblSkip val="1"/>
        <c:tickMarkSkip val="1"/>
        <c:noMultiLvlLbl val="0"/>
      </c:catAx>
      <c:valAx>
        <c:axId val="326988624"/>
        <c:scaling>
          <c:orientation val="minMax"/>
        </c:scaling>
        <c:delete val="0"/>
        <c:axPos val="l"/>
        <c:majorGridlines/>
        <c:numFmt formatCode="0.0000" sourceLinked="1"/>
        <c:majorTickMark val="out"/>
        <c:minorTickMark val="none"/>
        <c:tickLblPos val="nextTo"/>
        <c:txPr>
          <a:bodyPr rot="0" vert="horz"/>
          <a:lstStyle/>
          <a:p>
            <a:pPr>
              <a:defRPr/>
            </a:pPr>
            <a:endParaRPr lang="en-US"/>
          </a:p>
        </c:txPr>
        <c:crossAx val="326988064"/>
        <c:crosses val="autoZero"/>
        <c:crossBetween val="between"/>
      </c:valAx>
    </c:plotArea>
    <c:legend>
      <c:legendPos val="b"/>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Non-Homestead Millage Comparison  </a:t>
            </a:r>
          </a:p>
        </c:rich>
      </c:tx>
      <c:layout>
        <c:manualLayout>
          <c:xMode val="edge"/>
          <c:yMode val="edge"/>
          <c:x val="0.20710417412312099"/>
          <c:y val="3.4090909090909088E-2"/>
        </c:manualLayout>
      </c:layout>
      <c:overlay val="0"/>
    </c:title>
    <c:autoTitleDeleted val="0"/>
    <c:view3D>
      <c:rotX val="15"/>
      <c:hPercent val="46"/>
      <c:rotY val="20"/>
      <c:depthPercent val="100"/>
      <c:rAngAx val="1"/>
    </c:view3D>
    <c:floor>
      <c:thickness val="0"/>
    </c:floor>
    <c:sideWall>
      <c:thickness val="0"/>
    </c:sideWall>
    <c:backWall>
      <c:thickness val="0"/>
    </c:backWall>
    <c:plotArea>
      <c:layout>
        <c:manualLayout>
          <c:layoutTarget val="inner"/>
          <c:xMode val="edge"/>
          <c:yMode val="edge"/>
          <c:x val="7.658157602663708E-2"/>
          <c:y val="0.11019283746556474"/>
          <c:w val="0.72586015538290749"/>
          <c:h val="0.74104683195592291"/>
        </c:manualLayout>
      </c:layout>
      <c:bar3DChart>
        <c:barDir val="col"/>
        <c:grouping val="clustered"/>
        <c:varyColors val="0"/>
        <c:ser>
          <c:idx val="0"/>
          <c:order val="0"/>
          <c:tx>
            <c:strRef>
              <c:f>Sheet1!$A$2</c:f>
              <c:strCache>
                <c:ptCount val="1"/>
                <c:pt idx="0">
                  <c:v>S.E.T.</c:v>
                </c:pt>
              </c:strCache>
            </c:strRef>
          </c:tx>
          <c:invertIfNegative val="0"/>
          <c:dLbls>
            <c:dLbl>
              <c:idx val="0"/>
              <c:layout>
                <c:manualLayout>
                  <c:x val="0"/>
                  <c:y val="0.10795454545454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31C-4C37-9E63-382B286C77BE}"/>
                </c:ext>
              </c:extLst>
            </c:dLbl>
            <c:dLbl>
              <c:idx val="1"/>
              <c:layout>
                <c:manualLayout>
                  <c:x val="1.4204545454545455E-3"/>
                  <c:y val="0.1079545454545454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31C-4C37-9E63-382B286C77BE}"/>
                </c:ext>
              </c:extLst>
            </c:dLbl>
            <c:dLbl>
              <c:idx val="2"/>
              <c:layout>
                <c:manualLayout>
                  <c:x val="2.840909090909091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31C-4C37-9E63-382B286C77BE}"/>
                </c:ext>
              </c:extLst>
            </c:dLbl>
            <c:dLbl>
              <c:idx val="3"/>
              <c:layout>
                <c:manualLayout>
                  <c:x val="2.840909090909091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31C-4C37-9E63-382B286C77BE}"/>
                </c:ext>
              </c:extLst>
            </c:dLbl>
            <c:dLbl>
              <c:idx val="4"/>
              <c:layout>
                <c:manualLayout>
                  <c:x val="4.261363636363532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31C-4C37-9E63-382B286C77BE}"/>
                </c:ext>
              </c:extLst>
            </c:dLbl>
            <c:dLbl>
              <c:idx val="5"/>
              <c:layout>
                <c:manualLayout>
                  <c:x val="-4.261363636363636E-3"/>
                  <c:y val="0.119318181818181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31C-4C37-9E63-382B286C77BE}"/>
                </c:ext>
              </c:extLst>
            </c:dLbl>
            <c:spPr>
              <a:noFill/>
              <a:ln>
                <a:noFill/>
              </a:ln>
              <a:effectLst/>
            </c:spPr>
            <c:txPr>
              <a:bodyPr rot="-5400000" vert="horz" wrap="square" lIns="38100" tIns="19050" rIns="38100" bIns="19050" anchor="ctr">
                <a:spAutoFit/>
              </a:bodyPr>
              <a:lstStyle/>
              <a:p>
                <a:pPr>
                  <a:defRPr sz="16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Sheet1!$K$1:$O$1</c:f>
              <c:strCache>
                <c:ptCount val="5"/>
                <c:pt idx="0">
                  <c:v>Actual
2020/21</c:v>
                </c:pt>
                <c:pt idx="1">
                  <c:v>Actual
2021/22</c:v>
                </c:pt>
                <c:pt idx="2">
                  <c:v>Actual
2022/23</c:v>
                </c:pt>
                <c:pt idx="3">
                  <c:v>Actual
2023/24</c:v>
                </c:pt>
                <c:pt idx="4">
                  <c:v>Proposed
2024/25</c:v>
                </c:pt>
              </c:strCache>
            </c:strRef>
          </c:cat>
          <c:val>
            <c:numRef>
              <c:f>Sheet1!$K$2:$O$2</c:f>
              <c:numCache>
                <c:formatCode>0.0000</c:formatCode>
                <c:ptCount val="5"/>
                <c:pt idx="0">
                  <c:v>6</c:v>
                </c:pt>
                <c:pt idx="1">
                  <c:v>6</c:v>
                </c:pt>
                <c:pt idx="2">
                  <c:v>6</c:v>
                </c:pt>
                <c:pt idx="3">
                  <c:v>6</c:v>
                </c:pt>
                <c:pt idx="4">
                  <c:v>6</c:v>
                </c:pt>
              </c:numCache>
            </c:numRef>
          </c:val>
          <c:extLst>
            <c:ext xmlns:c16="http://schemas.microsoft.com/office/drawing/2014/chart" uri="{C3380CC4-5D6E-409C-BE32-E72D297353CC}">
              <c16:uniqueId val="{00000006-C31C-4C37-9E63-382B286C77BE}"/>
            </c:ext>
          </c:extLst>
        </c:ser>
        <c:ser>
          <c:idx val="1"/>
          <c:order val="1"/>
          <c:tx>
            <c:strRef>
              <c:f>Sheet1!$A$3</c:f>
              <c:strCache>
                <c:ptCount val="1"/>
                <c:pt idx="0">
                  <c:v>Statewide</c:v>
                </c:pt>
              </c:strCache>
            </c:strRef>
          </c:tx>
          <c:invertIfNegative val="0"/>
          <c:dLbls>
            <c:dLbl>
              <c:idx val="0"/>
              <c:layout>
                <c:manualLayout>
                  <c:x val="-2.604136583458635E-17"/>
                  <c:y val="0.2329545454545454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31C-4C37-9E63-382B286C77BE}"/>
                </c:ext>
              </c:extLst>
            </c:dLbl>
            <c:dLbl>
              <c:idx val="1"/>
              <c:layout>
                <c:manualLayout>
                  <c:x val="0"/>
                  <c:y val="0.2215909090909090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31C-4C37-9E63-382B286C77BE}"/>
                </c:ext>
              </c:extLst>
            </c:dLbl>
            <c:dLbl>
              <c:idx val="2"/>
              <c:layout>
                <c:manualLayout>
                  <c:x val="1.4204545454545455E-3"/>
                  <c:y val="0.2083333333333333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31C-4C37-9E63-382B286C77BE}"/>
                </c:ext>
              </c:extLst>
            </c:dLbl>
            <c:dLbl>
              <c:idx val="3"/>
              <c:layout>
                <c:manualLayout>
                  <c:x val="2.8409090909089869E-3"/>
                  <c:y val="0.1950757575757575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31C-4C37-9E63-382B286C77BE}"/>
                </c:ext>
              </c:extLst>
            </c:dLbl>
            <c:dLbl>
              <c:idx val="4"/>
              <c:layout>
                <c:manualLayout>
                  <c:x val="4.261363636363636E-3"/>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31C-4C37-9E63-382B286C77BE}"/>
                </c:ext>
              </c:extLst>
            </c:dLbl>
            <c:dLbl>
              <c:idx val="5"/>
              <c:layout>
                <c:manualLayout>
                  <c:x val="-1.4204545454546496E-3"/>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31C-4C37-9E63-382B286C77BE}"/>
                </c:ext>
              </c:extLst>
            </c:dLbl>
            <c:spPr>
              <a:noFill/>
              <a:ln>
                <a:noFill/>
              </a:ln>
              <a:effectLst/>
            </c:spPr>
            <c:txPr>
              <a:bodyPr rot="-5400000" vert="horz" wrap="square" lIns="38100" tIns="19050" rIns="38100" bIns="19050" anchor="ctr">
                <a:spAutoFit/>
              </a:bodyPr>
              <a:lstStyle/>
              <a:p>
                <a:pPr>
                  <a:defRPr sz="1400" b="1">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Sheet1!$K$1:$O$1</c:f>
              <c:strCache>
                <c:ptCount val="5"/>
                <c:pt idx="0">
                  <c:v>Actual
2020/21</c:v>
                </c:pt>
                <c:pt idx="1">
                  <c:v>Actual
2021/22</c:v>
                </c:pt>
                <c:pt idx="2">
                  <c:v>Actual
2022/23</c:v>
                </c:pt>
                <c:pt idx="3">
                  <c:v>Actual
2023/24</c:v>
                </c:pt>
                <c:pt idx="4">
                  <c:v>Proposed
2024/25</c:v>
                </c:pt>
              </c:strCache>
            </c:strRef>
          </c:cat>
          <c:val>
            <c:numRef>
              <c:f>Sheet1!$K$3:$O$3</c:f>
              <c:numCache>
                <c:formatCode>0.0000</c:formatCode>
                <c:ptCount val="5"/>
                <c:pt idx="0">
                  <c:v>18</c:v>
                </c:pt>
                <c:pt idx="1">
                  <c:v>18</c:v>
                </c:pt>
                <c:pt idx="2">
                  <c:v>18</c:v>
                </c:pt>
                <c:pt idx="3">
                  <c:v>18</c:v>
                </c:pt>
                <c:pt idx="4">
                  <c:v>18</c:v>
                </c:pt>
              </c:numCache>
            </c:numRef>
          </c:val>
          <c:extLst>
            <c:ext xmlns:c16="http://schemas.microsoft.com/office/drawing/2014/chart" uri="{C3380CC4-5D6E-409C-BE32-E72D297353CC}">
              <c16:uniqueId val="{0000000D-C31C-4C37-9E63-382B286C77BE}"/>
            </c:ext>
          </c:extLst>
        </c:ser>
        <c:ser>
          <c:idx val="2"/>
          <c:order val="2"/>
          <c:tx>
            <c:strRef>
              <c:f>Sheet1!$A$4</c:f>
              <c:strCache>
                <c:ptCount val="1"/>
                <c:pt idx="0">
                  <c:v>Debt</c:v>
                </c:pt>
              </c:strCache>
            </c:strRef>
          </c:tx>
          <c:invertIfNegative val="0"/>
          <c:dLbls>
            <c:dLbl>
              <c:idx val="0"/>
              <c:layout>
                <c:manualLayout>
                  <c:x val="-3.1298904538341445E-3"/>
                  <c:y val="8.71212121212121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018-444F-87EF-BE037F7A5D31}"/>
                </c:ext>
              </c:extLst>
            </c:dLbl>
            <c:dLbl>
              <c:idx val="1"/>
              <c:layout>
                <c:manualLayout>
                  <c:x val="-3.1298904538341159E-3"/>
                  <c:y val="8.90151515151515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018-444F-87EF-BE037F7A5D31}"/>
                </c:ext>
              </c:extLst>
            </c:dLbl>
            <c:dLbl>
              <c:idx val="2"/>
              <c:layout>
                <c:manualLayout>
                  <c:x val="-1.4454179143100072E-4"/>
                  <c:y val="8.90151515151515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018-444F-87EF-BE037F7A5D31}"/>
                </c:ext>
              </c:extLst>
            </c:dLbl>
            <c:dLbl>
              <c:idx val="3"/>
              <c:layout>
                <c:manualLayout>
                  <c:x val="1.4204545454544412E-3"/>
                  <c:y val="9.848484848484841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018-444F-87EF-BE037F7A5D31}"/>
                </c:ext>
              </c:extLst>
            </c:dLbl>
            <c:dLbl>
              <c:idx val="4"/>
              <c:layout>
                <c:manualLayout>
                  <c:x val="-1.8539055857455585E-3"/>
                  <c:y val="0.1193181818181818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018-444F-87EF-BE037F7A5D31}"/>
                </c:ext>
              </c:extLst>
            </c:dLbl>
            <c:dLbl>
              <c:idx val="5"/>
              <c:layout>
                <c:manualLayout>
                  <c:x val="1.1314430766576713E-3"/>
                  <c:y val="0.109848484848484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018-444F-87EF-BE037F7A5D31}"/>
                </c:ext>
              </c:extLst>
            </c:dLbl>
            <c:spPr>
              <a:noFill/>
              <a:ln>
                <a:noFill/>
              </a:ln>
              <a:effectLst/>
            </c:spPr>
            <c:txPr>
              <a:bodyPr rot="-5400000" vertOverflow="overflow" horzOverflow="overflow" vert="horz" wrap="square" lIns="38100" tIns="19050" rIns="38100" bIns="19050" anchor="ctr" anchorCtr="0">
                <a:spAutoFit/>
              </a:bodyPr>
              <a:lstStyle/>
              <a:p>
                <a:pPr>
                  <a:defRPr sz="1400" b="1"/>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Ref>
              <c:f>Sheet1!$K$1:$O$1</c:f>
              <c:strCache>
                <c:ptCount val="5"/>
                <c:pt idx="0">
                  <c:v>Actual
2020/21</c:v>
                </c:pt>
                <c:pt idx="1">
                  <c:v>Actual
2021/22</c:v>
                </c:pt>
                <c:pt idx="2">
                  <c:v>Actual
2022/23</c:v>
                </c:pt>
                <c:pt idx="3">
                  <c:v>Actual
2023/24</c:v>
                </c:pt>
                <c:pt idx="4">
                  <c:v>Proposed
2024/25</c:v>
                </c:pt>
              </c:strCache>
            </c:strRef>
          </c:cat>
          <c:val>
            <c:numRef>
              <c:f>Sheet1!$K$4:$O$4</c:f>
              <c:numCache>
                <c:formatCode>0.0000</c:formatCode>
                <c:ptCount val="5"/>
                <c:pt idx="0">
                  <c:v>4.0999999999999996</c:v>
                </c:pt>
                <c:pt idx="1">
                  <c:v>4.0999999999999996</c:v>
                </c:pt>
                <c:pt idx="2">
                  <c:v>4.0999999999999996</c:v>
                </c:pt>
                <c:pt idx="3">
                  <c:v>6.1</c:v>
                </c:pt>
                <c:pt idx="4">
                  <c:v>6.1</c:v>
                </c:pt>
              </c:numCache>
            </c:numRef>
          </c:val>
          <c:extLst>
            <c:ext xmlns:c16="http://schemas.microsoft.com/office/drawing/2014/chart" uri="{C3380CC4-5D6E-409C-BE32-E72D297353CC}">
              <c16:uniqueId val="{00000000-E018-444F-87EF-BE037F7A5D31}"/>
            </c:ext>
          </c:extLst>
        </c:ser>
        <c:ser>
          <c:idx val="3"/>
          <c:order val="3"/>
          <c:tx>
            <c:strRef>
              <c:f>Sheet1!$A$5</c:f>
              <c:strCache>
                <c:ptCount val="1"/>
                <c:pt idx="0">
                  <c:v>Sinking Fund</c:v>
                </c:pt>
              </c:strCache>
            </c:strRef>
          </c:tx>
          <c:invertIfNegative val="0"/>
          <c:dLbls>
            <c:dLbl>
              <c:idx val="0"/>
              <c:layout>
                <c:manualLayout>
                  <c:x val="3.1298904538341159E-3"/>
                  <c:y val="5.68181818181804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648-43A3-8762-76F6BFF87FAF}"/>
                </c:ext>
              </c:extLst>
            </c:dLbl>
            <c:dLbl>
              <c:idx val="1"/>
              <c:layout>
                <c:manualLayout>
                  <c:x val="6.2597809076681745E-3"/>
                  <c:y val="5.6818181818181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648-43A3-8762-76F6BFF87FAF}"/>
                </c:ext>
              </c:extLst>
            </c:dLbl>
            <c:dLbl>
              <c:idx val="2"/>
              <c:layout>
                <c:manualLayout>
                  <c:x val="9.3896713615022904E-3"/>
                  <c:y val="-3.7878787878787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648-43A3-8762-76F6BFF87FAF}"/>
                </c:ext>
              </c:extLst>
            </c:dLbl>
            <c:dLbl>
              <c:idx val="3"/>
              <c:layout>
                <c:manualLayout>
                  <c:x val="8.522727272727168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380-46D2-B6A1-44B42218804B}"/>
                </c:ext>
              </c:extLst>
            </c:dLbl>
            <c:dLbl>
              <c:idx val="4"/>
              <c:layout>
                <c:manualLayout>
                  <c:x val="1.278409090909091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231-49F5-BDE2-BDA0E4A2CCA4}"/>
                </c:ext>
              </c:extLst>
            </c:dLbl>
            <c:dLbl>
              <c:idx val="5"/>
              <c:layout>
                <c:manualLayout>
                  <c:x val="1.0954616588419406E-2"/>
                  <c:y val="3.7878787878787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648-43A3-8762-76F6BFF87FAF}"/>
                </c:ext>
              </c:extLst>
            </c:dLbl>
            <c:spPr>
              <a:noFill/>
              <a:ln>
                <a:noFill/>
              </a:ln>
              <a:effectLst/>
            </c:spPr>
            <c:txPr>
              <a:bodyPr rot="-5400000" vert="horz" wrap="square" lIns="38100" tIns="19050" rIns="38100" bIns="19050" anchor="ctr">
                <a:spAutoFit/>
              </a:bodyPr>
              <a:lstStyle/>
              <a:p>
                <a:pPr>
                  <a:defRPr sz="14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Sheet1!$K$1:$O$1</c:f>
              <c:strCache>
                <c:ptCount val="5"/>
                <c:pt idx="0">
                  <c:v>Actual
2020/21</c:v>
                </c:pt>
                <c:pt idx="1">
                  <c:v>Actual
2021/22</c:v>
                </c:pt>
                <c:pt idx="2">
                  <c:v>Actual
2022/23</c:v>
                </c:pt>
                <c:pt idx="3">
                  <c:v>Actual
2023/24</c:v>
                </c:pt>
                <c:pt idx="4">
                  <c:v>Proposed
2024/25</c:v>
                </c:pt>
              </c:strCache>
            </c:strRef>
          </c:cat>
          <c:val>
            <c:numRef>
              <c:f>Sheet1!$K$5:$O$5</c:f>
              <c:numCache>
                <c:formatCode>General</c:formatCode>
                <c:ptCount val="5"/>
                <c:pt idx="0" formatCode="0.0000">
                  <c:v>0.98260000000000003</c:v>
                </c:pt>
                <c:pt idx="1">
                  <c:v>0.97809999999999997</c:v>
                </c:pt>
                <c:pt idx="2">
                  <c:v>0.96509999999999996</c:v>
                </c:pt>
                <c:pt idx="3" formatCode="0.0000">
                  <c:v>0.96509999999999996</c:v>
                </c:pt>
                <c:pt idx="4" formatCode="0.0000">
                  <c:v>0.96060000000000001</c:v>
                </c:pt>
              </c:numCache>
            </c:numRef>
          </c:val>
          <c:extLst>
            <c:ext xmlns:c16="http://schemas.microsoft.com/office/drawing/2014/chart" uri="{C3380CC4-5D6E-409C-BE32-E72D297353CC}">
              <c16:uniqueId val="{00000000-B231-49F5-BDE2-BDA0E4A2CCA4}"/>
            </c:ext>
          </c:extLst>
        </c:ser>
        <c:dLbls>
          <c:showLegendKey val="0"/>
          <c:showVal val="1"/>
          <c:showCatName val="0"/>
          <c:showSerName val="0"/>
          <c:showPercent val="0"/>
          <c:showBubbleSize val="0"/>
        </c:dLbls>
        <c:gapWidth val="150"/>
        <c:gapDepth val="0"/>
        <c:shape val="box"/>
        <c:axId val="326530112"/>
        <c:axId val="326530672"/>
        <c:axId val="0"/>
      </c:bar3DChart>
      <c:catAx>
        <c:axId val="326530112"/>
        <c:scaling>
          <c:orientation val="minMax"/>
        </c:scaling>
        <c:delete val="0"/>
        <c:axPos val="b"/>
        <c:numFmt formatCode="General" sourceLinked="1"/>
        <c:majorTickMark val="out"/>
        <c:minorTickMark val="none"/>
        <c:tickLblPos val="low"/>
        <c:txPr>
          <a:bodyPr rot="0" vert="horz"/>
          <a:lstStyle/>
          <a:p>
            <a:pPr>
              <a:defRPr/>
            </a:pPr>
            <a:endParaRPr lang="en-US"/>
          </a:p>
        </c:txPr>
        <c:crossAx val="326530672"/>
        <c:crosses val="autoZero"/>
        <c:auto val="1"/>
        <c:lblAlgn val="ctr"/>
        <c:lblOffset val="100"/>
        <c:tickLblSkip val="1"/>
        <c:tickMarkSkip val="1"/>
        <c:noMultiLvlLbl val="0"/>
      </c:catAx>
      <c:valAx>
        <c:axId val="326530672"/>
        <c:scaling>
          <c:orientation val="minMax"/>
        </c:scaling>
        <c:delete val="0"/>
        <c:axPos val="l"/>
        <c:majorGridlines/>
        <c:numFmt formatCode="0.0000" sourceLinked="1"/>
        <c:majorTickMark val="out"/>
        <c:minorTickMark val="none"/>
        <c:tickLblPos val="nextTo"/>
        <c:txPr>
          <a:bodyPr rot="0" vert="horz"/>
          <a:lstStyle/>
          <a:p>
            <a:pPr>
              <a:defRPr/>
            </a:pPr>
            <a:endParaRPr lang="en-US"/>
          </a:p>
        </c:txPr>
        <c:crossAx val="326530112"/>
        <c:crosses val="autoZero"/>
        <c:crossBetween val="between"/>
      </c:valAx>
    </c:plotArea>
    <c:legend>
      <c:legendPos val="b"/>
      <c:layout>
        <c:manualLayout>
          <c:xMode val="edge"/>
          <c:yMode val="edge"/>
          <c:x val="0.27247617662848961"/>
          <c:y val="0.86413713910761158"/>
          <c:w val="0.54674324445239797"/>
          <c:h val="4.874164877117633E-2"/>
        </c:manualLayout>
      </c:layout>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Five Year Millage Comparison</a:t>
            </a:r>
          </a:p>
        </c:rich>
      </c:tx>
      <c:layout>
        <c:manualLayout>
          <c:xMode val="edge"/>
          <c:yMode val="edge"/>
          <c:x val="0.34998304899387594"/>
          <c:y val="4.4197089000238672E-2"/>
        </c:manualLayout>
      </c:layout>
      <c:overlay val="0"/>
    </c:title>
    <c:autoTitleDeleted val="0"/>
    <c:view3D>
      <c:rotX val="15"/>
      <c:hPercent val="45"/>
      <c:rotY val="20"/>
      <c:depthPercent val="100"/>
      <c:rAngAx val="1"/>
    </c:view3D>
    <c:floor>
      <c:thickness val="0"/>
    </c:floor>
    <c:sideWall>
      <c:thickness val="0"/>
    </c:sideWall>
    <c:backWall>
      <c:thickness val="0"/>
    </c:backWall>
    <c:plotArea>
      <c:layout>
        <c:manualLayout>
          <c:layoutTarget val="inner"/>
          <c:xMode val="edge"/>
          <c:yMode val="edge"/>
          <c:x val="3.1076581576026652E-2"/>
          <c:y val="0.21044045676998527"/>
          <c:w val="0.96892341842398177"/>
          <c:h val="0.5611745513866232"/>
        </c:manualLayout>
      </c:layout>
      <c:bar3DChart>
        <c:barDir val="col"/>
        <c:grouping val="clustered"/>
        <c:varyColors val="0"/>
        <c:ser>
          <c:idx val="0"/>
          <c:order val="0"/>
          <c:tx>
            <c:strRef>
              <c:f>Sheet1!$A$2</c:f>
              <c:strCache>
                <c:ptCount val="1"/>
                <c:pt idx="0">
                  <c:v>Homestead</c:v>
                </c:pt>
              </c:strCache>
            </c:strRef>
          </c:tx>
          <c:invertIfNegative val="0"/>
          <c:dLbls>
            <c:dLbl>
              <c:idx val="0"/>
              <c:layout>
                <c:manualLayout>
                  <c:x val="1.3022747156605425E-3"/>
                  <c:y val="0.178102034120734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4ED-49F6-A027-7B6E0400AE16}"/>
                </c:ext>
              </c:extLst>
            </c:dLbl>
            <c:dLbl>
              <c:idx val="1"/>
              <c:layout>
                <c:manualLayout>
                  <c:x val="4.2617016622922138E-3"/>
                  <c:y val="0.1537759484609879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4ED-49F6-A027-7B6E0400AE16}"/>
                </c:ext>
              </c:extLst>
            </c:dLbl>
            <c:dLbl>
              <c:idx val="2"/>
              <c:layout>
                <c:manualLayout>
                  <c:x val="-2.2221128608923913E-3"/>
                  <c:y val="0.1538657241708424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4ED-49F6-A027-7B6E0400AE16}"/>
                </c:ext>
              </c:extLst>
            </c:dLbl>
            <c:dLbl>
              <c:idx val="3"/>
              <c:layout>
                <c:manualLayout>
                  <c:x val="4.6248906386701667E-3"/>
                  <c:y val="0.1481138153185396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4ED-49F6-A027-7B6E0400AE16}"/>
                </c:ext>
              </c:extLst>
            </c:dLbl>
            <c:dLbl>
              <c:idx val="4"/>
              <c:layout>
                <c:manualLayout>
                  <c:x val="6.4744094488189E-3"/>
                  <c:y val="0.158341684562157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4ED-49F6-A027-7B6E0400AE16}"/>
                </c:ext>
              </c:extLst>
            </c:dLbl>
            <c:dLbl>
              <c:idx val="5"/>
              <c:layout>
                <c:manualLayout>
                  <c:x val="-1.5919728783902133E-3"/>
                  <c:y val="0.1492212479121943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4ED-49F6-A027-7B6E0400AE16}"/>
                </c:ext>
              </c:extLst>
            </c:dLbl>
            <c:dLbl>
              <c:idx val="6"/>
              <c:layout>
                <c:manualLayout>
                  <c:x val="2.7777777777777779E-3"/>
                  <c:y val="0.15719696969696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4ED-49F6-A027-7B6E0400AE1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2020/21</c:v>
                </c:pt>
                <c:pt idx="1">
                  <c:v>Actual
2021/22</c:v>
                </c:pt>
                <c:pt idx="2">
                  <c:v>Actual
2022/23</c:v>
                </c:pt>
                <c:pt idx="3">
                  <c:v>Actual
2023/24</c:v>
                </c:pt>
                <c:pt idx="4">
                  <c:v>Proposed
2024/25</c:v>
                </c:pt>
              </c:strCache>
            </c:strRef>
          </c:cat>
          <c:val>
            <c:numRef>
              <c:f>Sheet1!$K$2:$O$2</c:f>
              <c:numCache>
                <c:formatCode>General</c:formatCode>
                <c:ptCount val="5"/>
                <c:pt idx="0">
                  <c:v>15.7576</c:v>
                </c:pt>
                <c:pt idx="1">
                  <c:v>14.4658</c:v>
                </c:pt>
                <c:pt idx="2">
                  <c:v>14.134399999999999</c:v>
                </c:pt>
                <c:pt idx="3" formatCode="0.0000">
                  <c:v>15.8415</c:v>
                </c:pt>
                <c:pt idx="4">
                  <c:v>15.2706</c:v>
                </c:pt>
              </c:numCache>
            </c:numRef>
          </c:val>
          <c:extLst>
            <c:ext xmlns:c16="http://schemas.microsoft.com/office/drawing/2014/chart" uri="{C3380CC4-5D6E-409C-BE32-E72D297353CC}">
              <c16:uniqueId val="{00000007-54ED-49F6-A027-7B6E0400AE16}"/>
            </c:ext>
          </c:extLst>
        </c:ser>
        <c:ser>
          <c:idx val="1"/>
          <c:order val="1"/>
          <c:tx>
            <c:strRef>
              <c:f>Sheet1!$A$3</c:f>
              <c:strCache>
                <c:ptCount val="1"/>
                <c:pt idx="0">
                  <c:v>Non-Homestead</c:v>
                </c:pt>
              </c:strCache>
            </c:strRef>
          </c:tx>
          <c:invertIfNegative val="0"/>
          <c:dLbls>
            <c:dLbl>
              <c:idx val="0"/>
              <c:layout>
                <c:manualLayout>
                  <c:x val="1.782152230971146E-3"/>
                  <c:y val="0.131038534955857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4ED-49F6-A027-7B6E0400AE16}"/>
                </c:ext>
              </c:extLst>
            </c:dLbl>
            <c:dLbl>
              <c:idx val="1"/>
              <c:layout>
                <c:manualLayout>
                  <c:x val="3.0736001749781276E-3"/>
                  <c:y val="0.1199932891911237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4ED-49F6-A027-7B6E0400AE16}"/>
                </c:ext>
              </c:extLst>
            </c:dLbl>
            <c:dLbl>
              <c:idx val="2"/>
              <c:layout>
                <c:manualLayout>
                  <c:x val="3.5341207349081452E-3"/>
                  <c:y val="0.1075235623956102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4ED-49F6-A027-7B6E0400AE16}"/>
                </c:ext>
              </c:extLst>
            </c:dLbl>
            <c:dLbl>
              <c:idx val="3"/>
              <c:layout>
                <c:manualLayout>
                  <c:x val="-5.1756342957130792E-3"/>
                  <c:y val="0.120509574087330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4ED-49F6-A027-7B6E0400AE16}"/>
                </c:ext>
              </c:extLst>
            </c:dLbl>
            <c:dLbl>
              <c:idx val="4"/>
              <c:layout>
                <c:manualLayout>
                  <c:x val="1.5835933244192379E-3"/>
                  <c:y val="0.136767179670722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4ED-49F6-A027-7B6E0400AE16}"/>
                </c:ext>
              </c:extLst>
            </c:dLbl>
            <c:dLbl>
              <c:idx val="5"/>
              <c:layout>
                <c:manualLayout>
                  <c:x val="1.9823928258967628E-3"/>
                  <c:y val="0.154538445478406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4ED-49F6-A027-7B6E0400AE16}"/>
                </c:ext>
              </c:extLst>
            </c:dLbl>
            <c:dLbl>
              <c:idx val="6"/>
              <c:layout>
                <c:manualLayout>
                  <c:x val="-1.0185067526415994E-16"/>
                  <c:y val="0.1306818181818181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4ED-49F6-A027-7B6E0400AE16}"/>
                </c:ext>
              </c:extLst>
            </c:dLbl>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Sheet1!$K$1:$O$1</c:f>
              <c:strCache>
                <c:ptCount val="5"/>
                <c:pt idx="0">
                  <c:v>Actual
2020/21</c:v>
                </c:pt>
                <c:pt idx="1">
                  <c:v>Actual
2021/22</c:v>
                </c:pt>
                <c:pt idx="2">
                  <c:v>Actual
2022/23</c:v>
                </c:pt>
                <c:pt idx="3">
                  <c:v>Actual
2023/24</c:v>
                </c:pt>
                <c:pt idx="4">
                  <c:v>Proposed
2024/25</c:v>
                </c:pt>
              </c:strCache>
            </c:strRef>
          </c:cat>
          <c:val>
            <c:numRef>
              <c:f>Sheet1!$K$3:$O$3</c:f>
              <c:numCache>
                <c:formatCode>General</c:formatCode>
                <c:ptCount val="5"/>
                <c:pt idx="0">
                  <c:v>29.082599999999999</c:v>
                </c:pt>
                <c:pt idx="1">
                  <c:v>29.078000000000003</c:v>
                </c:pt>
                <c:pt idx="2">
                  <c:v>29.065100000000001</c:v>
                </c:pt>
                <c:pt idx="3">
                  <c:v>31.065100000000001</c:v>
                </c:pt>
                <c:pt idx="4">
                  <c:v>31.060600000000001</c:v>
                </c:pt>
              </c:numCache>
            </c:numRef>
          </c:val>
          <c:extLst>
            <c:ext xmlns:c16="http://schemas.microsoft.com/office/drawing/2014/chart" uri="{C3380CC4-5D6E-409C-BE32-E72D297353CC}">
              <c16:uniqueId val="{0000000F-54ED-49F6-A027-7B6E0400AE16}"/>
            </c:ext>
          </c:extLst>
        </c:ser>
        <c:dLbls>
          <c:showLegendKey val="0"/>
          <c:showVal val="1"/>
          <c:showCatName val="0"/>
          <c:showSerName val="0"/>
          <c:showPercent val="0"/>
          <c:showBubbleSize val="0"/>
        </c:dLbls>
        <c:gapWidth val="150"/>
        <c:gapDepth val="0"/>
        <c:shape val="box"/>
        <c:axId val="327844336"/>
        <c:axId val="327844896"/>
        <c:axId val="0"/>
      </c:bar3DChart>
      <c:catAx>
        <c:axId val="327844336"/>
        <c:scaling>
          <c:orientation val="minMax"/>
        </c:scaling>
        <c:delete val="0"/>
        <c:axPos val="b"/>
        <c:majorGridlines/>
        <c:numFmt formatCode="General" sourceLinked="1"/>
        <c:majorTickMark val="none"/>
        <c:minorTickMark val="none"/>
        <c:tickLblPos val="low"/>
        <c:txPr>
          <a:bodyPr rot="0" vert="horz"/>
          <a:lstStyle/>
          <a:p>
            <a:pPr>
              <a:defRPr/>
            </a:pPr>
            <a:endParaRPr lang="en-US"/>
          </a:p>
        </c:txPr>
        <c:crossAx val="327844896"/>
        <c:crosses val="autoZero"/>
        <c:auto val="1"/>
        <c:lblAlgn val="ctr"/>
        <c:lblOffset val="100"/>
        <c:tickMarkSkip val="1"/>
        <c:noMultiLvlLbl val="0"/>
      </c:catAx>
      <c:valAx>
        <c:axId val="327844896"/>
        <c:scaling>
          <c:orientation val="minMax"/>
        </c:scaling>
        <c:delete val="0"/>
        <c:axPos val="l"/>
        <c:majorGridlines/>
        <c:numFmt formatCode="General" sourceLinked="1"/>
        <c:majorTickMark val="out"/>
        <c:minorTickMark val="none"/>
        <c:tickLblPos val="nextTo"/>
        <c:txPr>
          <a:bodyPr rot="0" vert="horz"/>
          <a:lstStyle/>
          <a:p>
            <a:pPr>
              <a:defRPr/>
            </a:pPr>
            <a:endParaRPr lang="en-US"/>
          </a:p>
        </c:txPr>
        <c:crossAx val="327844336"/>
        <c:crosses val="autoZero"/>
        <c:crossBetween val="between"/>
      </c:valAx>
    </c:plotArea>
    <c:legend>
      <c:legendPos val="b"/>
      <c:layout>
        <c:manualLayout>
          <c:xMode val="edge"/>
          <c:yMode val="edge"/>
          <c:x val="0.1942286348501675"/>
          <c:y val="0.87601957585644352"/>
          <c:w val="0.6270810210876806"/>
          <c:h val="0.11419249592169672"/>
        </c:manualLayout>
      </c:layout>
      <c:overlay val="0"/>
    </c:legend>
    <c:plotVisOnly val="1"/>
    <c:dispBlanksAs val="gap"/>
    <c:showDLblsOverMax val="0"/>
  </c:chart>
  <c:txPr>
    <a:bodyPr/>
    <a:lstStyle/>
    <a:p>
      <a:pPr>
        <a:defRPr sz="18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baseline="0">
                <a:solidFill>
                  <a:schemeClr val="tx1"/>
                </a:solidFill>
                <a:latin typeface="Times New Roman" panose="02020603050405020304" pitchFamily="18" charset="0"/>
                <a:cs typeface="Times New Roman" panose="02020603050405020304" pitchFamily="18" charset="0"/>
              </a:defRPr>
            </a:pPr>
            <a:r>
              <a:rPr lang="en-US" baseline="0" dirty="0">
                <a:solidFill>
                  <a:schemeClr val="tx1"/>
                </a:solidFill>
                <a:latin typeface="Times New Roman" panose="02020603050405020304" pitchFamily="18" charset="0"/>
                <a:cs typeface="Times New Roman" panose="02020603050405020304" pitchFamily="18" charset="0"/>
              </a:rPr>
              <a:t>Enrollment (FTE) History</a:t>
            </a:r>
          </a:p>
        </c:rich>
      </c:tx>
      <c:overlay val="0"/>
    </c:title>
    <c:autoTitleDeleted val="0"/>
    <c:plotArea>
      <c:layout>
        <c:manualLayout>
          <c:layoutTarget val="inner"/>
          <c:xMode val="edge"/>
          <c:yMode val="edge"/>
          <c:x val="0.14497823989949973"/>
          <c:y val="0.15451353125282974"/>
          <c:w val="0.83832251231753929"/>
          <c:h val="0.57353066094010974"/>
        </c:manualLayout>
      </c:layout>
      <c:lineChart>
        <c:grouping val="standard"/>
        <c:varyColors val="0"/>
        <c:ser>
          <c:idx val="0"/>
          <c:order val="0"/>
          <c:tx>
            <c:strRef>
              <c:f>Sheet1!$B$1</c:f>
              <c:strCache>
                <c:ptCount val="1"/>
                <c:pt idx="0">
                  <c:v>Pupil Count</c:v>
                </c:pt>
              </c:strCache>
            </c:strRef>
          </c:tx>
          <c:spPr>
            <a:ln>
              <a:solidFill>
                <a:schemeClr val="tx1"/>
              </a:solidFill>
            </a:ln>
          </c:spPr>
          <c:marker>
            <c:spPr>
              <a:solidFill>
                <a:schemeClr val="tx1"/>
              </a:solidFill>
            </c:spPr>
          </c:marker>
          <c:dPt>
            <c:idx val="5"/>
            <c:marker>
              <c:spPr>
                <a:solidFill>
                  <a:schemeClr val="tx1"/>
                </a:solidFill>
                <a:ln>
                  <a:prstDash val="sysDot"/>
                </a:ln>
              </c:spPr>
            </c:marker>
            <c:bubble3D val="0"/>
            <c:extLst>
              <c:ext xmlns:c16="http://schemas.microsoft.com/office/drawing/2014/chart" uri="{C3380CC4-5D6E-409C-BE32-E72D297353CC}">
                <c16:uniqueId val="{00000000-FF8A-49FE-BB0D-ED5686B9056F}"/>
              </c:ext>
            </c:extLst>
          </c:dPt>
          <c:dPt>
            <c:idx val="6"/>
            <c:bubble3D val="0"/>
            <c:extLst>
              <c:ext xmlns:c16="http://schemas.microsoft.com/office/drawing/2014/chart" uri="{C3380CC4-5D6E-409C-BE32-E72D297353CC}">
                <c16:uniqueId val="{00000000-9586-45C3-B3AB-BA0538C073B0}"/>
              </c:ext>
            </c:extLst>
          </c:dPt>
          <c:dPt>
            <c:idx val="7"/>
            <c:bubble3D val="0"/>
            <c:spPr>
              <a:ln>
                <a:solidFill>
                  <a:schemeClr val="tx1"/>
                </a:solidFill>
                <a:prstDash val="solid"/>
              </a:ln>
            </c:spPr>
            <c:extLst>
              <c:ext xmlns:c16="http://schemas.microsoft.com/office/drawing/2014/chart" uri="{C3380CC4-5D6E-409C-BE32-E72D297353CC}">
                <c16:uniqueId val="{00000004-199B-4596-A177-37569C95F021}"/>
              </c:ext>
            </c:extLst>
          </c:dPt>
          <c:dPt>
            <c:idx val="20"/>
            <c:bubble3D val="0"/>
            <c:spPr>
              <a:ln>
                <a:solidFill>
                  <a:schemeClr val="tx1"/>
                </a:solidFill>
                <a:prstDash val="solid"/>
              </a:ln>
            </c:spPr>
            <c:extLst>
              <c:ext xmlns:c16="http://schemas.microsoft.com/office/drawing/2014/chart" uri="{C3380CC4-5D6E-409C-BE32-E72D297353CC}">
                <c16:uniqueId val="{00000009-4597-480E-9157-986BB18D8E08}"/>
              </c:ext>
            </c:extLst>
          </c:dPt>
          <c:dPt>
            <c:idx val="21"/>
            <c:bubble3D val="0"/>
            <c:spPr>
              <a:ln>
                <a:solidFill>
                  <a:schemeClr val="tx1"/>
                </a:solidFill>
                <a:prstDash val="sysDash"/>
              </a:ln>
            </c:spPr>
            <c:extLst>
              <c:ext xmlns:c16="http://schemas.microsoft.com/office/drawing/2014/chart" uri="{C3380CC4-5D6E-409C-BE32-E72D297353CC}">
                <c16:uniqueId val="{00000008-4597-480E-9157-986BB18D8E08}"/>
              </c:ext>
            </c:extLst>
          </c:dPt>
          <c:dLbls>
            <c:dLbl>
              <c:idx val="3"/>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199B-4596-A177-37569C95F021}"/>
                </c:ext>
              </c:extLst>
            </c:dLbl>
            <c:dLbl>
              <c:idx val="6"/>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86-45C3-B3AB-BA0538C073B0}"/>
                </c:ext>
              </c:extLst>
            </c:dLbl>
            <c:dLbl>
              <c:idx val="7"/>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99B-4596-A177-37569C95F021}"/>
                </c:ext>
              </c:extLst>
            </c:dLbl>
            <c:dLbl>
              <c:idx val="8"/>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586-45C3-B3AB-BA0538C073B0}"/>
                </c:ext>
              </c:extLst>
            </c:dLbl>
            <c:dLbl>
              <c:idx val="10"/>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4597-480E-9157-986BB18D8E08}"/>
                </c:ext>
              </c:extLst>
            </c:dLbl>
            <c:dLbl>
              <c:idx val="11"/>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597-480E-9157-986BB18D8E08}"/>
                </c:ext>
              </c:extLst>
            </c:dLbl>
            <c:dLbl>
              <c:idx val="12"/>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597-480E-9157-986BB18D8E08}"/>
                </c:ext>
              </c:extLst>
            </c:dLbl>
            <c:dLbl>
              <c:idx val="13"/>
              <c:dLblPos val="l"/>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597-480E-9157-986BB18D8E08}"/>
                </c:ext>
              </c:extLst>
            </c:dLbl>
            <c:dLbl>
              <c:idx val="15"/>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597-480E-9157-986BB18D8E08}"/>
                </c:ext>
              </c:extLst>
            </c:dLbl>
            <c:dLbl>
              <c:idx val="17"/>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597-480E-9157-986BB18D8E08}"/>
                </c:ext>
              </c:extLst>
            </c:dLbl>
            <c:dLbl>
              <c:idx val="18"/>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597-480E-9157-986BB18D8E08}"/>
                </c:ext>
              </c:extLst>
            </c:dLbl>
            <c:dLbl>
              <c:idx val="19"/>
              <c:layout>
                <c:manualLayout>
                  <c:x val="-4.558404558404569E-2"/>
                  <c:y val="3.7474367772191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597-480E-9157-986BB18D8E08}"/>
                </c:ext>
              </c:extLst>
            </c:dLbl>
            <c:dLbl>
              <c:idx val="20"/>
              <c:layout>
                <c:manualLayout>
                  <c:x val="-5.6980056980059073E-3"/>
                  <c:y val="-2.342147985761953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597-480E-9157-986BB18D8E08}"/>
                </c:ext>
              </c:extLst>
            </c:dLbl>
            <c:dLbl>
              <c:idx val="21"/>
              <c:dLblPos val="b"/>
              <c:showLegendKey val="0"/>
              <c:showVal val="1"/>
              <c:showCatName val="0"/>
              <c:showSerName val="0"/>
              <c:showPercent val="0"/>
              <c:showBubbleSize val="0"/>
              <c:extLst>
                <c:ext xmlns:c15="http://schemas.microsoft.com/office/drawing/2012/chart" uri="{CE6537A1-D6FC-4f65-9D91-7224C49458BB}">
                  <c15:layout>
                    <c:manualLayout>
                      <c:w val="9.5441595441595445E-2"/>
                      <c:h val="0.1002439337906116"/>
                    </c:manualLayout>
                  </c15:layout>
                </c:ext>
                <c:ext xmlns:c16="http://schemas.microsoft.com/office/drawing/2014/chart" uri="{C3380CC4-5D6E-409C-BE32-E72D297353CC}">
                  <c16:uniqueId val="{00000008-4597-480E-9157-986BB18D8E08}"/>
                </c:ext>
              </c:extLst>
            </c:dLbl>
            <c:numFmt formatCode="#,##0" sourceLinked="0"/>
            <c:spPr>
              <a:noFill/>
              <a:ln>
                <a:noFill/>
              </a:ln>
              <a:effectLst/>
            </c:spPr>
            <c:txPr>
              <a:bodyPr/>
              <a:lstStyle/>
              <a:p>
                <a:pPr>
                  <a:defRPr sz="1200" baseline="0">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Sheet1!$A$2:$A$23</c:f>
              <c:strCache>
                <c:ptCount val="22"/>
                <c:pt idx="0">
                  <c:v>2004-05</c:v>
                </c:pt>
                <c:pt idx="1">
                  <c:v>2005-06</c:v>
                </c:pt>
                <c:pt idx="2">
                  <c:v>2006-07</c:v>
                </c:pt>
                <c:pt idx="3">
                  <c:v>2007-08</c:v>
                </c:pt>
                <c:pt idx="4">
                  <c:v>2008-09</c:v>
                </c:pt>
                <c:pt idx="5">
                  <c:v>2009-10</c:v>
                </c:pt>
                <c:pt idx="6">
                  <c:v>2010-11</c:v>
                </c:pt>
                <c:pt idx="7">
                  <c:v>2011-12</c:v>
                </c:pt>
                <c:pt idx="8">
                  <c:v>2012-13</c:v>
                </c:pt>
                <c:pt idx="9">
                  <c:v>2013-14 </c:v>
                </c:pt>
                <c:pt idx="10">
                  <c:v>2014-15</c:v>
                </c:pt>
                <c:pt idx="11">
                  <c:v>2015-16</c:v>
                </c:pt>
                <c:pt idx="12">
                  <c:v>2016-17</c:v>
                </c:pt>
                <c:pt idx="13">
                  <c:v>2017-18</c:v>
                </c:pt>
                <c:pt idx="14">
                  <c:v>2018-19</c:v>
                </c:pt>
                <c:pt idx="15">
                  <c:v>2019-20</c:v>
                </c:pt>
                <c:pt idx="16">
                  <c:v>2020-21 Super-Blend</c:v>
                </c:pt>
                <c:pt idx="17">
                  <c:v>2020-21</c:v>
                </c:pt>
                <c:pt idx="18">
                  <c:v>2021-22 </c:v>
                </c:pt>
                <c:pt idx="19">
                  <c:v>2022-23 </c:v>
                </c:pt>
                <c:pt idx="20">
                  <c:v>2023-24</c:v>
                </c:pt>
                <c:pt idx="21">
                  <c:v>2024-25 Projected</c:v>
                </c:pt>
              </c:strCache>
            </c:strRef>
          </c:cat>
          <c:val>
            <c:numRef>
              <c:f>Sheet1!$B$2:$B$23</c:f>
              <c:numCache>
                <c:formatCode>General</c:formatCode>
                <c:ptCount val="22"/>
                <c:pt idx="0">
                  <c:v>12050.26</c:v>
                </c:pt>
                <c:pt idx="1">
                  <c:v>12022.16</c:v>
                </c:pt>
                <c:pt idx="2">
                  <c:v>12096.43</c:v>
                </c:pt>
                <c:pt idx="3">
                  <c:v>12174.38</c:v>
                </c:pt>
                <c:pt idx="4">
                  <c:v>12176.72</c:v>
                </c:pt>
                <c:pt idx="5">
                  <c:v>12076.37</c:v>
                </c:pt>
                <c:pt idx="6">
                  <c:v>12031.97</c:v>
                </c:pt>
                <c:pt idx="7">
                  <c:v>12312.98</c:v>
                </c:pt>
                <c:pt idx="8">
                  <c:v>12402.69</c:v>
                </c:pt>
                <c:pt idx="9">
                  <c:v>12618.99</c:v>
                </c:pt>
                <c:pt idx="10">
                  <c:v>12562.69</c:v>
                </c:pt>
                <c:pt idx="11">
                  <c:v>12716.93</c:v>
                </c:pt>
                <c:pt idx="12">
                  <c:v>12877.68</c:v>
                </c:pt>
                <c:pt idx="13">
                  <c:v>13080.89</c:v>
                </c:pt>
                <c:pt idx="14">
                  <c:v>13096</c:v>
                </c:pt>
                <c:pt idx="15">
                  <c:v>13111</c:v>
                </c:pt>
                <c:pt idx="16">
                  <c:v>13065</c:v>
                </c:pt>
                <c:pt idx="17">
                  <c:v>12774</c:v>
                </c:pt>
                <c:pt idx="18">
                  <c:v>12507</c:v>
                </c:pt>
                <c:pt idx="19">
                  <c:v>12418</c:v>
                </c:pt>
                <c:pt idx="20">
                  <c:v>12370</c:v>
                </c:pt>
                <c:pt idx="21">
                  <c:v>12300</c:v>
                </c:pt>
              </c:numCache>
            </c:numRef>
          </c:val>
          <c:smooth val="0"/>
          <c:extLst>
            <c:ext xmlns:c16="http://schemas.microsoft.com/office/drawing/2014/chart" uri="{C3380CC4-5D6E-409C-BE32-E72D297353CC}">
              <c16:uniqueId val="{00000002-9586-45C3-B3AB-BA0538C073B0}"/>
            </c:ext>
          </c:extLst>
        </c:ser>
        <c:dLbls>
          <c:showLegendKey val="0"/>
          <c:showVal val="0"/>
          <c:showCatName val="0"/>
          <c:showSerName val="0"/>
          <c:showPercent val="0"/>
          <c:showBubbleSize val="0"/>
        </c:dLbls>
        <c:marker val="1"/>
        <c:smooth val="0"/>
        <c:axId val="327623904"/>
        <c:axId val="327624464"/>
      </c:lineChart>
      <c:catAx>
        <c:axId val="327623904"/>
        <c:scaling>
          <c:orientation val="minMax"/>
        </c:scaling>
        <c:delete val="0"/>
        <c:axPos val="b"/>
        <c:numFmt formatCode="General" sourceLinked="1"/>
        <c:majorTickMark val="out"/>
        <c:minorTickMark val="none"/>
        <c:tickLblPos val="nextTo"/>
        <c:txPr>
          <a:bodyPr/>
          <a:lstStyle/>
          <a:p>
            <a:pPr>
              <a:defRPr sz="1400" baseline="0">
                <a:latin typeface="Times New Roman" panose="02020603050405020304" pitchFamily="18" charset="0"/>
                <a:cs typeface="Times New Roman" panose="02020603050405020304" pitchFamily="18" charset="0"/>
              </a:defRPr>
            </a:pPr>
            <a:endParaRPr lang="en-US"/>
          </a:p>
        </c:txPr>
        <c:crossAx val="327624464"/>
        <c:crosses val="autoZero"/>
        <c:auto val="1"/>
        <c:lblAlgn val="ctr"/>
        <c:lblOffset val="100"/>
        <c:noMultiLvlLbl val="0"/>
      </c:catAx>
      <c:valAx>
        <c:axId val="327624464"/>
        <c:scaling>
          <c:orientation val="minMax"/>
          <c:min val="12000"/>
        </c:scaling>
        <c:delete val="0"/>
        <c:axPos val="l"/>
        <c:majorGridlines/>
        <c:numFmt formatCode="#,##0" sourceLinked="0"/>
        <c:majorTickMark val="out"/>
        <c:minorTickMark val="none"/>
        <c:tickLblPos val="nextTo"/>
        <c:txPr>
          <a:bodyPr/>
          <a:lstStyle/>
          <a:p>
            <a:pPr>
              <a:defRPr sz="1400" baseline="0">
                <a:solidFill>
                  <a:schemeClr val="tx1"/>
                </a:solidFill>
                <a:latin typeface="Times New Roman" panose="02020603050405020304" pitchFamily="18" charset="0"/>
                <a:cs typeface="Times New Roman" panose="02020603050405020304" pitchFamily="18" charset="0"/>
              </a:defRPr>
            </a:pPr>
            <a:endParaRPr lang="en-US"/>
          </a:p>
        </c:txPr>
        <c:crossAx val="327623904"/>
        <c:crosses val="autoZero"/>
        <c:crossBetween val="between"/>
      </c:valAx>
      <c:spPr>
        <a:noFill/>
        <a:ln w="25392">
          <a:noFill/>
        </a:ln>
      </c:spPr>
    </c:plotArea>
    <c:plotVisOnly val="1"/>
    <c:dispBlanksAs val="gap"/>
    <c:showDLblsOverMax val="0"/>
  </c:chart>
  <c:spPr>
    <a:ln>
      <a:solidFill>
        <a:schemeClr val="tx1"/>
      </a:solidFill>
      <a:prstDash val="solid"/>
    </a:ln>
  </c:spPr>
  <c:txPr>
    <a:bodyPr/>
    <a:lstStyle/>
    <a:p>
      <a:pPr>
        <a:defRPr sz="1799"/>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b="1" dirty="0">
                <a:solidFill>
                  <a:schemeClr val="tx1"/>
                </a:solidFill>
                <a:latin typeface="Times New Roman" panose="02020603050405020304" pitchFamily="18" charset="0"/>
                <a:cs typeface="Times New Roman" panose="02020603050405020304" pitchFamily="18" charset="0"/>
              </a:rPr>
              <a:t>Student Enrollment</a:t>
            </a:r>
            <a:r>
              <a:rPr lang="en-US" b="1" baseline="0" dirty="0">
                <a:solidFill>
                  <a:schemeClr val="tx1"/>
                </a:solidFill>
                <a:latin typeface="Times New Roman" panose="02020603050405020304" pitchFamily="18" charset="0"/>
                <a:cs typeface="Times New Roman" panose="02020603050405020304" pitchFamily="18" charset="0"/>
              </a:rPr>
              <a:t> (FTE)</a:t>
            </a:r>
            <a:r>
              <a:rPr lang="en-US" b="1" dirty="0">
                <a:solidFill>
                  <a:schemeClr val="tx1"/>
                </a:solidFill>
                <a:latin typeface="Times New Roman" panose="02020603050405020304" pitchFamily="18" charset="0"/>
                <a:cs typeface="Times New Roman" panose="02020603050405020304" pitchFamily="18" charset="0"/>
              </a:rPr>
              <a:t> vs. Teacher FTE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'FTE Data'!$A$5</c:f>
              <c:strCache>
                <c:ptCount val="1"/>
                <c:pt idx="0">
                  <c:v>Student FTE</c:v>
                </c:pt>
              </c:strCache>
            </c:strRef>
          </c:tx>
          <c:spPr>
            <a:solidFill>
              <a:schemeClr val="accent1"/>
            </a:solidFill>
            <a:ln>
              <a:noFill/>
            </a:ln>
            <a:effectLst/>
          </c:spPr>
          <c:invertIfNegative val="0"/>
          <c:dPt>
            <c:idx val="8"/>
            <c:invertIfNegative val="0"/>
            <c:bubble3D val="0"/>
            <c:spPr>
              <a:solidFill>
                <a:schemeClr val="accent1"/>
              </a:solidFill>
              <a:ln>
                <a:noFill/>
              </a:ln>
              <a:effectLst/>
            </c:spPr>
            <c:extLst>
              <c:ext xmlns:c16="http://schemas.microsoft.com/office/drawing/2014/chart" uri="{C3380CC4-5D6E-409C-BE32-E72D297353CC}">
                <c16:uniqueId val="{00000000-C391-4A88-86BC-DC5F0371E4DF}"/>
              </c:ext>
            </c:extLst>
          </c:dPt>
          <c:dPt>
            <c:idx val="9"/>
            <c:invertIfNegative val="0"/>
            <c:bubble3D val="0"/>
            <c:spPr>
              <a:gradFill>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gradFill>
              <a:ln>
                <a:noFill/>
              </a:ln>
              <a:effectLst/>
            </c:spPr>
            <c:extLst>
              <c:ext xmlns:c16="http://schemas.microsoft.com/office/drawing/2014/chart" uri="{C3380CC4-5D6E-409C-BE32-E72D297353CC}">
                <c16:uniqueId val="{00000002-4832-47AA-82D3-27A60B63B28C}"/>
              </c:ext>
            </c:extLst>
          </c:dPt>
          <c:cat>
            <c:strRef>
              <c:f>'FTE Data'!$C$4:$L$4</c:f>
              <c:strCache>
                <c:ptCount val="10"/>
                <c:pt idx="0">
                  <c:v>2015-2016</c:v>
                </c:pt>
                <c:pt idx="1">
                  <c:v>2016-2017</c:v>
                </c:pt>
                <c:pt idx="2">
                  <c:v>2017-2018</c:v>
                </c:pt>
                <c:pt idx="3">
                  <c:v>2018-2019</c:v>
                </c:pt>
                <c:pt idx="4">
                  <c:v>2019-2020</c:v>
                </c:pt>
                <c:pt idx="5">
                  <c:v>2020-2021</c:v>
                </c:pt>
                <c:pt idx="6">
                  <c:v>2021-2022</c:v>
                </c:pt>
                <c:pt idx="7">
                  <c:v>2022-2023</c:v>
                </c:pt>
                <c:pt idx="8">
                  <c:v>2023-2024</c:v>
                </c:pt>
                <c:pt idx="9">
                  <c:v>2024-2025
Projected</c:v>
                </c:pt>
              </c:strCache>
            </c:strRef>
          </c:cat>
          <c:val>
            <c:numRef>
              <c:f>'FTE Data'!$C$5:$L$5</c:f>
              <c:numCache>
                <c:formatCode>#,##0_);\(#,##0\)</c:formatCode>
                <c:ptCount val="10"/>
                <c:pt idx="0">
                  <c:v>12717</c:v>
                </c:pt>
                <c:pt idx="1">
                  <c:v>12881</c:v>
                </c:pt>
                <c:pt idx="2">
                  <c:v>13081</c:v>
                </c:pt>
                <c:pt idx="3">
                  <c:v>13096</c:v>
                </c:pt>
                <c:pt idx="4">
                  <c:v>13111</c:v>
                </c:pt>
                <c:pt idx="5">
                  <c:v>12773</c:v>
                </c:pt>
                <c:pt idx="6">
                  <c:v>12507</c:v>
                </c:pt>
                <c:pt idx="7">
                  <c:v>12418</c:v>
                </c:pt>
                <c:pt idx="8">
                  <c:v>12370</c:v>
                </c:pt>
                <c:pt idx="9">
                  <c:v>12300</c:v>
                </c:pt>
              </c:numCache>
            </c:numRef>
          </c:val>
          <c:extLst>
            <c:ext xmlns:c16="http://schemas.microsoft.com/office/drawing/2014/chart" uri="{C3380CC4-5D6E-409C-BE32-E72D297353CC}">
              <c16:uniqueId val="{00000000-D92A-474F-86B4-EE916B723615}"/>
            </c:ext>
          </c:extLst>
        </c:ser>
        <c:dLbls>
          <c:showLegendKey val="0"/>
          <c:showVal val="0"/>
          <c:showCatName val="0"/>
          <c:showSerName val="0"/>
          <c:showPercent val="0"/>
          <c:showBubbleSize val="0"/>
        </c:dLbls>
        <c:gapWidth val="219"/>
        <c:overlap val="-27"/>
        <c:axId val="274299727"/>
        <c:axId val="274302639"/>
      </c:barChart>
      <c:lineChart>
        <c:grouping val="standard"/>
        <c:varyColors val="0"/>
        <c:ser>
          <c:idx val="1"/>
          <c:order val="1"/>
          <c:tx>
            <c:strRef>
              <c:f>'FTE Data'!$A$6</c:f>
              <c:strCache>
                <c:ptCount val="1"/>
                <c:pt idx="0">
                  <c:v>TEA FTE</c:v>
                </c:pt>
              </c:strCache>
            </c:strRef>
          </c:tx>
          <c:spPr>
            <a:ln w="50800" cap="rnd">
              <a:solidFill>
                <a:schemeClr val="accent2"/>
              </a:solidFill>
              <a:round/>
            </a:ln>
            <a:effectLst/>
          </c:spPr>
          <c:marker>
            <c:symbol val="none"/>
          </c:marker>
          <c:dPt>
            <c:idx val="9"/>
            <c:marker>
              <c:symbol val="none"/>
            </c:marker>
            <c:bubble3D val="0"/>
            <c:spPr>
              <a:ln w="50800" cap="rnd">
                <a:solidFill>
                  <a:schemeClr val="accent2"/>
                </a:solidFill>
                <a:prstDash val="sysDash"/>
                <a:round/>
              </a:ln>
              <a:effectLst/>
            </c:spPr>
            <c:extLst>
              <c:ext xmlns:c16="http://schemas.microsoft.com/office/drawing/2014/chart" uri="{C3380CC4-5D6E-409C-BE32-E72D297353CC}">
                <c16:uniqueId val="{00000003-4832-47AA-82D3-27A60B63B28C}"/>
              </c:ext>
            </c:extLst>
          </c:dPt>
          <c:cat>
            <c:strRef>
              <c:f>'FTE Data'!$C$4:$L$4</c:f>
              <c:strCache>
                <c:ptCount val="10"/>
                <c:pt idx="0">
                  <c:v>2015-2016</c:v>
                </c:pt>
                <c:pt idx="1">
                  <c:v>2016-2017</c:v>
                </c:pt>
                <c:pt idx="2">
                  <c:v>2017-2018</c:v>
                </c:pt>
                <c:pt idx="3">
                  <c:v>2018-2019</c:v>
                </c:pt>
                <c:pt idx="4">
                  <c:v>2019-2020</c:v>
                </c:pt>
                <c:pt idx="5">
                  <c:v>2020-2021</c:v>
                </c:pt>
                <c:pt idx="6">
                  <c:v>2021-2022</c:v>
                </c:pt>
                <c:pt idx="7">
                  <c:v>2022-2023</c:v>
                </c:pt>
                <c:pt idx="8">
                  <c:v>2023-2024</c:v>
                </c:pt>
                <c:pt idx="9">
                  <c:v>2024-2025
Projected</c:v>
                </c:pt>
              </c:strCache>
            </c:strRef>
          </c:cat>
          <c:val>
            <c:numRef>
              <c:f>'FTE Data'!$C$6:$L$6</c:f>
              <c:numCache>
                <c:formatCode>#,##0.00_);\(#,##0.00\)</c:formatCode>
                <c:ptCount val="10"/>
                <c:pt idx="0">
                  <c:v>787.6</c:v>
                </c:pt>
                <c:pt idx="1">
                  <c:v>800.4</c:v>
                </c:pt>
                <c:pt idx="2">
                  <c:v>815.39</c:v>
                </c:pt>
                <c:pt idx="3">
                  <c:v>837.6</c:v>
                </c:pt>
                <c:pt idx="4">
                  <c:v>836.8</c:v>
                </c:pt>
                <c:pt idx="5">
                  <c:v>812.6</c:v>
                </c:pt>
                <c:pt idx="6">
                  <c:v>850.2</c:v>
                </c:pt>
                <c:pt idx="7">
                  <c:v>845.5</c:v>
                </c:pt>
                <c:pt idx="8">
                  <c:v>843</c:v>
                </c:pt>
                <c:pt idx="9">
                  <c:v>830</c:v>
                </c:pt>
              </c:numCache>
            </c:numRef>
          </c:val>
          <c:smooth val="0"/>
          <c:extLst>
            <c:ext xmlns:c16="http://schemas.microsoft.com/office/drawing/2014/chart" uri="{C3380CC4-5D6E-409C-BE32-E72D297353CC}">
              <c16:uniqueId val="{00000001-D92A-474F-86B4-EE916B723615}"/>
            </c:ext>
          </c:extLst>
        </c:ser>
        <c:dLbls>
          <c:showLegendKey val="0"/>
          <c:showVal val="0"/>
          <c:showCatName val="0"/>
          <c:showSerName val="0"/>
          <c:showPercent val="0"/>
          <c:showBubbleSize val="0"/>
        </c:dLbls>
        <c:marker val="1"/>
        <c:smooth val="0"/>
        <c:axId val="468917455"/>
        <c:axId val="274304303"/>
      </c:lineChart>
      <c:catAx>
        <c:axId val="2742997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74302639"/>
        <c:crosses val="autoZero"/>
        <c:auto val="1"/>
        <c:lblAlgn val="ctr"/>
        <c:lblOffset val="100"/>
        <c:noMultiLvlLbl val="0"/>
      </c:catAx>
      <c:valAx>
        <c:axId val="274302639"/>
        <c:scaling>
          <c:orientation val="minMax"/>
        </c:scaling>
        <c:delete val="0"/>
        <c:axPos val="l"/>
        <c:majorGridlines>
          <c:spPr>
            <a:ln w="9525" cap="flat" cmpd="sng" algn="ctr">
              <a:solidFill>
                <a:schemeClr val="tx1">
                  <a:lumMod val="15000"/>
                  <a:lumOff val="85000"/>
                </a:schemeClr>
              </a:solidFill>
              <a:round/>
            </a:ln>
            <a:effectLst/>
          </c:spPr>
        </c:majorGridlines>
        <c:numFmt formatCode="#,##0_);\(#,##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74299727"/>
        <c:crosses val="autoZero"/>
        <c:crossBetween val="between"/>
      </c:valAx>
      <c:valAx>
        <c:axId val="274304303"/>
        <c:scaling>
          <c:orientation val="minMax"/>
        </c:scaling>
        <c:delete val="0"/>
        <c:axPos val="r"/>
        <c:numFmt formatCode="#,##0_);\(#,##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68917455"/>
        <c:crosses val="max"/>
        <c:crossBetween val="between"/>
      </c:valAx>
      <c:catAx>
        <c:axId val="468917455"/>
        <c:scaling>
          <c:orientation val="minMax"/>
        </c:scaling>
        <c:delete val="1"/>
        <c:axPos val="b"/>
        <c:numFmt formatCode="General" sourceLinked="1"/>
        <c:majorTickMark val="none"/>
        <c:minorTickMark val="none"/>
        <c:tickLblPos val="nextTo"/>
        <c:crossAx val="27430430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sz="2800" baseline="0">
                <a:solidFill>
                  <a:schemeClr val="tx1"/>
                </a:solidFill>
                <a:latin typeface="Times New Roman" panose="02020603050405020304" pitchFamily="18" charset="0"/>
                <a:cs typeface="Times New Roman" panose="02020603050405020304" pitchFamily="18" charset="0"/>
              </a:rPr>
              <a:t>Foundation Allowance History</a:t>
            </a:r>
          </a:p>
        </c:rich>
      </c:tx>
      <c:overlay val="0"/>
      <c:spPr>
        <a:noFill/>
        <a:ln>
          <a:noFill/>
        </a:ln>
        <a:effectLst/>
      </c:spPr>
      <c:txPr>
        <a:bodyPr rot="0" spcFirstLastPara="1" vertOverflow="ellipsis" vert="horz" wrap="square" anchor="ctr" anchorCtr="1"/>
        <a:lstStyle/>
        <a:p>
          <a:pPr>
            <a:defRPr sz="2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578679118243784"/>
          <c:y val="0.13391235176748739"/>
          <c:w val="0.82123238067463789"/>
          <c:h val="0.63514808394511435"/>
        </c:manualLayout>
      </c:layout>
      <c:barChart>
        <c:barDir val="col"/>
        <c:grouping val="stacked"/>
        <c:varyColors val="0"/>
        <c:ser>
          <c:idx val="0"/>
          <c:order val="0"/>
          <c:tx>
            <c:strRef>
              <c:f>Sheet1!$B$1</c:f>
              <c:strCache>
                <c:ptCount val="1"/>
                <c:pt idx="0">
                  <c:v>Foundation Allowance</c:v>
                </c:pt>
              </c:strCache>
            </c:strRef>
          </c:tx>
          <c:spPr>
            <a:solidFill>
              <a:schemeClr val="accent1"/>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B-03FF-41AC-9A21-C4B37E531D0B}"/>
              </c:ext>
            </c:extLst>
          </c:dPt>
          <c:dPt>
            <c:idx val="5"/>
            <c:invertIfNegative val="0"/>
            <c:bubble3D val="0"/>
            <c:spPr>
              <a:gradFill>
                <a:gsLst>
                  <a:gs pos="95000">
                    <a:schemeClr val="accent1">
                      <a:tint val="66000"/>
                      <a:satMod val="160000"/>
                      <a:lumMod val="100000"/>
                    </a:schemeClr>
                  </a:gs>
                  <a:gs pos="50000">
                    <a:schemeClr val="accent1">
                      <a:tint val="44500"/>
                      <a:satMod val="160000"/>
                    </a:schemeClr>
                  </a:gs>
                  <a:gs pos="100000">
                    <a:schemeClr val="accent1">
                      <a:tint val="23500"/>
                      <a:satMod val="160000"/>
                    </a:schemeClr>
                  </a:gs>
                </a:gsLst>
                <a:lin ang="16200000" scaled="1"/>
              </a:gradFill>
              <a:ln>
                <a:solidFill>
                  <a:schemeClr val="accent1">
                    <a:lumMod val="40000"/>
                    <a:lumOff val="60000"/>
                  </a:schemeClr>
                </a:solidFill>
              </a:ln>
              <a:effectLst/>
            </c:spPr>
            <c:extLst>
              <c:ext xmlns:c16="http://schemas.microsoft.com/office/drawing/2014/chart" uri="{C3380CC4-5D6E-409C-BE32-E72D297353CC}">
                <c16:uniqueId val="{0000000E-EFBD-4057-8A12-94BD4D9900D9}"/>
              </c:ext>
            </c:extLst>
          </c:dPt>
          <c:dPt>
            <c:idx val="6"/>
            <c:invertIfNegative val="0"/>
            <c:bubble3D val="0"/>
            <c:extLst>
              <c:ext xmlns:c16="http://schemas.microsoft.com/office/drawing/2014/chart" uri="{C3380CC4-5D6E-409C-BE32-E72D297353CC}">
                <c16:uniqueId val="{00000004-CA6B-408F-8CE4-0353012F2F46}"/>
              </c:ext>
            </c:extLst>
          </c:dPt>
          <c:dPt>
            <c:idx val="9"/>
            <c:invertIfNegative val="0"/>
            <c:bubble3D val="0"/>
            <c:extLst>
              <c:ext xmlns:c16="http://schemas.microsoft.com/office/drawing/2014/chart" uri="{C3380CC4-5D6E-409C-BE32-E72D297353CC}">
                <c16:uniqueId val="{00000002-0F86-48E7-82EB-B141730BF5D4}"/>
              </c:ext>
            </c:extLst>
          </c:dPt>
          <c:dPt>
            <c:idx val="10"/>
            <c:invertIfNegative val="0"/>
            <c:bubble3D val="0"/>
            <c:extLst>
              <c:ext xmlns:c16="http://schemas.microsoft.com/office/drawing/2014/chart" uri="{C3380CC4-5D6E-409C-BE32-E72D297353CC}">
                <c16:uniqueId val="{00000001-C79D-42B7-A990-2CCC76327B99}"/>
              </c:ext>
            </c:extLst>
          </c:dPt>
          <c:dPt>
            <c:idx val="11"/>
            <c:invertIfNegative val="0"/>
            <c:bubble3D val="0"/>
            <c:sp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noFill/>
              </a:ln>
              <a:effectLst/>
            </c:spPr>
            <c:extLst>
              <c:ext xmlns:c16="http://schemas.microsoft.com/office/drawing/2014/chart" uri="{C3380CC4-5D6E-409C-BE32-E72D297353CC}">
                <c16:uniqueId val="{0000000C-652B-49FF-BF78-F0F371E0870E}"/>
              </c:ext>
            </c:extLst>
          </c:dPt>
          <c:dPt>
            <c:idx val="12"/>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6-30E7-4C0D-BABE-D29B9F6DA174}"/>
              </c:ext>
            </c:extLst>
          </c:dPt>
          <c:dPt>
            <c:idx val="13"/>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7-30E7-4C0D-BABE-D29B9F6DA174}"/>
              </c:ext>
            </c:extLst>
          </c:dPt>
          <c:dPt>
            <c:idx val="14"/>
            <c:invertIfNegative val="0"/>
            <c:bubble3D val="0"/>
            <c: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a:noFill/>
              </a:ln>
              <a:effectLst/>
            </c:spPr>
            <c:extLst>
              <c:ext xmlns:c16="http://schemas.microsoft.com/office/drawing/2014/chart" uri="{C3380CC4-5D6E-409C-BE32-E72D297353CC}">
                <c16:uniqueId val="{00000008-30E7-4C0D-BABE-D29B9F6DA174}"/>
              </c:ext>
            </c:extLst>
          </c:dPt>
          <c:dLbls>
            <c:numFmt formatCode="\$#,##0" sourceLinked="0"/>
            <c:spPr>
              <a:noFill/>
              <a:ln>
                <a:noFill/>
              </a:ln>
              <a:effectLst/>
            </c:spPr>
            <c:txPr>
              <a:bodyPr rot="5400000" spcFirstLastPara="1" vertOverflow="ellipsis" wrap="square" anchor="ctr" anchorCtr="1"/>
              <a:lstStyle/>
              <a:p>
                <a:pPr>
                  <a:defRPr sz="1200" b="1" i="0" u="none" strike="noStrike" kern="1200" baseline="0">
                    <a:ln>
                      <a:noFill/>
                    </a:ln>
                    <a:solidFill>
                      <a:schemeClr val="tx1"/>
                    </a:solidFill>
                    <a:latin typeface="Times New Roman" panose="02020603050405020304" pitchFamily="18" charset="0"/>
                    <a:ea typeface="+mn-ea"/>
                    <a:cs typeface="Times New Roman" panose="02020603050405020304" pitchFamily="18" charset="0"/>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Sheet1!$A$11:$A$16</c:f>
              <c:strCache>
                <c:ptCount val="6"/>
                <c:pt idx="0">
                  <c:v>2019-20</c:v>
                </c:pt>
                <c:pt idx="1">
                  <c:v>2020-21</c:v>
                </c:pt>
                <c:pt idx="2">
                  <c:v>2021-22</c:v>
                </c:pt>
                <c:pt idx="3">
                  <c:v>2022-23 </c:v>
                </c:pt>
                <c:pt idx="4">
                  <c:v>2023-24</c:v>
                </c:pt>
                <c:pt idx="5">
                  <c:v>2024-25 Projected</c:v>
                </c:pt>
              </c:strCache>
            </c:strRef>
          </c:cat>
          <c:val>
            <c:numRef>
              <c:f>Sheet1!$B$11:$B$16</c:f>
              <c:numCache>
                <c:formatCode>_("$"* #,##0.00_);_("$"* \(#,##0.00\);_("$"* "-"??_);_(@_)</c:formatCode>
                <c:ptCount val="6"/>
                <c:pt idx="0">
                  <c:v>9315</c:v>
                </c:pt>
                <c:pt idx="1">
                  <c:v>9315</c:v>
                </c:pt>
                <c:pt idx="2">
                  <c:v>9430</c:v>
                </c:pt>
                <c:pt idx="3">
                  <c:v>9874</c:v>
                </c:pt>
                <c:pt idx="4">
                  <c:v>10394</c:v>
                </c:pt>
                <c:pt idx="5">
                  <c:v>10635</c:v>
                </c:pt>
              </c:numCache>
            </c:numRef>
          </c:val>
          <c:extLst>
            <c:ext xmlns:c16="http://schemas.microsoft.com/office/drawing/2014/chart" uri="{C3380CC4-5D6E-409C-BE32-E72D297353CC}">
              <c16:uniqueId val="{00000002-C79D-42B7-A990-2CCC76327B99}"/>
            </c:ext>
          </c:extLst>
        </c:ser>
        <c:ser>
          <c:idx val="1"/>
          <c:order val="1"/>
          <c:tx>
            <c:strRef>
              <c:f>Sheet1!$C$1</c:f>
              <c:strCache>
                <c:ptCount val="1"/>
                <c:pt idx="0">
                  <c:v>20J / M</c:v>
                </c:pt>
              </c:strCache>
            </c:strRef>
          </c:tx>
          <c:spPr>
            <a:solidFill>
              <a:schemeClr val="accent2"/>
            </a:solidFill>
            <a:ln>
              <a:noFill/>
            </a:ln>
            <a:effectLst/>
          </c:spPr>
          <c:invertIfNegative val="0"/>
          <c:cat>
            <c:strRef>
              <c:f>Sheet1!$A$11:$A$16</c:f>
              <c:strCache>
                <c:ptCount val="6"/>
                <c:pt idx="0">
                  <c:v>2019-20</c:v>
                </c:pt>
                <c:pt idx="1">
                  <c:v>2020-21</c:v>
                </c:pt>
                <c:pt idx="2">
                  <c:v>2021-22</c:v>
                </c:pt>
                <c:pt idx="3">
                  <c:v>2022-23 </c:v>
                </c:pt>
                <c:pt idx="4">
                  <c:v>2023-24</c:v>
                </c:pt>
                <c:pt idx="5">
                  <c:v>2024-25 Projected</c:v>
                </c:pt>
              </c:strCache>
            </c:strRef>
          </c:cat>
          <c:val>
            <c:numRef>
              <c:f>Sheet1!$C$11:$C$16</c:f>
            </c:numRef>
          </c:val>
          <c:extLst>
            <c:ext xmlns:c16="http://schemas.microsoft.com/office/drawing/2014/chart" uri="{C3380CC4-5D6E-409C-BE32-E72D297353CC}">
              <c16:uniqueId val="{0000000D-EFBD-4057-8A12-94BD4D9900D9}"/>
            </c:ext>
          </c:extLst>
        </c:ser>
        <c:dLbls>
          <c:showLegendKey val="0"/>
          <c:showVal val="0"/>
          <c:showCatName val="0"/>
          <c:showSerName val="0"/>
          <c:showPercent val="0"/>
          <c:showBubbleSize val="0"/>
        </c:dLbls>
        <c:gapWidth val="150"/>
        <c:overlap val="100"/>
        <c:axId val="285883752"/>
        <c:axId val="285884144"/>
      </c:barChart>
      <c:catAx>
        <c:axId val="285883752"/>
        <c:scaling>
          <c:orientation val="minMax"/>
        </c:scaling>
        <c:delete val="0"/>
        <c:axPos val="b"/>
        <c:numFmt formatCode="General"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2700000" spcFirstLastPara="1" vertOverflow="ellipsis"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85884144"/>
        <c:crosses val="autoZero"/>
        <c:auto val="1"/>
        <c:lblAlgn val="ctr"/>
        <c:lblOffset val="100"/>
        <c:noMultiLvlLbl val="0"/>
      </c:catAx>
      <c:valAx>
        <c:axId val="285884144"/>
        <c:scaling>
          <c:orientation val="minMax"/>
          <c:min val="9000"/>
        </c:scaling>
        <c:delete val="0"/>
        <c:axPos val="l"/>
        <c:majorGridlines>
          <c:spPr>
            <a:ln w="9525" cap="rnd" cmpd="sng" algn="ctr">
              <a:solidFill>
                <a:schemeClr val="tx1">
                  <a:tint val="75000"/>
                  <a:tint val="60000"/>
                </a:schemeClr>
              </a:solidFill>
              <a:prstDash val="solid"/>
              <a:round/>
            </a:ln>
            <a:effectLst/>
          </c:spPr>
        </c:majorGridlines>
        <c:numFmt formatCode="_(&quot;$&quot;* #,##0.00_);_(&quot;$&quot;* \(#,##0.00\);_(&quot;$&quot;* &quot;-&quot;??_);_(@_)"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85883752"/>
        <c:crosses val="autoZero"/>
        <c:crossBetween val="between"/>
        <c:majorUnit val="100"/>
      </c:valAx>
      <c:spPr>
        <a:noFill/>
        <a:ln>
          <a:noFill/>
        </a:ln>
        <a:effectLst/>
      </c:spPr>
    </c:plotArea>
    <c:plotVisOnly val="1"/>
    <c:dispBlanksAs val="gap"/>
    <c:showDLblsOverMax val="0"/>
  </c:chart>
  <c:spPr>
    <a:noFill/>
    <a:ln w="9525" cap="rnd" cmpd="sng" algn="ctr">
      <a:solidFill>
        <a:schemeClr val="tx1">
          <a:tint val="75000"/>
          <a:shade val="95000"/>
          <a:satMod val="105000"/>
          <a:alpha val="96000"/>
        </a:schemeClr>
      </a:solidFill>
      <a:prstDash val="solid"/>
    </a:ln>
    <a:effectLst/>
  </c:spPr>
  <c:txPr>
    <a:bodyPr/>
    <a:lstStyle/>
    <a:p>
      <a:pPr>
        <a:defRPr sz="1799"/>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100" baseline="0">
                <a:solidFill>
                  <a:schemeClr val="tx1"/>
                </a:solidFill>
                <a:latin typeface="Times New Roman" panose="02020603050405020304" pitchFamily="18" charset="0"/>
                <a:cs typeface="Times New Roman" panose="02020603050405020304" pitchFamily="18" charset="0"/>
              </a:defRPr>
            </a:pPr>
            <a:r>
              <a:rPr lang="en-US" sz="2100" baseline="0">
                <a:solidFill>
                  <a:schemeClr val="tx1"/>
                </a:solidFill>
                <a:latin typeface="Times New Roman" panose="02020603050405020304" pitchFamily="18" charset="0"/>
                <a:cs typeface="Times New Roman" panose="02020603050405020304" pitchFamily="18" charset="0"/>
              </a:rPr>
              <a:t>Fund Balance % History</a:t>
            </a:r>
          </a:p>
        </c:rich>
      </c:tx>
      <c:overlay val="0"/>
    </c:title>
    <c:autoTitleDeleted val="0"/>
    <c:plotArea>
      <c:layout>
        <c:manualLayout>
          <c:layoutTarget val="inner"/>
          <c:xMode val="edge"/>
          <c:yMode val="edge"/>
          <c:x val="0.11049980931870695"/>
          <c:y val="0.11333719314497451"/>
          <c:w val="0.87393891468694618"/>
          <c:h val="0.65664412536668226"/>
        </c:manualLayout>
      </c:layout>
      <c:lineChart>
        <c:grouping val="standard"/>
        <c:varyColors val="0"/>
        <c:ser>
          <c:idx val="0"/>
          <c:order val="0"/>
          <c:tx>
            <c:strRef>
              <c:f>Sheet1!$F$1</c:f>
              <c:strCache>
                <c:ptCount val="1"/>
                <c:pt idx="0">
                  <c:v>Fund Balance %</c:v>
                </c:pt>
              </c:strCache>
            </c:strRef>
          </c:tx>
          <c:spPr>
            <a:ln>
              <a:solidFill>
                <a:schemeClr val="tx1"/>
              </a:solidFill>
            </a:ln>
          </c:spPr>
          <c:marker>
            <c:spPr>
              <a:solidFill>
                <a:schemeClr val="tx1"/>
              </a:solidFill>
            </c:spPr>
          </c:marker>
          <c:dPt>
            <c:idx val="0"/>
            <c:bubble3D val="0"/>
            <c:spPr>
              <a:ln>
                <a:solidFill>
                  <a:schemeClr val="tx1"/>
                </a:solidFill>
                <a:prstDash val="sysDot"/>
              </a:ln>
            </c:spPr>
            <c:extLst>
              <c:ext xmlns:c16="http://schemas.microsoft.com/office/drawing/2014/chart" uri="{C3380CC4-5D6E-409C-BE32-E72D297353CC}">
                <c16:uniqueId val="{00000008-ED02-4847-BFAA-26EDD997745B}"/>
              </c:ext>
            </c:extLst>
          </c:dPt>
          <c:dPt>
            <c:idx val="4"/>
            <c:bubble3D val="0"/>
            <c:spPr>
              <a:ln>
                <a:solidFill>
                  <a:schemeClr val="tx1"/>
                </a:solidFill>
                <a:prstDash val="solid"/>
              </a:ln>
            </c:spPr>
            <c:extLst>
              <c:ext xmlns:c16="http://schemas.microsoft.com/office/drawing/2014/chart" uri="{C3380CC4-5D6E-409C-BE32-E72D297353CC}">
                <c16:uniqueId val="{0000000E-9FD1-4E42-A4C7-4CECFE53966E}"/>
              </c:ext>
            </c:extLst>
          </c:dPt>
          <c:dPt>
            <c:idx val="5"/>
            <c:bubble3D val="0"/>
            <c:spPr>
              <a:ln>
                <a:solidFill>
                  <a:schemeClr val="tx1"/>
                </a:solidFill>
                <a:prstDash val="sysDash"/>
              </a:ln>
            </c:spPr>
            <c:extLst>
              <c:ext xmlns:c16="http://schemas.microsoft.com/office/drawing/2014/chart" uri="{C3380CC4-5D6E-409C-BE32-E72D297353CC}">
                <c16:uniqueId val="{00000014-1FAB-438B-B32A-7AE25DBE87A7}"/>
              </c:ext>
            </c:extLst>
          </c:dPt>
          <c:dPt>
            <c:idx val="9"/>
            <c:marker>
              <c:spPr>
                <a:solidFill>
                  <a:schemeClr val="tx1"/>
                </a:solidFill>
                <a:ln>
                  <a:prstDash val="sysDot"/>
                </a:ln>
              </c:spPr>
            </c:marker>
            <c:bubble3D val="0"/>
            <c:spPr>
              <a:ln>
                <a:solidFill>
                  <a:schemeClr val="tx1"/>
                </a:solidFill>
                <a:prstDash val="solid"/>
              </a:ln>
            </c:spPr>
            <c:extLst>
              <c:ext xmlns:c16="http://schemas.microsoft.com/office/drawing/2014/chart" uri="{C3380CC4-5D6E-409C-BE32-E72D297353CC}">
                <c16:uniqueId val="{00000001-A7F4-49F9-8BC5-007155A175DA}"/>
              </c:ext>
            </c:extLst>
          </c:dPt>
          <c:dPt>
            <c:idx val="10"/>
            <c:bubble3D val="0"/>
            <c:spPr>
              <a:ln>
                <a:solidFill>
                  <a:schemeClr val="tx1"/>
                </a:solidFill>
                <a:prstDash val="solid"/>
              </a:ln>
            </c:spPr>
            <c:extLst>
              <c:ext xmlns:c16="http://schemas.microsoft.com/office/drawing/2014/chart" uri="{C3380CC4-5D6E-409C-BE32-E72D297353CC}">
                <c16:uniqueId val="{00000002-6CA7-4B9D-A24B-498F4E161742}"/>
              </c:ext>
            </c:extLst>
          </c:dPt>
          <c:dPt>
            <c:idx val="12"/>
            <c:bubble3D val="0"/>
            <c:spPr>
              <a:ln>
                <a:solidFill>
                  <a:schemeClr val="tx1"/>
                </a:solidFill>
                <a:prstDash val="sysDot"/>
              </a:ln>
            </c:spPr>
            <c:extLst>
              <c:ext xmlns:c16="http://schemas.microsoft.com/office/drawing/2014/chart" uri="{C3380CC4-5D6E-409C-BE32-E72D297353CC}">
                <c16:uniqueId val="{0000000A-C12F-4320-972D-24DF918132FC}"/>
              </c:ext>
            </c:extLst>
          </c:dPt>
          <c:dPt>
            <c:idx val="13"/>
            <c:bubble3D val="0"/>
            <c:spPr>
              <a:ln>
                <a:solidFill>
                  <a:schemeClr val="tx1"/>
                </a:solidFill>
                <a:prstDash val="sysDot"/>
              </a:ln>
            </c:spPr>
            <c:extLst>
              <c:ext xmlns:c16="http://schemas.microsoft.com/office/drawing/2014/chart" uri="{C3380CC4-5D6E-409C-BE32-E72D297353CC}">
                <c16:uniqueId val="{0000000A-B39D-4DDD-B6BE-9FE66F709075}"/>
              </c:ext>
            </c:extLst>
          </c:dPt>
          <c:dPt>
            <c:idx val="14"/>
            <c:bubble3D val="0"/>
            <c:spPr>
              <a:ln>
                <a:solidFill>
                  <a:schemeClr val="tx1"/>
                </a:solidFill>
                <a:prstDash val="sysDot"/>
              </a:ln>
            </c:spPr>
            <c:extLst>
              <c:ext xmlns:c16="http://schemas.microsoft.com/office/drawing/2014/chart" uri="{C3380CC4-5D6E-409C-BE32-E72D297353CC}">
                <c16:uniqueId val="{0000000B-B39D-4DDD-B6BE-9FE66F709075}"/>
              </c:ext>
            </c:extLst>
          </c:dPt>
          <c:dLbls>
            <c:dLbl>
              <c:idx val="1"/>
              <c:layout>
                <c:manualLayout>
                  <c:x val="-2.5284900284900259E-2"/>
                  <c:y val="-3.676470588235301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CD9-4C5B-A205-AB2B96B698E5}"/>
                </c:ext>
              </c:extLst>
            </c:dLbl>
            <c:dLbl>
              <c:idx val="3"/>
              <c:layout>
                <c:manualLayout>
                  <c:x val="-3.3831908831908834E-2"/>
                  <c:y val="-3.48039215686274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CD9-4C5B-A205-AB2B96B698E5}"/>
                </c:ext>
              </c:extLst>
            </c:dLbl>
            <c:dLbl>
              <c:idx val="4"/>
              <c:layout>
                <c:manualLayout>
                  <c:x val="-4.5227920227920278E-2"/>
                  <c:y val="-4.46078431372549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FD1-4E42-A4C7-4CECFE53966E}"/>
                </c:ext>
              </c:extLst>
            </c:dLbl>
            <c:dLbl>
              <c:idx val="7"/>
              <c:layout>
                <c:manualLayout>
                  <c:x val="-4.0954415954415957E-2"/>
                  <c:y val="-2.696078431372549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CD9-4C5B-A205-AB2B96B698E5}"/>
                </c:ext>
              </c:extLst>
            </c:dLbl>
            <c:dLbl>
              <c:idx val="8"/>
              <c:layout>
                <c:manualLayout>
                  <c:x val="-5.804843304843315E-2"/>
                  <c:y val="-3.67647058823529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CD9-4C5B-A205-AB2B96B698E5}"/>
                </c:ext>
              </c:extLst>
            </c:dLbl>
            <c:dLbl>
              <c:idx val="10"/>
              <c:layout>
                <c:manualLayout>
                  <c:x val="-3.0982905982906088E-2"/>
                  <c:y val="-3.28431372549019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A7-4B9D-A24B-498F4E161742}"/>
                </c:ext>
              </c:extLst>
            </c:dLbl>
            <c:dLbl>
              <c:idx val="11"/>
              <c:layout>
                <c:manualLayout>
                  <c:x val="-1.4582183637301748E-2"/>
                  <c:y val="-5.049019607843137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CD9-4C5B-A205-AB2B96B698E5}"/>
                </c:ext>
              </c:extLst>
            </c:dLbl>
            <c:numFmt formatCode="0.00%" sourceLinked="0"/>
            <c:spPr>
              <a:noFill/>
              <a:ln>
                <a:noFill/>
              </a:ln>
              <a:effectLst/>
            </c:spPr>
            <c:txPr>
              <a:bodyPr/>
              <a:lstStyle/>
              <a:p>
                <a:pPr>
                  <a:defRPr sz="1000" b="1" baseline="0">
                    <a:latin typeface="Times New Roman" panose="02020603050405020304" pitchFamily="18" charset="0"/>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Sheet1!$A$17:$A$22</c:f>
              <c:strCache>
                <c:ptCount val="6"/>
                <c:pt idx="0">
                  <c:v>2019-20</c:v>
                </c:pt>
                <c:pt idx="1">
                  <c:v>2020-21</c:v>
                </c:pt>
                <c:pt idx="2">
                  <c:v>2021-22 </c:v>
                </c:pt>
                <c:pt idx="3">
                  <c:v>2022-23</c:v>
                </c:pt>
                <c:pt idx="4">
                  <c:v>2023-24 Budgeted </c:v>
                </c:pt>
                <c:pt idx="5">
                  <c:v>2024-25 Budgeted </c:v>
                </c:pt>
              </c:strCache>
            </c:strRef>
          </c:cat>
          <c:val>
            <c:numRef>
              <c:f>Sheet1!$F$17:$F$22</c:f>
              <c:numCache>
                <c:formatCode>0.00%</c:formatCode>
                <c:ptCount val="6"/>
                <c:pt idx="0">
                  <c:v>0.16580386498536995</c:v>
                </c:pt>
                <c:pt idx="1">
                  <c:v>0.19880310144018412</c:v>
                </c:pt>
                <c:pt idx="2">
                  <c:v>0.19118476825898631</c:v>
                </c:pt>
                <c:pt idx="3">
                  <c:v>0.17222060600540437</c:v>
                </c:pt>
                <c:pt idx="4">
                  <c:v>0.18310000000000001</c:v>
                </c:pt>
                <c:pt idx="5">
                  <c:v>0.1585</c:v>
                </c:pt>
              </c:numCache>
            </c:numRef>
          </c:val>
          <c:smooth val="0"/>
          <c:extLst>
            <c:ext xmlns:c16="http://schemas.microsoft.com/office/drawing/2014/chart" uri="{C3380CC4-5D6E-409C-BE32-E72D297353CC}">
              <c16:uniqueId val="{00000002-A7F4-49F9-8BC5-007155A175DA}"/>
            </c:ext>
          </c:extLst>
        </c:ser>
        <c:dLbls>
          <c:showLegendKey val="0"/>
          <c:showVal val="0"/>
          <c:showCatName val="0"/>
          <c:showSerName val="0"/>
          <c:showPercent val="0"/>
          <c:showBubbleSize val="0"/>
        </c:dLbls>
        <c:marker val="1"/>
        <c:smooth val="0"/>
        <c:axId val="285881400"/>
        <c:axId val="285881792"/>
      </c:lineChart>
      <c:catAx>
        <c:axId val="285881400"/>
        <c:scaling>
          <c:orientation val="minMax"/>
        </c:scaling>
        <c:delete val="0"/>
        <c:axPos val="b"/>
        <c:numFmt formatCode="General" sourceLinked="1"/>
        <c:majorTickMark val="out"/>
        <c:minorTickMark val="none"/>
        <c:tickLblPos val="nextTo"/>
        <c:txPr>
          <a:bodyPr/>
          <a:lstStyle/>
          <a:p>
            <a:pPr>
              <a:defRPr sz="1400" baseline="0">
                <a:latin typeface="Times New Roman" panose="02020603050405020304" pitchFamily="18" charset="0"/>
                <a:cs typeface="Times New Roman" panose="02020603050405020304" pitchFamily="18" charset="0"/>
              </a:defRPr>
            </a:pPr>
            <a:endParaRPr lang="en-US"/>
          </a:p>
        </c:txPr>
        <c:crossAx val="285881792"/>
        <c:crosses val="autoZero"/>
        <c:auto val="1"/>
        <c:lblAlgn val="ctr"/>
        <c:lblOffset val="100"/>
        <c:noMultiLvlLbl val="0"/>
      </c:catAx>
      <c:valAx>
        <c:axId val="285881792"/>
        <c:scaling>
          <c:orientation val="minMax"/>
          <c:min val="0.1"/>
        </c:scaling>
        <c:delete val="0"/>
        <c:axPos val="l"/>
        <c:majorGridlines/>
        <c:numFmt formatCode="0.00%" sourceLinked="1"/>
        <c:majorTickMark val="out"/>
        <c:minorTickMark val="none"/>
        <c:tickLblPos val="nextTo"/>
        <c:spPr>
          <a:ln>
            <a:solidFill>
              <a:schemeClr val="tx1">
                <a:lumMod val="15000"/>
                <a:lumOff val="85000"/>
                <a:alpha val="99000"/>
              </a:schemeClr>
            </a:solidFill>
          </a:ln>
        </c:spPr>
        <c:txPr>
          <a:bodyPr/>
          <a:lstStyle/>
          <a:p>
            <a:pPr>
              <a:defRPr sz="1400" baseline="0">
                <a:solidFill>
                  <a:schemeClr val="tx1"/>
                </a:solidFill>
                <a:latin typeface="Times New Roman" panose="02020603050405020304" pitchFamily="18" charset="0"/>
                <a:cs typeface="Times New Roman" panose="02020603050405020304" pitchFamily="18" charset="0"/>
              </a:defRPr>
            </a:pPr>
            <a:endParaRPr lang="en-US"/>
          </a:p>
        </c:txPr>
        <c:crossAx val="285881400"/>
        <c:crosses val="autoZero"/>
        <c:crossBetween val="between"/>
      </c:valAx>
      <c:spPr>
        <a:noFill/>
        <a:ln w="25400">
          <a:noFill/>
        </a:ln>
      </c:spPr>
    </c:plotArea>
    <c:plotVisOnly val="1"/>
    <c:dispBlanksAs val="gap"/>
    <c:showDLblsOverMax val="0"/>
  </c:chart>
  <c:txPr>
    <a:bodyPr/>
    <a:lstStyle/>
    <a:p>
      <a:pPr>
        <a:defRPr sz="1799"/>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51572C9-33BE-4C36-9D0D-086A8889F033}">
      <dgm:prSet/>
      <dgm:spPr/>
      <dgm:t>
        <a:bodyPr/>
        <a:lstStyle/>
        <a:p>
          <a:pPr algn="ctr"/>
          <a:r>
            <a:rPr lang="en-US" dirty="0">
              <a:latin typeface="Times New Roman" panose="02020603050405020304" pitchFamily="18" charset="0"/>
              <a:cs typeface="Times New Roman" panose="02020603050405020304" pitchFamily="18" charset="0"/>
            </a:rPr>
            <a:t>Federal Source Revenue: </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latin typeface="Times New Roman" panose="02020603050405020304" pitchFamily="18" charset="0"/>
              <a:cs typeface="Times New Roman" panose="02020603050405020304" pitchFamily="18" charset="0"/>
            </a:rPr>
            <a:t>Grant funding adjusted to reflect year end expectations </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9212F3FE-B48A-49BC-A412-0C98CFABB212}">
      <dgm:prSet/>
      <dgm:spPr/>
      <dgm:t>
        <a:bodyPr/>
        <a:lstStyle/>
        <a:p>
          <a:pPr algn="ctr"/>
          <a:r>
            <a:rPr lang="en-US" dirty="0">
              <a:latin typeface="Times New Roman" panose="02020603050405020304" pitchFamily="18" charset="0"/>
              <a:cs typeface="Times New Roman" panose="02020603050405020304" pitchFamily="18" charset="0"/>
            </a:rPr>
            <a:t>All Other Operating Costs:</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4672BB1D-E4C0-4FE9-B1C4-0955250BDA31}">
      <dgm:prSet/>
      <dgm:spPr/>
      <dgm:t>
        <a:bodyPr/>
        <a:lstStyle/>
        <a:p>
          <a:pPr algn="ctr"/>
          <a:r>
            <a:rPr lang="en-US" dirty="0">
              <a:latin typeface="Times New Roman" panose="02020603050405020304" pitchFamily="18" charset="0"/>
              <a:cs typeface="Times New Roman" panose="02020603050405020304" pitchFamily="18" charset="0"/>
            </a:rPr>
            <a:t>State Source Revenue:</a:t>
          </a:r>
        </a:p>
      </dgm:t>
    </dgm:pt>
    <dgm:pt modelId="{40E17627-80F8-4318-B18B-DCDEBF1A7D91}" type="sibTrans" cxnId="{4D74F3C5-8507-42B7-9493-1CC9FF4C881C}">
      <dgm:prSet/>
      <dgm:spPr/>
      <dgm:t>
        <a:bodyPr/>
        <a:lstStyle/>
        <a:p>
          <a:endParaRPr lang="en-US"/>
        </a:p>
      </dgm:t>
    </dgm:pt>
    <dgm:pt modelId="{424C4EF4-96C4-48EF-8B2D-F204D06D2FDA}" type="parTrans" cxnId="{4D74F3C5-8507-42B7-9493-1CC9FF4C881C}">
      <dgm:prSet/>
      <dgm:spPr/>
      <dgm:t>
        <a:bodyPr/>
        <a:lstStyle/>
        <a:p>
          <a:endParaRPr lang="en-US"/>
        </a:p>
      </dgm:t>
    </dgm:pt>
    <dgm:pt modelId="{B0C7B6D4-8819-43BD-B97A-31DB06918B3D}">
      <dgm:prSet/>
      <dgm:spPr/>
      <dgm:t>
        <a:bodyPr/>
        <a:lstStyle/>
        <a:p>
          <a:pPr algn="l"/>
          <a:r>
            <a:rPr lang="en-US" dirty="0">
              <a:latin typeface="Times New Roman" panose="02020603050405020304" pitchFamily="18" charset="0"/>
              <a:cs typeface="Times New Roman" panose="02020603050405020304" pitchFamily="18" charset="0"/>
            </a:rPr>
            <a:t>Categorical funding adjusted to reflect year end expectations  </a:t>
          </a:r>
        </a:p>
      </dgm:t>
    </dgm:pt>
    <dgm:pt modelId="{91442634-E11D-4917-88B4-C73A538A7492}" type="parTrans" cxnId="{1E91A3A1-4496-4FA2-90D6-5E7DBAD1E1EF}">
      <dgm:prSet/>
      <dgm:spPr/>
      <dgm:t>
        <a:bodyPr/>
        <a:lstStyle/>
        <a:p>
          <a:endParaRPr lang="en-US"/>
        </a:p>
      </dgm:t>
    </dgm:pt>
    <dgm:pt modelId="{32C0BF9A-61B3-4CD2-89DE-5D4255A9354E}" type="sibTrans" cxnId="{1E91A3A1-4496-4FA2-90D6-5E7DBAD1E1EF}">
      <dgm:prSet/>
      <dgm:spPr/>
      <dgm:t>
        <a:bodyPr/>
        <a:lstStyle/>
        <a:p>
          <a:endParaRPr lang="en-US"/>
        </a:p>
      </dgm:t>
    </dgm:pt>
    <dgm:pt modelId="{E84CCEE1-E1BC-42C0-A068-2771BC262A43}">
      <dgm:prSet/>
      <dgm:spPr/>
      <dgm:t>
        <a:bodyPr/>
        <a:lstStyle/>
        <a:p>
          <a:pPr algn="ctr"/>
          <a:r>
            <a:rPr lang="en-US" dirty="0">
              <a:latin typeface="Times New Roman" panose="02020603050405020304" pitchFamily="18" charset="0"/>
              <a:cs typeface="Times New Roman" panose="02020603050405020304" pitchFamily="18" charset="0"/>
            </a:rPr>
            <a:t>Interdistrict Source Revenue:</a:t>
          </a:r>
        </a:p>
      </dgm:t>
    </dgm:pt>
    <dgm:pt modelId="{E9C1BBFC-788A-4FB2-A11F-854F05AE191F}" type="parTrans" cxnId="{F6B0C38E-4B0F-46D3-B0F0-63518E821B10}">
      <dgm:prSet/>
      <dgm:spPr/>
      <dgm:t>
        <a:bodyPr/>
        <a:lstStyle/>
        <a:p>
          <a:endParaRPr lang="en-US"/>
        </a:p>
      </dgm:t>
    </dgm:pt>
    <dgm:pt modelId="{70008FA4-91E1-4EB5-BCAE-BE5BE537E5A8}" type="sibTrans" cxnId="{F6B0C38E-4B0F-46D3-B0F0-63518E821B10}">
      <dgm:prSet/>
      <dgm:spPr/>
      <dgm:t>
        <a:bodyPr/>
        <a:lstStyle/>
        <a:p>
          <a:endParaRPr lang="en-US"/>
        </a:p>
      </dgm:t>
    </dgm:pt>
    <dgm:pt modelId="{DE0D2FB0-E9E9-4D47-A207-EC8F4B977707}">
      <dgm:prSet/>
      <dgm:spPr/>
      <dgm:t>
        <a:bodyPr/>
        <a:lstStyle/>
        <a:p>
          <a:pPr algn="l"/>
          <a:endParaRPr lang="en-US" dirty="0">
            <a:latin typeface="Times New Roman" panose="02020603050405020304" pitchFamily="18" charset="0"/>
            <a:cs typeface="Times New Roman" panose="02020603050405020304" pitchFamily="18" charset="0"/>
          </a:endParaRPr>
        </a:p>
      </dgm:t>
    </dgm:pt>
    <dgm:pt modelId="{1C82A4F5-3A08-44E3-8B7F-3E03ABF2FC15}" type="parTrans" cxnId="{10B29FCD-4638-4EAF-9FC3-922191EC4A5A}">
      <dgm:prSet/>
      <dgm:spPr/>
      <dgm:t>
        <a:bodyPr/>
        <a:lstStyle/>
        <a:p>
          <a:endParaRPr lang="en-US"/>
        </a:p>
      </dgm:t>
    </dgm:pt>
    <dgm:pt modelId="{8F249EDC-68F2-441A-BE94-5B567C16EC76}" type="sibTrans" cxnId="{10B29FCD-4638-4EAF-9FC3-922191EC4A5A}">
      <dgm:prSet/>
      <dgm:spPr/>
      <dgm:t>
        <a:bodyPr/>
        <a:lstStyle/>
        <a:p>
          <a:endParaRPr lang="en-US"/>
        </a:p>
      </dgm:t>
    </dgm:pt>
    <dgm:pt modelId="{E446D7E9-11E2-47F0-B14A-32E9A6C5C7DD}">
      <dgm:prSet/>
      <dgm:spPr/>
      <dgm:t>
        <a:bodyPr/>
        <a:lstStyle/>
        <a:p>
          <a:pPr algn="l"/>
          <a:r>
            <a:rPr lang="en-US" dirty="0">
              <a:latin typeface="Times New Roman" panose="02020603050405020304" pitchFamily="18" charset="0"/>
              <a:cs typeface="Times New Roman" panose="02020603050405020304" pitchFamily="18" charset="0"/>
            </a:rPr>
            <a:t>PA-18 adjustment reflecting year end expectations </a:t>
          </a:r>
        </a:p>
      </dgm:t>
    </dgm:pt>
    <dgm:pt modelId="{E0C79CD5-3818-4F4D-9572-C643C79F8F55}" type="parTrans" cxnId="{9280E1E2-D010-4E22-9E40-A485D637D66E}">
      <dgm:prSet/>
      <dgm:spPr/>
      <dgm:t>
        <a:bodyPr/>
        <a:lstStyle/>
        <a:p>
          <a:endParaRPr lang="en-US"/>
        </a:p>
      </dgm:t>
    </dgm:pt>
    <dgm:pt modelId="{374B13BF-9F01-47E5-86A4-D47AFF52F4CA}" type="sibTrans" cxnId="{9280E1E2-D010-4E22-9E40-A485D637D66E}">
      <dgm:prSet/>
      <dgm:spPr/>
      <dgm:t>
        <a:bodyPr/>
        <a:lstStyle/>
        <a:p>
          <a:endParaRPr lang="en-US"/>
        </a:p>
      </dgm:t>
    </dgm:pt>
    <dgm:pt modelId="{DF5FB70D-2433-4E9D-94FF-308F5E7A0855}">
      <dgm:prSet/>
      <dgm:spPr/>
      <dgm:t>
        <a:bodyPr/>
        <a:lstStyle/>
        <a:p>
          <a:pPr algn="ctr"/>
          <a:r>
            <a:rPr lang="en-US" dirty="0">
              <a:latin typeface="Times New Roman" panose="02020603050405020304" pitchFamily="18" charset="0"/>
              <a:cs typeface="Times New Roman" panose="02020603050405020304" pitchFamily="18" charset="0"/>
            </a:rPr>
            <a:t>Purchased Services</a:t>
          </a:r>
        </a:p>
        <a:p>
          <a:pPr algn="ctr"/>
          <a:r>
            <a:rPr lang="en-US" dirty="0">
              <a:latin typeface="Times New Roman" panose="02020603050405020304" pitchFamily="18" charset="0"/>
              <a:cs typeface="Times New Roman" panose="02020603050405020304" pitchFamily="18" charset="0"/>
            </a:rPr>
            <a:t>Expenditure budgets adjusted to reflect year end expectations</a:t>
          </a:r>
        </a:p>
      </dgm:t>
    </dgm:pt>
    <dgm:pt modelId="{E3EE0C5F-9E00-4CE3-A9CC-09518769E632}" type="parTrans" cxnId="{5CF528D3-D0C2-4BBB-9E67-17E7BE22793D}">
      <dgm:prSet/>
      <dgm:spPr/>
      <dgm:t>
        <a:bodyPr/>
        <a:lstStyle/>
        <a:p>
          <a:endParaRPr lang="en-US"/>
        </a:p>
      </dgm:t>
    </dgm:pt>
    <dgm:pt modelId="{22879E69-88D8-436A-B973-3D87B1B8C98A}" type="sibTrans" cxnId="{5CF528D3-D0C2-4BBB-9E67-17E7BE22793D}">
      <dgm:prSet/>
      <dgm:spPr/>
      <dgm:t>
        <a:bodyPr/>
        <a:lstStyle/>
        <a:p>
          <a:endParaRPr lang="en-US"/>
        </a:p>
      </dgm:t>
    </dgm:pt>
    <dgm:pt modelId="{CD8AA63E-1B1F-4276-9C47-977BD3BA41D4}">
      <dgm:prSet/>
      <dgm:spPr/>
      <dgm:t>
        <a:bodyPr/>
        <a:lstStyle/>
        <a:p>
          <a:pPr algn="ctr"/>
          <a:r>
            <a:rPr lang="en-US" dirty="0">
              <a:latin typeface="Times New Roman" panose="02020603050405020304" pitchFamily="18" charset="0"/>
              <a:cs typeface="Times New Roman" panose="02020603050405020304" pitchFamily="18" charset="0"/>
            </a:rPr>
            <a:t>Expenditure Budgets Adjusted reflecting year end expectations </a:t>
          </a:r>
        </a:p>
      </dgm:t>
    </dgm:pt>
    <dgm:pt modelId="{E4507838-F0A8-4BCA-8F90-4249ACBFB627}" type="parTrans" cxnId="{76AE7AC1-3DA6-4D0D-BFF5-D60B4B3E3440}">
      <dgm:prSet/>
      <dgm:spPr/>
      <dgm:t>
        <a:bodyPr/>
        <a:lstStyle/>
        <a:p>
          <a:endParaRPr lang="en-US"/>
        </a:p>
      </dgm:t>
    </dgm:pt>
    <dgm:pt modelId="{24415892-CB69-4D72-A735-BE293213F2C2}" type="sibTrans" cxnId="{76AE7AC1-3DA6-4D0D-BFF5-D60B4B3E3440}">
      <dgm:prSet/>
      <dgm:spPr/>
      <dgm:t>
        <a:bodyPr/>
        <a:lstStyle/>
        <a:p>
          <a:endParaRPr lang="en-US"/>
        </a:p>
      </dgm:t>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5">
        <dgm:presLayoutVars>
          <dgm:bulletEnabled val="1"/>
        </dgm:presLayoutVars>
      </dgm:prSet>
      <dgm:spPr/>
    </dgm:pt>
    <dgm:pt modelId="{56A818F3-CD9A-40D4-9024-155E93C6EED2}" type="pres">
      <dgm:prSet presAssocID="{40E17627-80F8-4318-B18B-DCDEBF1A7D91}" presName="sibTrans" presStyleCnt="0"/>
      <dgm:spPr/>
    </dgm:pt>
    <dgm:pt modelId="{BAA0630F-6FBA-4010-8270-D1F60BDD839F}" type="pres">
      <dgm:prSet presAssocID="{951572C9-33BE-4C36-9D0D-086A8889F033}" presName="node" presStyleLbl="node1" presStyleIdx="1" presStyleCnt="5">
        <dgm:presLayoutVars>
          <dgm:bulletEnabled val="1"/>
        </dgm:presLayoutVars>
      </dgm:prSet>
      <dgm:spPr/>
    </dgm:pt>
    <dgm:pt modelId="{FC9A277A-CCCA-45CB-92A7-ED1A32DEE88E}" type="pres">
      <dgm:prSet presAssocID="{D698F2F1-5EF0-4E6B-8B8A-33B1E1BA9A89}" presName="sibTrans" presStyleCnt="0"/>
      <dgm:spPr/>
    </dgm:pt>
    <dgm:pt modelId="{21BB3C05-0DD2-473F-8D14-A5A9EEE81A80}" type="pres">
      <dgm:prSet presAssocID="{E84CCEE1-E1BC-42C0-A068-2771BC262A43}" presName="node" presStyleLbl="node1" presStyleIdx="2" presStyleCnt="5" custLinFactNeighborX="55000" custLinFactNeighborY="-9923">
        <dgm:presLayoutVars>
          <dgm:bulletEnabled val="1"/>
        </dgm:presLayoutVars>
      </dgm:prSet>
      <dgm:spPr/>
    </dgm:pt>
    <dgm:pt modelId="{130FFFAD-0634-481A-96B3-BBB84A6CECF8}" type="pres">
      <dgm:prSet presAssocID="{70008FA4-91E1-4EB5-BCAE-BE5BE537E5A8}" presName="sibTrans" presStyleCnt="0"/>
      <dgm:spPr/>
    </dgm:pt>
    <dgm:pt modelId="{AB1AE4C4-8B15-4C5E-8651-667A3641130D}" type="pres">
      <dgm:prSet presAssocID="{9212F3FE-B48A-49BC-A412-0C98CFABB212}" presName="node" presStyleLbl="node1" presStyleIdx="3" presStyleCnt="5" custLinFactX="-12776" custLinFactY="1274" custLinFactNeighborX="-100000" custLinFactNeighborY="100000">
        <dgm:presLayoutVars>
          <dgm:bulletEnabled val="1"/>
        </dgm:presLayoutVars>
      </dgm:prSet>
      <dgm:spPr/>
    </dgm:pt>
    <dgm:pt modelId="{72A2D832-81EC-4EC4-B401-0B1433ACD968}" type="pres">
      <dgm:prSet presAssocID="{4936DC70-53DF-49EA-B18B-0203C7220201}" presName="sibTrans" presStyleCnt="0"/>
      <dgm:spPr/>
    </dgm:pt>
    <dgm:pt modelId="{C57762AF-4C81-4D3E-8D33-C86813AF3458}" type="pres">
      <dgm:prSet presAssocID="{DF5FB70D-2433-4E9D-94FF-308F5E7A0855}" presName="node" presStyleLbl="node1" presStyleIdx="4" presStyleCnt="5" custLinFactNeighborX="55132" custLinFactNeighborY="-15393">
        <dgm:presLayoutVars>
          <dgm:bulletEnabled val="1"/>
        </dgm:presLayoutVars>
      </dgm:prSet>
      <dgm:spPr/>
    </dgm:pt>
  </dgm:ptLst>
  <dgm:cxnLst>
    <dgm:cxn modelId="{3B684E02-3097-40E2-9633-3850CB23B046}" type="presOf" srcId="{E84CCEE1-E1BC-42C0-A068-2771BC262A43}" destId="{21BB3C05-0DD2-473F-8D14-A5A9EEE81A80}" srcOrd="0" destOrd="0" presId="urn:microsoft.com/office/officeart/2005/8/layout/default"/>
    <dgm:cxn modelId="{3694710E-DA13-4C69-83E8-11DF42663984}" type="presOf" srcId="{A357A432-3554-4B62-8BB4-8132471F6B3E}" destId="{06F8B67F-F365-44DF-8029-1ED3E64F2189}" srcOrd="0" destOrd="0" presId="urn:microsoft.com/office/officeart/2005/8/layout/default"/>
    <dgm:cxn modelId="{E10D7F16-71F9-435C-8709-6D43769781F8}" type="presOf" srcId="{B0C7B6D4-8819-43BD-B97A-31DB06918B3D}" destId="{9D48B2F5-0142-488C-A2CB-E2580AD9E459}" srcOrd="0" destOrd="1" presId="urn:microsoft.com/office/officeart/2005/8/layout/default"/>
    <dgm:cxn modelId="{27688F23-B2A9-4FE8-B520-693BB137EA79}" type="presOf" srcId="{951572C9-33BE-4C36-9D0D-086A8889F033}" destId="{BAA0630F-6FBA-4010-8270-D1F60BDD839F}" srcOrd="0" destOrd="0" presId="urn:microsoft.com/office/officeart/2005/8/layout/default"/>
    <dgm:cxn modelId="{E3CE3038-D289-44BF-97A1-1F9F353F98EC}" type="presOf" srcId="{DE0D2FB0-E9E9-4D47-A207-EC8F4B977707}" destId="{9D48B2F5-0142-488C-A2CB-E2580AD9E459}" srcOrd="0" destOrd="2" presId="urn:microsoft.com/office/officeart/2005/8/layout/default"/>
    <dgm:cxn modelId="{CC6A2039-E50B-4F12-828F-A3EC26ED17F2}" type="presOf" srcId="{E446D7E9-11E2-47F0-B14A-32E9A6C5C7DD}" destId="{21BB3C05-0DD2-473F-8D14-A5A9EEE81A80}" srcOrd="0" destOrd="1" presId="urn:microsoft.com/office/officeart/2005/8/layout/default"/>
    <dgm:cxn modelId="{8D0A003D-C2BD-4313-A070-60FEC2D17CF7}" type="presOf" srcId="{CD8AA63E-1B1F-4276-9C47-977BD3BA41D4}" destId="{AB1AE4C4-8B15-4C5E-8651-667A3641130D}" srcOrd="0" destOrd="1" presId="urn:microsoft.com/office/officeart/2005/8/layout/default"/>
    <dgm:cxn modelId="{2B33CB4E-F4A1-47F9-B9BB-0BD0ADD43C98}" srcId="{A357A432-3554-4B62-8BB4-8132471F6B3E}" destId="{951572C9-33BE-4C36-9D0D-086A8889F033}" srcOrd="1" destOrd="0" parTransId="{459EC477-CDA8-4593-BF77-BC229AE0653D}" sibTransId="{D698F2F1-5EF0-4E6B-8B8A-33B1E1BA9A89}"/>
    <dgm:cxn modelId="{6E180183-A3B0-46EF-8FD0-369137735D67}" srcId="{A357A432-3554-4B62-8BB4-8132471F6B3E}" destId="{9212F3FE-B48A-49BC-A412-0C98CFABB212}" srcOrd="3" destOrd="0" parTransId="{89DEDD90-0121-4B3E-AF79-C17287701138}" sibTransId="{4936DC70-53DF-49EA-B18B-0203C7220201}"/>
    <dgm:cxn modelId="{6AE3F389-5BD4-484E-8680-F4F99C1F56B9}" srcId="{951572C9-33BE-4C36-9D0D-086A8889F033}" destId="{4D4CB5D7-F11C-49C8-8F87-D642326EEFDF}" srcOrd="0" destOrd="0" parTransId="{4C5B29F1-71C0-45B4-8765-72E0CE56AC1E}" sibTransId="{A3A178E4-5040-416A-90C4-E46D3EDE1C3B}"/>
    <dgm:cxn modelId="{F6B0C38E-4B0F-46D3-B0F0-63518E821B10}" srcId="{A357A432-3554-4B62-8BB4-8132471F6B3E}" destId="{E84CCEE1-E1BC-42C0-A068-2771BC262A43}" srcOrd="2" destOrd="0" parTransId="{E9C1BBFC-788A-4FB2-A11F-854F05AE191F}" sibTransId="{70008FA4-91E1-4EB5-BCAE-BE5BE537E5A8}"/>
    <dgm:cxn modelId="{AAB8269A-D168-460B-839C-2AD631BFE514}" type="presOf" srcId="{DF5FB70D-2433-4E9D-94FF-308F5E7A0855}" destId="{C57762AF-4C81-4D3E-8D33-C86813AF3458}" srcOrd="0" destOrd="0" presId="urn:microsoft.com/office/officeart/2005/8/layout/default"/>
    <dgm:cxn modelId="{1E91A3A1-4496-4FA2-90D6-5E7DBAD1E1EF}" srcId="{4672BB1D-E4C0-4FE9-B1C4-0955250BDA31}" destId="{B0C7B6D4-8819-43BD-B97A-31DB06918B3D}" srcOrd="0" destOrd="0" parTransId="{91442634-E11D-4917-88B4-C73A538A7492}" sibTransId="{32C0BF9A-61B3-4CD2-89DE-5D4255A9354E}"/>
    <dgm:cxn modelId="{EEACA5A2-D355-4ECD-9C48-353AB537521B}" type="presOf" srcId="{4672BB1D-E4C0-4FE9-B1C4-0955250BDA31}" destId="{9D48B2F5-0142-488C-A2CB-E2580AD9E459}" srcOrd="0" destOrd="0" presId="urn:microsoft.com/office/officeart/2005/8/layout/default"/>
    <dgm:cxn modelId="{76AE7AC1-3DA6-4D0D-BFF5-D60B4B3E3440}" srcId="{9212F3FE-B48A-49BC-A412-0C98CFABB212}" destId="{CD8AA63E-1B1F-4276-9C47-977BD3BA41D4}" srcOrd="0" destOrd="0" parTransId="{E4507838-F0A8-4BCA-8F90-4249ACBFB627}" sibTransId="{24415892-CB69-4D72-A735-BE293213F2C2}"/>
    <dgm:cxn modelId="{4D74F3C5-8507-42B7-9493-1CC9FF4C881C}" srcId="{A357A432-3554-4B62-8BB4-8132471F6B3E}" destId="{4672BB1D-E4C0-4FE9-B1C4-0955250BDA31}" srcOrd="0" destOrd="0" parTransId="{424C4EF4-96C4-48EF-8B2D-F204D06D2FDA}" sibTransId="{40E17627-80F8-4318-B18B-DCDEBF1A7D91}"/>
    <dgm:cxn modelId="{510732CA-2CC7-4161-9397-9BF3B134D8EC}" type="presOf" srcId="{9212F3FE-B48A-49BC-A412-0C98CFABB212}" destId="{AB1AE4C4-8B15-4C5E-8651-667A3641130D}" srcOrd="0" destOrd="0" presId="urn:microsoft.com/office/officeart/2005/8/layout/default"/>
    <dgm:cxn modelId="{10B29FCD-4638-4EAF-9FC3-922191EC4A5A}" srcId="{4672BB1D-E4C0-4FE9-B1C4-0955250BDA31}" destId="{DE0D2FB0-E9E9-4D47-A207-EC8F4B977707}" srcOrd="1" destOrd="0" parTransId="{1C82A4F5-3A08-44E3-8B7F-3E03ABF2FC15}" sibTransId="{8F249EDC-68F2-441A-BE94-5B567C16EC76}"/>
    <dgm:cxn modelId="{5CF528D3-D0C2-4BBB-9E67-17E7BE22793D}" srcId="{A357A432-3554-4B62-8BB4-8132471F6B3E}" destId="{DF5FB70D-2433-4E9D-94FF-308F5E7A0855}" srcOrd="4" destOrd="0" parTransId="{E3EE0C5F-9E00-4CE3-A9CC-09518769E632}" sibTransId="{22879E69-88D8-436A-B973-3D87B1B8C98A}"/>
    <dgm:cxn modelId="{9280E1E2-D010-4E22-9E40-A485D637D66E}" srcId="{E84CCEE1-E1BC-42C0-A068-2771BC262A43}" destId="{E446D7E9-11E2-47F0-B14A-32E9A6C5C7DD}" srcOrd="0" destOrd="0" parTransId="{E0C79CD5-3818-4F4D-9572-C643C79F8F55}" sibTransId="{374B13BF-9F01-47E5-86A4-D47AFF52F4CA}"/>
    <dgm:cxn modelId="{0DC358ED-457F-48F3-8EA3-D2E87CDB5026}" type="presOf" srcId="{4D4CB5D7-F11C-49C8-8F87-D642326EEFDF}" destId="{BAA0630F-6FBA-4010-8270-D1F60BDD839F}"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AF9699A5-C223-4C7B-9B36-F9FC38530C7C}" type="presParOf" srcId="{06F8B67F-F365-44DF-8029-1ED3E64F2189}" destId="{BAA0630F-6FBA-4010-8270-D1F60BDD839F}" srcOrd="2" destOrd="0" presId="urn:microsoft.com/office/officeart/2005/8/layout/default"/>
    <dgm:cxn modelId="{334C23CA-6852-4D8C-B4C9-BA66B93445BE}" type="presParOf" srcId="{06F8B67F-F365-44DF-8029-1ED3E64F2189}" destId="{FC9A277A-CCCA-45CB-92A7-ED1A32DEE88E}" srcOrd="3" destOrd="0" presId="urn:microsoft.com/office/officeart/2005/8/layout/default"/>
    <dgm:cxn modelId="{9BAE4E25-7723-4F0B-B4F8-64FB0A8497FD}" type="presParOf" srcId="{06F8B67F-F365-44DF-8029-1ED3E64F2189}" destId="{21BB3C05-0DD2-473F-8D14-A5A9EEE81A80}" srcOrd="4" destOrd="0" presId="urn:microsoft.com/office/officeart/2005/8/layout/default"/>
    <dgm:cxn modelId="{4C61336C-FCCF-4C6A-9761-E546CAF2504B}" type="presParOf" srcId="{06F8B67F-F365-44DF-8029-1ED3E64F2189}" destId="{130FFFAD-0634-481A-96B3-BBB84A6CECF8}" srcOrd="5" destOrd="0" presId="urn:microsoft.com/office/officeart/2005/8/layout/default"/>
    <dgm:cxn modelId="{3CD12FBC-5F6C-4156-84EE-B447E14C5144}" type="presParOf" srcId="{06F8B67F-F365-44DF-8029-1ED3E64F2189}" destId="{AB1AE4C4-8B15-4C5E-8651-667A3641130D}" srcOrd="6" destOrd="0" presId="urn:microsoft.com/office/officeart/2005/8/layout/default"/>
    <dgm:cxn modelId="{FB87F7CC-E4DC-47B3-814C-D002D8BF471E}" type="presParOf" srcId="{06F8B67F-F365-44DF-8029-1ED3E64F2189}" destId="{72A2D832-81EC-4EC4-B401-0B1433ACD968}" srcOrd="7" destOrd="0" presId="urn:microsoft.com/office/officeart/2005/8/layout/default"/>
    <dgm:cxn modelId="{52E05FAB-CF4B-4E76-8B35-65989FFA433E}" type="presParOf" srcId="{06F8B67F-F365-44DF-8029-1ED3E64F2189}" destId="{C57762AF-4C81-4D3E-8D33-C86813AF345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57A432-3554-4B62-8BB4-8132471F6B3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4672BB1D-E4C0-4FE9-B1C4-0955250BDA31}">
      <dgm:prSet/>
      <dgm:spPr/>
      <dgm:t>
        <a:bodyPr/>
        <a:lstStyle/>
        <a:p>
          <a:pPr algn="l"/>
          <a:endParaRPr lang="en-US" dirty="0"/>
        </a:p>
        <a:p>
          <a:pPr algn="ctr"/>
          <a:r>
            <a:rPr lang="en-US" dirty="0"/>
            <a:t>Local Source Revenue:</a:t>
          </a:r>
        </a:p>
      </dgm:t>
    </dgm:pt>
    <dgm:pt modelId="{424C4EF4-96C4-48EF-8B2D-F204D06D2FDA}" type="parTrans" cxnId="{4D74F3C5-8507-42B7-9493-1CC9FF4C881C}">
      <dgm:prSet/>
      <dgm:spPr/>
      <dgm:t>
        <a:bodyPr/>
        <a:lstStyle/>
        <a:p>
          <a:endParaRPr lang="en-US"/>
        </a:p>
      </dgm:t>
    </dgm:pt>
    <dgm:pt modelId="{40E17627-80F8-4318-B18B-DCDEBF1A7D91}" type="sibTrans" cxnId="{4D74F3C5-8507-42B7-9493-1CC9FF4C881C}">
      <dgm:prSet/>
      <dgm:spPr/>
      <dgm:t>
        <a:bodyPr/>
        <a:lstStyle/>
        <a:p>
          <a:endParaRPr lang="en-US"/>
        </a:p>
      </dgm:t>
    </dgm:pt>
    <dgm:pt modelId="{AAD4C9C9-831E-45F6-B8F7-0A459A131886}">
      <dgm:prSet/>
      <dgm:spPr/>
      <dgm:t>
        <a:bodyPr/>
        <a:lstStyle/>
        <a:p>
          <a:pPr algn="ctr"/>
          <a:endParaRPr lang="en-US" dirty="0"/>
        </a:p>
        <a:p>
          <a:pPr algn="ctr"/>
          <a:r>
            <a:rPr lang="en-US" dirty="0"/>
            <a:t>State Source Revenue:</a:t>
          </a:r>
        </a:p>
      </dgm:t>
    </dgm:pt>
    <dgm:pt modelId="{D5C0EED1-A061-4DD5-8757-FCFC26FCE77E}" type="parTrans" cxnId="{A41CC6A5-02FC-4D1D-BD6E-43C4933BD891}">
      <dgm:prSet/>
      <dgm:spPr/>
      <dgm:t>
        <a:bodyPr/>
        <a:lstStyle/>
        <a:p>
          <a:endParaRPr lang="en-US"/>
        </a:p>
      </dgm:t>
    </dgm:pt>
    <dgm:pt modelId="{2A00A5FB-56E5-4C1C-9DEE-191B5D618D89}" type="sibTrans" cxnId="{A41CC6A5-02FC-4D1D-BD6E-43C4933BD891}">
      <dgm:prSet/>
      <dgm:spPr/>
      <dgm:t>
        <a:bodyPr/>
        <a:lstStyle/>
        <a:p>
          <a:endParaRPr lang="en-US"/>
        </a:p>
      </dgm:t>
    </dgm:pt>
    <dgm:pt modelId="{951572C9-33BE-4C36-9D0D-086A8889F033}">
      <dgm:prSet/>
      <dgm:spPr/>
      <dgm:t>
        <a:bodyPr/>
        <a:lstStyle/>
        <a:p>
          <a:pPr algn="l"/>
          <a:r>
            <a:rPr lang="en-US" dirty="0"/>
            <a:t>Enrollment Projection: 12,300 (-70)</a:t>
          </a:r>
        </a:p>
      </dgm:t>
    </dgm:pt>
    <dgm:pt modelId="{459EC477-CDA8-4593-BF77-BC229AE0653D}" type="parTrans" cxnId="{2B33CB4E-F4A1-47F9-B9BB-0BD0ADD43C98}">
      <dgm:prSet/>
      <dgm:spPr/>
      <dgm:t>
        <a:bodyPr/>
        <a:lstStyle/>
        <a:p>
          <a:endParaRPr lang="en-US"/>
        </a:p>
      </dgm:t>
    </dgm:pt>
    <dgm:pt modelId="{D698F2F1-5EF0-4E6B-8B8A-33B1E1BA9A89}" type="sibTrans" cxnId="{2B33CB4E-F4A1-47F9-B9BB-0BD0ADD43C98}">
      <dgm:prSet/>
      <dgm:spPr/>
      <dgm:t>
        <a:bodyPr/>
        <a:lstStyle/>
        <a:p>
          <a:endParaRPr lang="en-US"/>
        </a:p>
      </dgm:t>
    </dgm:pt>
    <dgm:pt modelId="{4D4CB5D7-F11C-49C8-8F87-D642326EEFDF}">
      <dgm:prSet/>
      <dgm:spPr/>
      <dgm:t>
        <a:bodyPr/>
        <a:lstStyle/>
        <a:p>
          <a:pPr algn="l"/>
          <a:r>
            <a:rPr lang="en-US" dirty="0"/>
            <a:t>Foundation Allowance: $241 per pupil (Governor’s budget)</a:t>
          </a:r>
        </a:p>
      </dgm:t>
    </dgm:pt>
    <dgm:pt modelId="{4C5B29F1-71C0-45B4-8765-72E0CE56AC1E}" type="parTrans" cxnId="{6AE3F389-5BD4-484E-8680-F4F99C1F56B9}">
      <dgm:prSet/>
      <dgm:spPr/>
      <dgm:t>
        <a:bodyPr/>
        <a:lstStyle/>
        <a:p>
          <a:endParaRPr lang="en-US"/>
        </a:p>
      </dgm:t>
    </dgm:pt>
    <dgm:pt modelId="{A3A178E4-5040-416A-90C4-E46D3EDE1C3B}" type="sibTrans" cxnId="{6AE3F389-5BD4-484E-8680-F4F99C1F56B9}">
      <dgm:prSet/>
      <dgm:spPr/>
      <dgm:t>
        <a:bodyPr/>
        <a:lstStyle/>
        <a:p>
          <a:endParaRPr lang="en-US"/>
        </a:p>
      </dgm:t>
    </dgm:pt>
    <dgm:pt modelId="{FA335215-D21F-4FD4-9168-33934B84CBFF}">
      <dgm:prSet/>
      <dgm:spPr/>
      <dgm:t>
        <a:bodyPr/>
        <a:lstStyle/>
        <a:p>
          <a:pPr algn="l"/>
          <a:endParaRPr lang="en-US" dirty="0"/>
        </a:p>
        <a:p>
          <a:pPr algn="ctr"/>
          <a:r>
            <a:rPr lang="en-US" dirty="0"/>
            <a:t>Federal Source Revenue:</a:t>
          </a:r>
        </a:p>
      </dgm:t>
    </dgm:pt>
    <dgm:pt modelId="{1E58CCAA-0503-49E4-A049-17BD4B540B8E}" type="parTrans" cxnId="{4AEB811D-A1F4-4E6A-92EC-EF94166D7629}">
      <dgm:prSet/>
      <dgm:spPr/>
      <dgm:t>
        <a:bodyPr/>
        <a:lstStyle/>
        <a:p>
          <a:endParaRPr lang="en-US"/>
        </a:p>
      </dgm:t>
    </dgm:pt>
    <dgm:pt modelId="{3C84700D-461A-4935-A4CC-F5FA362F696B}" type="sibTrans" cxnId="{4AEB811D-A1F4-4E6A-92EC-EF94166D7629}">
      <dgm:prSet/>
      <dgm:spPr/>
      <dgm:t>
        <a:bodyPr/>
        <a:lstStyle/>
        <a:p>
          <a:endParaRPr lang="en-US"/>
        </a:p>
      </dgm:t>
    </dgm:pt>
    <dgm:pt modelId="{D57AE9A0-3A3A-482A-AAEC-42F5962B9B8B}">
      <dgm:prSet/>
      <dgm:spPr/>
      <dgm:t>
        <a:bodyPr/>
        <a:lstStyle/>
        <a:p>
          <a:pPr algn="l"/>
          <a:endParaRPr lang="en-US" dirty="0"/>
        </a:p>
        <a:p>
          <a:pPr algn="ctr"/>
          <a:r>
            <a:rPr lang="en-US" dirty="0"/>
            <a:t>Salaries:</a:t>
          </a:r>
        </a:p>
      </dgm:t>
    </dgm:pt>
    <dgm:pt modelId="{E02E7121-0DD7-4666-942F-F75EFE78CDF4}" type="parTrans" cxnId="{53779E96-7A3C-41AF-8188-3FD072653EEF}">
      <dgm:prSet/>
      <dgm:spPr/>
      <dgm:t>
        <a:bodyPr/>
        <a:lstStyle/>
        <a:p>
          <a:endParaRPr lang="en-US"/>
        </a:p>
      </dgm:t>
    </dgm:pt>
    <dgm:pt modelId="{65A9BCF2-21A7-485C-8B54-A7FC3347AE37}" type="sibTrans" cxnId="{53779E96-7A3C-41AF-8188-3FD072653EEF}">
      <dgm:prSet/>
      <dgm:spPr/>
      <dgm:t>
        <a:bodyPr/>
        <a:lstStyle/>
        <a:p>
          <a:endParaRPr lang="en-US"/>
        </a:p>
      </dgm:t>
    </dgm:pt>
    <dgm:pt modelId="{9212F3FE-B48A-49BC-A412-0C98CFABB212}">
      <dgm:prSet/>
      <dgm:spPr/>
      <dgm:t>
        <a:bodyPr/>
        <a:lstStyle/>
        <a:p>
          <a:pPr algn="ctr"/>
          <a:endParaRPr lang="en-US" dirty="0"/>
        </a:p>
        <a:p>
          <a:pPr algn="ctr"/>
          <a:r>
            <a:rPr lang="en-US" dirty="0"/>
            <a:t>Benefits:</a:t>
          </a:r>
        </a:p>
      </dgm:t>
    </dgm:pt>
    <dgm:pt modelId="{89DEDD90-0121-4B3E-AF79-C17287701138}" type="parTrans" cxnId="{6E180183-A3B0-46EF-8FD0-369137735D67}">
      <dgm:prSet/>
      <dgm:spPr/>
      <dgm:t>
        <a:bodyPr/>
        <a:lstStyle/>
        <a:p>
          <a:endParaRPr lang="en-US"/>
        </a:p>
      </dgm:t>
    </dgm:pt>
    <dgm:pt modelId="{4936DC70-53DF-49EA-B18B-0203C7220201}" type="sibTrans" cxnId="{6E180183-A3B0-46EF-8FD0-369137735D67}">
      <dgm:prSet/>
      <dgm:spPr/>
      <dgm:t>
        <a:bodyPr/>
        <a:lstStyle/>
        <a:p>
          <a:endParaRPr lang="en-US"/>
        </a:p>
      </dgm:t>
    </dgm:pt>
    <dgm:pt modelId="{F5E12E64-8753-4245-96A3-F4EAA8548E89}">
      <dgm:prSet/>
      <dgm:spPr/>
      <dgm:t>
        <a:bodyPr/>
        <a:lstStyle/>
        <a:p>
          <a:pPr algn="l"/>
          <a:r>
            <a:rPr lang="en-US" dirty="0"/>
            <a:t>Retirement: Effective rate increase reflecting new year expectations</a:t>
          </a:r>
        </a:p>
      </dgm:t>
    </dgm:pt>
    <dgm:pt modelId="{F40981ED-52BB-4889-A1F8-BE8B4BD9F504}" type="parTrans" cxnId="{FDC4B898-C024-440D-97F6-26AA1451D66B}">
      <dgm:prSet/>
      <dgm:spPr/>
      <dgm:t>
        <a:bodyPr/>
        <a:lstStyle/>
        <a:p>
          <a:endParaRPr lang="en-US"/>
        </a:p>
      </dgm:t>
    </dgm:pt>
    <dgm:pt modelId="{65D4F6E5-8BAE-42E0-8BCD-2FA881BEC361}" type="sibTrans" cxnId="{FDC4B898-C024-440D-97F6-26AA1451D66B}">
      <dgm:prSet/>
      <dgm:spPr/>
      <dgm:t>
        <a:bodyPr/>
        <a:lstStyle/>
        <a:p>
          <a:endParaRPr lang="en-US"/>
        </a:p>
      </dgm:t>
    </dgm:pt>
    <dgm:pt modelId="{BE8315E1-49B6-4949-AA6A-7CAC3C7B0C4B}">
      <dgm:prSet/>
      <dgm:spPr/>
      <dgm:t>
        <a:bodyPr/>
        <a:lstStyle/>
        <a:p>
          <a:pPr algn="ctr"/>
          <a:endParaRPr lang="en-US" dirty="0"/>
        </a:p>
        <a:p>
          <a:pPr algn="ctr"/>
          <a:r>
            <a:rPr lang="en-US" dirty="0"/>
            <a:t>Purchased Services:</a:t>
          </a:r>
        </a:p>
      </dgm:t>
    </dgm:pt>
    <dgm:pt modelId="{DEB6AA8F-DAB6-4893-AB2C-4D942715DC08}" type="parTrans" cxnId="{68FFCA01-E145-4D4F-A010-0231966FD66C}">
      <dgm:prSet/>
      <dgm:spPr/>
      <dgm:t>
        <a:bodyPr/>
        <a:lstStyle/>
        <a:p>
          <a:endParaRPr lang="en-US"/>
        </a:p>
      </dgm:t>
    </dgm:pt>
    <dgm:pt modelId="{BFC116D1-044D-4D74-9A19-A478310384BC}" type="sibTrans" cxnId="{68FFCA01-E145-4D4F-A010-0231966FD66C}">
      <dgm:prSet/>
      <dgm:spPr/>
      <dgm:t>
        <a:bodyPr/>
        <a:lstStyle/>
        <a:p>
          <a:endParaRPr lang="en-US"/>
        </a:p>
      </dgm:t>
    </dgm:pt>
    <dgm:pt modelId="{C09AD295-A637-4E02-954F-676C91EB664E}">
      <dgm:prSet/>
      <dgm:spPr/>
      <dgm:t>
        <a:bodyPr/>
        <a:lstStyle/>
        <a:p>
          <a:pPr algn="l"/>
          <a:r>
            <a:rPr lang="en-US" dirty="0"/>
            <a:t>Adjusted to reflect contractual obligations </a:t>
          </a:r>
        </a:p>
      </dgm:t>
    </dgm:pt>
    <dgm:pt modelId="{D5A1A104-2E38-48EF-BE6D-6BA4A0368458}" type="parTrans" cxnId="{393C949E-795B-445D-8A83-D72081C3FE44}">
      <dgm:prSet/>
      <dgm:spPr/>
      <dgm:t>
        <a:bodyPr/>
        <a:lstStyle/>
        <a:p>
          <a:endParaRPr lang="en-US"/>
        </a:p>
      </dgm:t>
    </dgm:pt>
    <dgm:pt modelId="{199399BE-0911-406E-B620-EA8BDEB5F154}" type="sibTrans" cxnId="{393C949E-795B-445D-8A83-D72081C3FE44}">
      <dgm:prSet/>
      <dgm:spPr/>
      <dgm:t>
        <a:bodyPr/>
        <a:lstStyle/>
        <a:p>
          <a:endParaRPr lang="en-US"/>
        </a:p>
      </dgm:t>
    </dgm:pt>
    <dgm:pt modelId="{6989E973-131C-4523-AC51-AE3EF1246F8C}">
      <dgm:prSet/>
      <dgm:spPr/>
      <dgm:t>
        <a:bodyPr/>
        <a:lstStyle/>
        <a:p>
          <a:pPr algn="l"/>
          <a:endParaRPr lang="en-US" dirty="0"/>
        </a:p>
        <a:p>
          <a:pPr algn="ctr"/>
          <a:r>
            <a:rPr lang="en-US" dirty="0"/>
            <a:t>Supplies:</a:t>
          </a:r>
        </a:p>
      </dgm:t>
    </dgm:pt>
    <dgm:pt modelId="{C6877A69-001B-41A0-965D-1A706BE7F5C9}" type="parTrans" cxnId="{4B6AE433-3F00-4432-8540-FB7EBBC5F542}">
      <dgm:prSet/>
      <dgm:spPr/>
      <dgm:t>
        <a:bodyPr/>
        <a:lstStyle/>
        <a:p>
          <a:endParaRPr lang="en-US"/>
        </a:p>
      </dgm:t>
    </dgm:pt>
    <dgm:pt modelId="{9BCDAD78-4805-4E33-BD04-AB759A436A7F}" type="sibTrans" cxnId="{4B6AE433-3F00-4432-8540-FB7EBBC5F542}">
      <dgm:prSet/>
      <dgm:spPr/>
      <dgm:t>
        <a:bodyPr/>
        <a:lstStyle/>
        <a:p>
          <a:endParaRPr lang="en-US"/>
        </a:p>
      </dgm:t>
    </dgm:pt>
    <dgm:pt modelId="{2E866650-AADC-49F0-9350-442AEC6C82B2}">
      <dgm:prSet/>
      <dgm:spPr/>
      <dgm:t>
        <a:bodyPr/>
        <a:lstStyle/>
        <a:p>
          <a:pPr algn="l"/>
          <a:endParaRPr lang="en-US" dirty="0"/>
        </a:p>
        <a:p>
          <a:pPr algn="ctr"/>
          <a:r>
            <a:rPr lang="en-US" dirty="0"/>
            <a:t>Debt Service:</a:t>
          </a:r>
        </a:p>
      </dgm:t>
    </dgm:pt>
    <dgm:pt modelId="{846FCA12-7F61-45A9-AE69-81F38DD6EE16}" type="parTrans" cxnId="{1DE9351C-575F-4E76-B260-4DD10738F17C}">
      <dgm:prSet/>
      <dgm:spPr/>
      <dgm:t>
        <a:bodyPr/>
        <a:lstStyle/>
        <a:p>
          <a:endParaRPr lang="en-US"/>
        </a:p>
      </dgm:t>
    </dgm:pt>
    <dgm:pt modelId="{E4E682A4-766F-440B-BDFE-5C91E070A3A7}" type="sibTrans" cxnId="{1DE9351C-575F-4E76-B260-4DD10738F17C}">
      <dgm:prSet/>
      <dgm:spPr/>
      <dgm:t>
        <a:bodyPr/>
        <a:lstStyle/>
        <a:p>
          <a:endParaRPr lang="en-US"/>
        </a:p>
      </dgm:t>
    </dgm:pt>
    <dgm:pt modelId="{4279B3BC-83EA-4A37-B341-5CBF2EF809F3}">
      <dgm:prSet/>
      <dgm:spPr/>
      <dgm:t>
        <a:bodyPr/>
        <a:lstStyle/>
        <a:p>
          <a:pPr algn="l"/>
          <a:endParaRPr lang="en-US" dirty="0"/>
        </a:p>
        <a:p>
          <a:pPr algn="ctr"/>
          <a:r>
            <a:rPr lang="en-US" dirty="0"/>
            <a:t>State Source Revenue: </a:t>
          </a:r>
        </a:p>
      </dgm:t>
    </dgm:pt>
    <dgm:pt modelId="{AA68CD0B-2B26-4CDA-B625-DC9FA91072FB}" type="parTrans" cxnId="{7092684A-C0AD-462D-862A-78EF31405BAC}">
      <dgm:prSet/>
      <dgm:spPr/>
      <dgm:t>
        <a:bodyPr/>
        <a:lstStyle/>
        <a:p>
          <a:endParaRPr lang="en-US"/>
        </a:p>
      </dgm:t>
    </dgm:pt>
    <dgm:pt modelId="{8C905C98-B9D8-4140-B296-F00908B238F4}" type="sibTrans" cxnId="{7092684A-C0AD-462D-862A-78EF31405BAC}">
      <dgm:prSet/>
      <dgm:spPr/>
      <dgm:t>
        <a:bodyPr/>
        <a:lstStyle/>
        <a:p>
          <a:endParaRPr lang="en-US"/>
        </a:p>
      </dgm:t>
    </dgm:pt>
    <dgm:pt modelId="{7893C3A3-00C5-4D86-9FF8-EA3E912A3381}">
      <dgm:prSet/>
      <dgm:spPr/>
      <dgm:t>
        <a:bodyPr/>
        <a:lstStyle/>
        <a:p>
          <a:pPr algn="l"/>
          <a:r>
            <a:rPr lang="en-US" dirty="0"/>
            <a:t>Final reductions in section 20f funding</a:t>
          </a:r>
        </a:p>
      </dgm:t>
    </dgm:pt>
    <dgm:pt modelId="{203E42A0-0D3C-46E5-860A-C9BB5B22BF72}" type="parTrans" cxnId="{4405D79A-6C33-4A7E-B7D8-254C5E43D56C}">
      <dgm:prSet/>
      <dgm:spPr/>
      <dgm:t>
        <a:bodyPr/>
        <a:lstStyle/>
        <a:p>
          <a:endParaRPr lang="en-US"/>
        </a:p>
      </dgm:t>
    </dgm:pt>
    <dgm:pt modelId="{CD3DEEC4-A073-429E-A132-AF0E1C958697}" type="sibTrans" cxnId="{4405D79A-6C33-4A7E-B7D8-254C5E43D56C}">
      <dgm:prSet/>
      <dgm:spPr/>
      <dgm:t>
        <a:bodyPr/>
        <a:lstStyle/>
        <a:p>
          <a:endParaRPr lang="en-US"/>
        </a:p>
      </dgm:t>
    </dgm:pt>
    <dgm:pt modelId="{A38FAC81-64A8-4BDF-8309-D105E0C80290}">
      <dgm:prSet/>
      <dgm:spPr/>
      <dgm:t>
        <a:bodyPr/>
        <a:lstStyle/>
        <a:p>
          <a:pPr algn="l"/>
          <a:r>
            <a:rPr lang="en-US" dirty="0"/>
            <a:t>Adjusted to reflect contractual obligations and known FTE adjustments</a:t>
          </a:r>
        </a:p>
      </dgm:t>
    </dgm:pt>
    <dgm:pt modelId="{E6AC10F2-057B-4189-8DAE-1E5288F3049A}" type="parTrans" cxnId="{32C28E94-8A2B-4224-BFE1-3019D17EC51E}">
      <dgm:prSet/>
      <dgm:spPr/>
      <dgm:t>
        <a:bodyPr/>
        <a:lstStyle/>
        <a:p>
          <a:endParaRPr lang="en-US"/>
        </a:p>
      </dgm:t>
    </dgm:pt>
    <dgm:pt modelId="{ABFC3946-4839-4F2E-A137-830ADD9D0F32}" type="sibTrans" cxnId="{32C28E94-8A2B-4224-BFE1-3019D17EC51E}">
      <dgm:prSet/>
      <dgm:spPr/>
      <dgm:t>
        <a:bodyPr/>
        <a:lstStyle/>
        <a:p>
          <a:endParaRPr lang="en-US"/>
        </a:p>
      </dgm:t>
    </dgm:pt>
    <dgm:pt modelId="{39DAB3E4-B393-4473-9387-3CF0DEA0B9E2}">
      <dgm:prSet/>
      <dgm:spPr/>
      <dgm:t>
        <a:bodyPr/>
        <a:lstStyle/>
        <a:p>
          <a:pPr algn="l"/>
          <a:r>
            <a:rPr lang="en-US" dirty="0"/>
            <a:t>Adjusted to meet program needs</a:t>
          </a:r>
        </a:p>
      </dgm:t>
    </dgm:pt>
    <dgm:pt modelId="{3DA11430-7092-4F7C-84CE-CEA644143717}" type="parTrans" cxnId="{25C8095E-51F7-4B8B-8142-1FB46CBC183A}">
      <dgm:prSet/>
      <dgm:spPr/>
      <dgm:t>
        <a:bodyPr/>
        <a:lstStyle/>
        <a:p>
          <a:endParaRPr lang="en-US"/>
        </a:p>
      </dgm:t>
    </dgm:pt>
    <dgm:pt modelId="{3910D66B-B6B9-4F7A-A681-9BF1A558828D}" type="sibTrans" cxnId="{25C8095E-51F7-4B8B-8142-1FB46CBC183A}">
      <dgm:prSet/>
      <dgm:spPr/>
      <dgm:t>
        <a:bodyPr/>
        <a:lstStyle/>
        <a:p>
          <a:endParaRPr lang="en-US"/>
        </a:p>
      </dgm:t>
    </dgm:pt>
    <dgm:pt modelId="{D8704AE1-6050-463D-9570-A99C0F50E7BD}">
      <dgm:prSet/>
      <dgm:spPr/>
      <dgm:t>
        <a:bodyPr/>
        <a:lstStyle/>
        <a:p>
          <a:pPr algn="l"/>
          <a:r>
            <a:rPr lang="en-US" dirty="0"/>
            <a:t> Includes the 2024-25 obligation </a:t>
          </a:r>
        </a:p>
        <a:p>
          <a:pPr algn="l"/>
          <a:r>
            <a:rPr lang="en-US" dirty="0"/>
            <a:t>for TLC debt </a:t>
          </a:r>
        </a:p>
      </dgm:t>
    </dgm:pt>
    <dgm:pt modelId="{47EA848C-8DC6-4669-8707-A84E1F67890F}" type="parTrans" cxnId="{52253055-BEEA-4B4D-805B-05128996AB47}">
      <dgm:prSet/>
      <dgm:spPr/>
      <dgm:t>
        <a:bodyPr/>
        <a:lstStyle/>
        <a:p>
          <a:endParaRPr lang="en-US"/>
        </a:p>
      </dgm:t>
    </dgm:pt>
    <dgm:pt modelId="{0A7F6358-F49A-4425-9659-1D7E86277B41}" type="sibTrans" cxnId="{52253055-BEEA-4B4D-805B-05128996AB47}">
      <dgm:prSet/>
      <dgm:spPr/>
      <dgm:t>
        <a:bodyPr/>
        <a:lstStyle/>
        <a:p>
          <a:endParaRPr lang="en-US"/>
        </a:p>
      </dgm:t>
    </dgm:pt>
    <dgm:pt modelId="{0D3C5A89-6AA8-49F5-8C2A-0226EBE1E453}">
      <dgm:prSet/>
      <dgm:spPr/>
      <dgm:t>
        <a:bodyPr/>
        <a:lstStyle/>
        <a:p>
          <a:pPr algn="l"/>
          <a:r>
            <a:rPr lang="en-US" dirty="0"/>
            <a:t>Property tax revenue adjusted to reflect increasing property values </a:t>
          </a:r>
        </a:p>
      </dgm:t>
    </dgm:pt>
    <dgm:pt modelId="{88782D3D-8336-4784-BDA7-DA6F4D69D05D}" type="parTrans" cxnId="{1A468330-3A95-4702-A401-E3B4A2FAE10C}">
      <dgm:prSet/>
      <dgm:spPr/>
      <dgm:t>
        <a:bodyPr/>
        <a:lstStyle/>
        <a:p>
          <a:endParaRPr lang="en-US"/>
        </a:p>
      </dgm:t>
    </dgm:pt>
    <dgm:pt modelId="{DFEB953F-9BC0-4172-A7AC-178323943C5E}" type="sibTrans" cxnId="{1A468330-3A95-4702-A401-E3B4A2FAE10C}">
      <dgm:prSet/>
      <dgm:spPr/>
      <dgm:t>
        <a:bodyPr/>
        <a:lstStyle/>
        <a:p>
          <a:endParaRPr lang="en-US"/>
        </a:p>
      </dgm:t>
    </dgm:pt>
    <dgm:pt modelId="{EDA61071-5A3C-4EB5-80B1-64A1B6DFFA22}">
      <dgm:prSet/>
      <dgm:spPr/>
      <dgm:t>
        <a:bodyPr/>
        <a:lstStyle/>
        <a:p>
          <a:pPr algn="l"/>
          <a:r>
            <a:rPr lang="en-US" dirty="0"/>
            <a:t>$3.0 million ESSER Equalization (11t) reduction</a:t>
          </a:r>
        </a:p>
      </dgm:t>
    </dgm:pt>
    <dgm:pt modelId="{0890D585-1A63-4A2B-8560-63E05804B7D7}" type="parTrans" cxnId="{6D78BAB0-4CC6-4963-8726-6125AA0C49D4}">
      <dgm:prSet/>
      <dgm:spPr/>
    </dgm:pt>
    <dgm:pt modelId="{DFA87DCE-FB3E-43AA-8186-3C8955C9C930}" type="sibTrans" cxnId="{6D78BAB0-4CC6-4963-8726-6125AA0C49D4}">
      <dgm:prSet/>
      <dgm:spPr/>
    </dgm:pt>
    <dgm:pt modelId="{53B200EE-AEF5-4153-B610-BBE83196E21C}">
      <dgm:prSet/>
      <dgm:spPr/>
      <dgm:t>
        <a:bodyPr/>
        <a:lstStyle/>
        <a:p>
          <a:pPr algn="l"/>
          <a:r>
            <a:rPr lang="en-US" dirty="0"/>
            <a:t>Investment revenue decline</a:t>
          </a:r>
        </a:p>
      </dgm:t>
    </dgm:pt>
    <dgm:pt modelId="{8CC7BF7A-6A39-4C85-9861-084D17B23384}" type="parTrans" cxnId="{308D9D6E-1AFD-4197-B5BF-FCBAACB549EB}">
      <dgm:prSet/>
      <dgm:spPr/>
    </dgm:pt>
    <dgm:pt modelId="{AFDB4000-9F12-47CA-8B52-D25261264179}" type="sibTrans" cxnId="{308D9D6E-1AFD-4197-B5BF-FCBAACB549EB}">
      <dgm:prSet/>
      <dgm:spPr/>
    </dgm:pt>
    <dgm:pt modelId="{8C3735AF-752F-44A1-8641-E0444B443E4B}">
      <dgm:prSet/>
      <dgm:spPr/>
      <dgm:t>
        <a:bodyPr/>
        <a:lstStyle/>
        <a:p>
          <a:pPr algn="l"/>
          <a:r>
            <a:rPr lang="en-US" dirty="0"/>
            <a:t>Material reduction in 31aa funding ($1.4 million)  </a:t>
          </a:r>
        </a:p>
      </dgm:t>
    </dgm:pt>
    <dgm:pt modelId="{E3F6D009-4608-43A1-A1D0-20FD409355B6}" type="parTrans" cxnId="{D5485227-B4A7-4FEF-B553-65889243B4EB}">
      <dgm:prSet/>
      <dgm:spPr/>
    </dgm:pt>
    <dgm:pt modelId="{D7A67C31-22F5-4333-9487-960E29043DF5}" type="sibTrans" cxnId="{D5485227-B4A7-4FEF-B553-65889243B4EB}">
      <dgm:prSet/>
      <dgm:spPr/>
    </dgm:pt>
    <dgm:pt modelId="{41995D6E-F73D-40D9-B05D-A592EBA9EFC2}">
      <dgm:prSet/>
      <dgm:spPr/>
      <dgm:t>
        <a:bodyPr/>
        <a:lstStyle/>
        <a:p>
          <a:pPr algn="l"/>
          <a:r>
            <a:rPr lang="en-US" dirty="0"/>
            <a:t>Health Insurance: PA 152 hard cap rate effective January 1, 2024</a:t>
          </a:r>
        </a:p>
      </dgm:t>
    </dgm:pt>
    <dgm:pt modelId="{FCFF3A6A-B1CF-40F9-B09D-5592D995C4C5}" type="parTrans" cxnId="{3118A4D1-E2FF-4704-BE0D-05F4F262BD19}">
      <dgm:prSet/>
      <dgm:spPr/>
    </dgm:pt>
    <dgm:pt modelId="{5AD1E70B-9434-4605-A545-942F56B86CB6}" type="sibTrans" cxnId="{3118A4D1-E2FF-4704-BE0D-05F4F262BD19}">
      <dgm:prSet/>
      <dgm:spPr/>
    </dgm:pt>
    <dgm:pt modelId="{06F8B67F-F365-44DF-8029-1ED3E64F2189}" type="pres">
      <dgm:prSet presAssocID="{A357A432-3554-4B62-8BB4-8132471F6B3E}" presName="diagram" presStyleCnt="0">
        <dgm:presLayoutVars>
          <dgm:dir/>
          <dgm:resizeHandles val="exact"/>
        </dgm:presLayoutVars>
      </dgm:prSet>
      <dgm:spPr/>
    </dgm:pt>
    <dgm:pt modelId="{9D48B2F5-0142-488C-A2CB-E2580AD9E459}" type="pres">
      <dgm:prSet presAssocID="{4672BB1D-E4C0-4FE9-B1C4-0955250BDA31}" presName="node" presStyleLbl="node1" presStyleIdx="0" presStyleCnt="9">
        <dgm:presLayoutVars>
          <dgm:bulletEnabled val="1"/>
        </dgm:presLayoutVars>
      </dgm:prSet>
      <dgm:spPr/>
    </dgm:pt>
    <dgm:pt modelId="{56A818F3-CD9A-40D4-9024-155E93C6EED2}" type="pres">
      <dgm:prSet presAssocID="{40E17627-80F8-4318-B18B-DCDEBF1A7D91}" presName="sibTrans" presStyleCnt="0"/>
      <dgm:spPr/>
    </dgm:pt>
    <dgm:pt modelId="{15C818E6-378C-4431-946C-BE5D01F92962}" type="pres">
      <dgm:prSet presAssocID="{AAD4C9C9-831E-45F6-B8F7-0A459A131886}" presName="node" presStyleLbl="node1" presStyleIdx="1" presStyleCnt="9">
        <dgm:presLayoutVars>
          <dgm:bulletEnabled val="1"/>
        </dgm:presLayoutVars>
      </dgm:prSet>
      <dgm:spPr/>
    </dgm:pt>
    <dgm:pt modelId="{81B4EC10-CCA6-48A4-A2E3-4C8A0F41383E}" type="pres">
      <dgm:prSet presAssocID="{2A00A5FB-56E5-4C1C-9DEE-191B5D618D89}" presName="sibTrans" presStyleCnt="0"/>
      <dgm:spPr/>
    </dgm:pt>
    <dgm:pt modelId="{F300B483-F648-4D97-9536-DC7CE6FA6430}" type="pres">
      <dgm:prSet presAssocID="{4279B3BC-83EA-4A37-B341-5CBF2EF809F3}" presName="node" presStyleLbl="node1" presStyleIdx="2" presStyleCnt="9">
        <dgm:presLayoutVars>
          <dgm:bulletEnabled val="1"/>
        </dgm:presLayoutVars>
      </dgm:prSet>
      <dgm:spPr/>
    </dgm:pt>
    <dgm:pt modelId="{D72D8A02-7DCB-4A4D-8192-E7A5A802B41A}" type="pres">
      <dgm:prSet presAssocID="{8C905C98-B9D8-4140-B296-F00908B238F4}" presName="sibTrans" presStyleCnt="0"/>
      <dgm:spPr/>
    </dgm:pt>
    <dgm:pt modelId="{B4CB9AE5-44EE-4938-A7F5-B3E97B079557}" type="pres">
      <dgm:prSet presAssocID="{FA335215-D21F-4FD4-9168-33934B84CBFF}" presName="node" presStyleLbl="node1" presStyleIdx="3" presStyleCnt="9">
        <dgm:presLayoutVars>
          <dgm:bulletEnabled val="1"/>
        </dgm:presLayoutVars>
      </dgm:prSet>
      <dgm:spPr/>
    </dgm:pt>
    <dgm:pt modelId="{D15706E1-AA9A-46AB-AE9D-6FDC5A92E2F9}" type="pres">
      <dgm:prSet presAssocID="{3C84700D-461A-4935-A4CC-F5FA362F696B}" presName="sibTrans" presStyleCnt="0"/>
      <dgm:spPr/>
    </dgm:pt>
    <dgm:pt modelId="{AC4871F3-751E-4E49-858B-DBFBA2337AC4}" type="pres">
      <dgm:prSet presAssocID="{D57AE9A0-3A3A-482A-AAEC-42F5962B9B8B}" presName="node" presStyleLbl="node1" presStyleIdx="4" presStyleCnt="9">
        <dgm:presLayoutVars>
          <dgm:bulletEnabled val="1"/>
        </dgm:presLayoutVars>
      </dgm:prSet>
      <dgm:spPr/>
    </dgm:pt>
    <dgm:pt modelId="{856B6615-9CC3-429A-87AB-671FA1898AD8}" type="pres">
      <dgm:prSet presAssocID="{65A9BCF2-21A7-485C-8B54-A7FC3347AE37}" presName="sibTrans" presStyleCnt="0"/>
      <dgm:spPr/>
    </dgm:pt>
    <dgm:pt modelId="{AB1AE4C4-8B15-4C5E-8651-667A3641130D}" type="pres">
      <dgm:prSet presAssocID="{9212F3FE-B48A-49BC-A412-0C98CFABB212}" presName="node" presStyleLbl="node1" presStyleIdx="5" presStyleCnt="9">
        <dgm:presLayoutVars>
          <dgm:bulletEnabled val="1"/>
        </dgm:presLayoutVars>
      </dgm:prSet>
      <dgm:spPr/>
    </dgm:pt>
    <dgm:pt modelId="{19DA0558-287B-4312-A981-B24F295BA2C0}" type="pres">
      <dgm:prSet presAssocID="{4936DC70-53DF-49EA-B18B-0203C7220201}" presName="sibTrans" presStyleCnt="0"/>
      <dgm:spPr/>
    </dgm:pt>
    <dgm:pt modelId="{241DEA59-83A4-4007-AE18-5B4B6DE0B943}" type="pres">
      <dgm:prSet presAssocID="{BE8315E1-49B6-4949-AA6A-7CAC3C7B0C4B}" presName="node" presStyleLbl="node1" presStyleIdx="6" presStyleCnt="9" custLinFactNeighborX="1391" custLinFactNeighborY="-1791">
        <dgm:presLayoutVars>
          <dgm:bulletEnabled val="1"/>
        </dgm:presLayoutVars>
      </dgm:prSet>
      <dgm:spPr/>
    </dgm:pt>
    <dgm:pt modelId="{18B3026B-A7F4-4AA9-9765-E6D3533F4752}" type="pres">
      <dgm:prSet presAssocID="{BFC116D1-044D-4D74-9A19-A478310384BC}" presName="sibTrans" presStyleCnt="0"/>
      <dgm:spPr/>
    </dgm:pt>
    <dgm:pt modelId="{CFBF1278-9B8D-4EE7-B1FE-A40CC027005A}" type="pres">
      <dgm:prSet presAssocID="{6989E973-131C-4523-AC51-AE3EF1246F8C}" presName="node" presStyleLbl="node1" presStyleIdx="7" presStyleCnt="9">
        <dgm:presLayoutVars>
          <dgm:bulletEnabled val="1"/>
        </dgm:presLayoutVars>
      </dgm:prSet>
      <dgm:spPr/>
    </dgm:pt>
    <dgm:pt modelId="{B3DD922A-4518-4E72-A07B-C9E66072A1E0}" type="pres">
      <dgm:prSet presAssocID="{9BCDAD78-4805-4E33-BD04-AB759A436A7F}" presName="sibTrans" presStyleCnt="0"/>
      <dgm:spPr/>
    </dgm:pt>
    <dgm:pt modelId="{1B884D43-4DCE-45EB-8360-CD7130E35FE7}" type="pres">
      <dgm:prSet presAssocID="{2E866650-AADC-49F0-9350-442AEC6C82B2}" presName="node" presStyleLbl="node1" presStyleIdx="8" presStyleCnt="9">
        <dgm:presLayoutVars>
          <dgm:bulletEnabled val="1"/>
        </dgm:presLayoutVars>
      </dgm:prSet>
      <dgm:spPr/>
    </dgm:pt>
  </dgm:ptLst>
  <dgm:cxnLst>
    <dgm:cxn modelId="{68FFCA01-E145-4D4F-A010-0231966FD66C}" srcId="{A357A432-3554-4B62-8BB4-8132471F6B3E}" destId="{BE8315E1-49B6-4949-AA6A-7CAC3C7B0C4B}" srcOrd="6" destOrd="0" parTransId="{DEB6AA8F-DAB6-4893-AB2C-4D942715DC08}" sibTransId="{BFC116D1-044D-4D74-9A19-A478310384BC}"/>
    <dgm:cxn modelId="{3F8A8004-7BB4-4426-BD38-439F69690231}" type="presOf" srcId="{4279B3BC-83EA-4A37-B341-5CBF2EF809F3}" destId="{F300B483-F648-4D97-9536-DC7CE6FA6430}" srcOrd="0" destOrd="0" presId="urn:microsoft.com/office/officeart/2005/8/layout/default"/>
    <dgm:cxn modelId="{25A64F0A-A958-4720-B9B3-8215D4AA2847}" type="presOf" srcId="{D57AE9A0-3A3A-482A-AAEC-42F5962B9B8B}" destId="{AC4871F3-751E-4E49-858B-DBFBA2337AC4}" srcOrd="0" destOrd="0" presId="urn:microsoft.com/office/officeart/2005/8/layout/default"/>
    <dgm:cxn modelId="{F9C1B10B-4708-4C2F-AC1F-247015CE54DC}" type="presOf" srcId="{EDA61071-5A3C-4EB5-80B1-64A1B6DFFA22}" destId="{B4CB9AE5-44EE-4938-A7F5-B3E97B079557}" srcOrd="0" destOrd="1" presId="urn:microsoft.com/office/officeart/2005/8/layout/default"/>
    <dgm:cxn modelId="{3694710E-DA13-4C69-83E8-11DF42663984}" type="presOf" srcId="{A357A432-3554-4B62-8BB4-8132471F6B3E}" destId="{06F8B67F-F365-44DF-8029-1ED3E64F2189}" srcOrd="0" destOrd="0" presId="urn:microsoft.com/office/officeart/2005/8/layout/default"/>
    <dgm:cxn modelId="{1DE9351C-575F-4E76-B260-4DD10738F17C}" srcId="{A357A432-3554-4B62-8BB4-8132471F6B3E}" destId="{2E866650-AADC-49F0-9350-442AEC6C82B2}" srcOrd="8" destOrd="0" parTransId="{846FCA12-7F61-45A9-AE69-81F38DD6EE16}" sibTransId="{E4E682A4-766F-440B-BDFE-5C91E070A3A7}"/>
    <dgm:cxn modelId="{4AEB811D-A1F4-4E6A-92EC-EF94166D7629}" srcId="{A357A432-3554-4B62-8BB4-8132471F6B3E}" destId="{FA335215-D21F-4FD4-9168-33934B84CBFF}" srcOrd="3" destOrd="0" parTransId="{1E58CCAA-0503-49E4-A049-17BD4B540B8E}" sibTransId="{3C84700D-461A-4935-A4CC-F5FA362F696B}"/>
    <dgm:cxn modelId="{D7EC2623-5F35-4F5C-A6D9-092E2928EDBB}" type="presOf" srcId="{41995D6E-F73D-40D9-B05D-A592EBA9EFC2}" destId="{AB1AE4C4-8B15-4C5E-8651-667A3641130D}" srcOrd="0" destOrd="2" presId="urn:microsoft.com/office/officeart/2005/8/layout/default"/>
    <dgm:cxn modelId="{D5485227-B4A7-4FEF-B553-65889243B4EB}" srcId="{4279B3BC-83EA-4A37-B341-5CBF2EF809F3}" destId="{8C3735AF-752F-44A1-8641-E0444B443E4B}" srcOrd="1" destOrd="0" parTransId="{E3F6D009-4608-43A1-A1D0-20FD409355B6}" sibTransId="{D7A67C31-22F5-4333-9487-960E29043DF5}"/>
    <dgm:cxn modelId="{1A468330-3A95-4702-A401-E3B4A2FAE10C}" srcId="{4672BB1D-E4C0-4FE9-B1C4-0955250BDA31}" destId="{0D3C5A89-6AA8-49F5-8C2A-0226EBE1E453}" srcOrd="0" destOrd="0" parTransId="{88782D3D-8336-4784-BDA7-DA6F4D69D05D}" sibTransId="{DFEB953F-9BC0-4172-A7AC-178323943C5E}"/>
    <dgm:cxn modelId="{4B6AE433-3F00-4432-8540-FB7EBBC5F542}" srcId="{A357A432-3554-4B62-8BB4-8132471F6B3E}" destId="{6989E973-131C-4523-AC51-AE3EF1246F8C}" srcOrd="7" destOrd="0" parTransId="{C6877A69-001B-41A0-965D-1A706BE7F5C9}" sibTransId="{9BCDAD78-4805-4E33-BD04-AB759A436A7F}"/>
    <dgm:cxn modelId="{25C8095E-51F7-4B8B-8142-1FB46CBC183A}" srcId="{6989E973-131C-4523-AC51-AE3EF1246F8C}" destId="{39DAB3E4-B393-4473-9387-3CF0DEA0B9E2}" srcOrd="0" destOrd="0" parTransId="{3DA11430-7092-4F7C-84CE-CEA644143717}" sibTransId="{3910D66B-B6B9-4F7A-A681-9BF1A558828D}"/>
    <dgm:cxn modelId="{47297942-B0C4-4DF6-B194-F242E45E8DA5}" type="presOf" srcId="{4D4CB5D7-F11C-49C8-8F87-D642326EEFDF}" destId="{15C818E6-378C-4431-946C-BE5D01F92962}" srcOrd="0" destOrd="2" presId="urn:microsoft.com/office/officeart/2005/8/layout/default"/>
    <dgm:cxn modelId="{7092684A-C0AD-462D-862A-78EF31405BAC}" srcId="{A357A432-3554-4B62-8BB4-8132471F6B3E}" destId="{4279B3BC-83EA-4A37-B341-5CBF2EF809F3}" srcOrd="2" destOrd="0" parTransId="{AA68CD0B-2B26-4CDA-B625-DC9FA91072FB}" sibTransId="{8C905C98-B9D8-4140-B296-F00908B238F4}"/>
    <dgm:cxn modelId="{CAD96E4C-9311-4ECE-A365-B362F0D0B31D}" type="presOf" srcId="{39DAB3E4-B393-4473-9387-3CF0DEA0B9E2}" destId="{CFBF1278-9B8D-4EE7-B1FE-A40CC027005A}" srcOrd="0" destOrd="1" presId="urn:microsoft.com/office/officeart/2005/8/layout/default"/>
    <dgm:cxn modelId="{1E3C9D6C-39AA-4797-91AF-9E50F69B3117}" type="presOf" srcId="{8C3735AF-752F-44A1-8641-E0444B443E4B}" destId="{F300B483-F648-4D97-9536-DC7CE6FA6430}" srcOrd="0" destOrd="2" presId="urn:microsoft.com/office/officeart/2005/8/layout/default"/>
    <dgm:cxn modelId="{308D9D6E-1AFD-4197-B5BF-FCBAACB549EB}" srcId="{4672BB1D-E4C0-4FE9-B1C4-0955250BDA31}" destId="{53B200EE-AEF5-4153-B610-BBE83196E21C}" srcOrd="1" destOrd="0" parTransId="{8CC7BF7A-6A39-4C85-9861-084D17B23384}" sibTransId="{AFDB4000-9F12-47CA-8B52-D25261264179}"/>
    <dgm:cxn modelId="{2B33CB4E-F4A1-47F9-B9BB-0BD0ADD43C98}" srcId="{AAD4C9C9-831E-45F6-B8F7-0A459A131886}" destId="{951572C9-33BE-4C36-9D0D-086A8889F033}" srcOrd="0" destOrd="0" parTransId="{459EC477-CDA8-4593-BF77-BC229AE0653D}" sibTransId="{D698F2F1-5EF0-4E6B-8B8A-33B1E1BA9A89}"/>
    <dgm:cxn modelId="{52253055-BEEA-4B4D-805B-05128996AB47}" srcId="{2E866650-AADC-49F0-9350-442AEC6C82B2}" destId="{D8704AE1-6050-463D-9570-A99C0F50E7BD}" srcOrd="0" destOrd="0" parTransId="{47EA848C-8DC6-4669-8707-A84E1F67890F}" sibTransId="{0A7F6358-F49A-4425-9659-1D7E86277B41}"/>
    <dgm:cxn modelId="{3B11A35A-07AC-48D2-808F-E50B4C7E4374}" type="presOf" srcId="{F5E12E64-8753-4245-96A3-F4EAA8548E89}" destId="{AB1AE4C4-8B15-4C5E-8651-667A3641130D}" srcOrd="0" destOrd="1" presId="urn:microsoft.com/office/officeart/2005/8/layout/default"/>
    <dgm:cxn modelId="{3B7D107F-E2C2-4853-B065-36DD9D82D7E5}" type="presOf" srcId="{C09AD295-A637-4E02-954F-676C91EB664E}" destId="{241DEA59-83A4-4007-AE18-5B4B6DE0B943}" srcOrd="0" destOrd="1" presId="urn:microsoft.com/office/officeart/2005/8/layout/default"/>
    <dgm:cxn modelId="{13711781-B97A-4A6F-87E5-24B22964C001}" type="presOf" srcId="{6989E973-131C-4523-AC51-AE3EF1246F8C}" destId="{CFBF1278-9B8D-4EE7-B1FE-A40CC027005A}" srcOrd="0" destOrd="0" presId="urn:microsoft.com/office/officeart/2005/8/layout/default"/>
    <dgm:cxn modelId="{CCF6CF81-4127-4409-AD90-524B15769D00}" type="presOf" srcId="{FA335215-D21F-4FD4-9168-33934B84CBFF}" destId="{B4CB9AE5-44EE-4938-A7F5-B3E97B079557}" srcOrd="0" destOrd="0" presId="urn:microsoft.com/office/officeart/2005/8/layout/default"/>
    <dgm:cxn modelId="{6E180183-A3B0-46EF-8FD0-369137735D67}" srcId="{A357A432-3554-4B62-8BB4-8132471F6B3E}" destId="{9212F3FE-B48A-49BC-A412-0C98CFABB212}" srcOrd="5" destOrd="0" parTransId="{89DEDD90-0121-4B3E-AF79-C17287701138}" sibTransId="{4936DC70-53DF-49EA-B18B-0203C7220201}"/>
    <dgm:cxn modelId="{6AE3F389-5BD4-484E-8680-F4F99C1F56B9}" srcId="{AAD4C9C9-831E-45F6-B8F7-0A459A131886}" destId="{4D4CB5D7-F11C-49C8-8F87-D642326EEFDF}" srcOrd="1" destOrd="0" parTransId="{4C5B29F1-71C0-45B4-8765-72E0CE56AC1E}" sibTransId="{A3A178E4-5040-416A-90C4-E46D3EDE1C3B}"/>
    <dgm:cxn modelId="{07DE1290-CB69-4E8C-9803-799A1714DCAE}" type="presOf" srcId="{AAD4C9C9-831E-45F6-B8F7-0A459A131886}" destId="{15C818E6-378C-4431-946C-BE5D01F92962}" srcOrd="0" destOrd="0" presId="urn:microsoft.com/office/officeart/2005/8/layout/default"/>
    <dgm:cxn modelId="{32C28E94-8A2B-4224-BFE1-3019D17EC51E}" srcId="{D57AE9A0-3A3A-482A-AAEC-42F5962B9B8B}" destId="{A38FAC81-64A8-4BDF-8309-D105E0C80290}" srcOrd="0" destOrd="0" parTransId="{E6AC10F2-057B-4189-8DAE-1E5288F3049A}" sibTransId="{ABFC3946-4839-4F2E-A137-830ADD9D0F32}"/>
    <dgm:cxn modelId="{53779E96-7A3C-41AF-8188-3FD072653EEF}" srcId="{A357A432-3554-4B62-8BB4-8132471F6B3E}" destId="{D57AE9A0-3A3A-482A-AAEC-42F5962B9B8B}" srcOrd="4" destOrd="0" parTransId="{E02E7121-0DD7-4666-942F-F75EFE78CDF4}" sibTransId="{65A9BCF2-21A7-485C-8B54-A7FC3347AE37}"/>
    <dgm:cxn modelId="{B6DC6C98-8EDC-432C-BF67-8083596B05EF}" type="presOf" srcId="{D8704AE1-6050-463D-9570-A99C0F50E7BD}" destId="{1B884D43-4DCE-45EB-8360-CD7130E35FE7}" srcOrd="0" destOrd="1" presId="urn:microsoft.com/office/officeart/2005/8/layout/default"/>
    <dgm:cxn modelId="{FDC4B898-C024-440D-97F6-26AA1451D66B}" srcId="{9212F3FE-B48A-49BC-A412-0C98CFABB212}" destId="{F5E12E64-8753-4245-96A3-F4EAA8548E89}" srcOrd="0" destOrd="0" parTransId="{F40981ED-52BB-4889-A1F8-BE8B4BD9F504}" sibTransId="{65D4F6E5-8BAE-42E0-8BCD-2FA881BEC361}"/>
    <dgm:cxn modelId="{4405D79A-6C33-4A7E-B7D8-254C5E43D56C}" srcId="{4279B3BC-83EA-4A37-B341-5CBF2EF809F3}" destId="{7893C3A3-00C5-4D86-9FF8-EA3E912A3381}" srcOrd="0" destOrd="0" parTransId="{203E42A0-0D3C-46E5-860A-C9BB5B22BF72}" sibTransId="{CD3DEEC4-A073-429E-A132-AF0E1C958697}"/>
    <dgm:cxn modelId="{315C269C-824D-4FAD-87DD-48B3EDDD2EA1}" type="presOf" srcId="{2E866650-AADC-49F0-9350-442AEC6C82B2}" destId="{1B884D43-4DCE-45EB-8360-CD7130E35FE7}" srcOrd="0" destOrd="0" presId="urn:microsoft.com/office/officeart/2005/8/layout/default"/>
    <dgm:cxn modelId="{393C949E-795B-445D-8A83-D72081C3FE44}" srcId="{BE8315E1-49B6-4949-AA6A-7CAC3C7B0C4B}" destId="{C09AD295-A637-4E02-954F-676C91EB664E}" srcOrd="0" destOrd="0" parTransId="{D5A1A104-2E38-48EF-BE6D-6BA4A0368458}" sibTransId="{199399BE-0911-406E-B620-EA8BDEB5F154}"/>
    <dgm:cxn modelId="{EEACA5A2-D355-4ECD-9C48-353AB537521B}" type="presOf" srcId="{4672BB1D-E4C0-4FE9-B1C4-0955250BDA31}" destId="{9D48B2F5-0142-488C-A2CB-E2580AD9E459}" srcOrd="0" destOrd="0" presId="urn:microsoft.com/office/officeart/2005/8/layout/default"/>
    <dgm:cxn modelId="{A41CC6A5-02FC-4D1D-BD6E-43C4933BD891}" srcId="{A357A432-3554-4B62-8BB4-8132471F6B3E}" destId="{AAD4C9C9-831E-45F6-B8F7-0A459A131886}" srcOrd="1" destOrd="0" parTransId="{D5C0EED1-A061-4DD5-8757-FCFC26FCE77E}" sibTransId="{2A00A5FB-56E5-4C1C-9DEE-191B5D618D89}"/>
    <dgm:cxn modelId="{6D78BAB0-4CC6-4963-8726-6125AA0C49D4}" srcId="{FA335215-D21F-4FD4-9168-33934B84CBFF}" destId="{EDA61071-5A3C-4EB5-80B1-64A1B6DFFA22}" srcOrd="0" destOrd="0" parTransId="{0890D585-1A63-4A2B-8560-63E05804B7D7}" sibTransId="{DFA87DCE-FB3E-43AA-8186-3C8955C9C930}"/>
    <dgm:cxn modelId="{D5EB46B1-1D4F-4EAE-9E42-A4DAF19C7164}" type="presOf" srcId="{BE8315E1-49B6-4949-AA6A-7CAC3C7B0C4B}" destId="{241DEA59-83A4-4007-AE18-5B4B6DE0B943}" srcOrd="0" destOrd="0" presId="urn:microsoft.com/office/officeart/2005/8/layout/default"/>
    <dgm:cxn modelId="{14DE34B8-8DBB-47D6-9DC8-6DE6E6E8AFDD}" type="presOf" srcId="{A38FAC81-64A8-4BDF-8309-D105E0C80290}" destId="{AC4871F3-751E-4E49-858B-DBFBA2337AC4}" srcOrd="0" destOrd="1" presId="urn:microsoft.com/office/officeart/2005/8/layout/default"/>
    <dgm:cxn modelId="{4D74F3C5-8507-42B7-9493-1CC9FF4C881C}" srcId="{A357A432-3554-4B62-8BB4-8132471F6B3E}" destId="{4672BB1D-E4C0-4FE9-B1C4-0955250BDA31}" srcOrd="0" destOrd="0" parTransId="{424C4EF4-96C4-48EF-8B2D-F204D06D2FDA}" sibTransId="{40E17627-80F8-4318-B18B-DCDEBF1A7D91}"/>
    <dgm:cxn modelId="{56387FC6-631A-470F-BE75-0493AEE1C05E}" type="presOf" srcId="{53B200EE-AEF5-4153-B610-BBE83196E21C}" destId="{9D48B2F5-0142-488C-A2CB-E2580AD9E459}" srcOrd="0" destOrd="2" presId="urn:microsoft.com/office/officeart/2005/8/layout/default"/>
    <dgm:cxn modelId="{510732CA-2CC7-4161-9397-9BF3B134D8EC}" type="presOf" srcId="{9212F3FE-B48A-49BC-A412-0C98CFABB212}" destId="{AB1AE4C4-8B15-4C5E-8651-667A3641130D}" srcOrd="0" destOrd="0" presId="urn:microsoft.com/office/officeart/2005/8/layout/default"/>
    <dgm:cxn modelId="{3118A4D1-E2FF-4704-BE0D-05F4F262BD19}" srcId="{9212F3FE-B48A-49BC-A412-0C98CFABB212}" destId="{41995D6E-F73D-40D9-B05D-A592EBA9EFC2}" srcOrd="1" destOrd="0" parTransId="{FCFF3A6A-B1CF-40F9-B09D-5592D995C4C5}" sibTransId="{5AD1E70B-9434-4605-A545-942F56B86CB6}"/>
    <dgm:cxn modelId="{15709ADA-180F-481C-B1D9-402E2C6F756C}" type="presOf" srcId="{7893C3A3-00C5-4D86-9FF8-EA3E912A3381}" destId="{F300B483-F648-4D97-9536-DC7CE6FA6430}" srcOrd="0" destOrd="1" presId="urn:microsoft.com/office/officeart/2005/8/layout/default"/>
    <dgm:cxn modelId="{9131AEDC-5750-4564-BFB6-DD257B782780}" type="presOf" srcId="{951572C9-33BE-4C36-9D0D-086A8889F033}" destId="{15C818E6-378C-4431-946C-BE5D01F92962}" srcOrd="0" destOrd="1" presId="urn:microsoft.com/office/officeart/2005/8/layout/default"/>
    <dgm:cxn modelId="{0E8EB4EC-96BE-49A8-8F43-9A4036159EBB}" type="presOf" srcId="{0D3C5A89-6AA8-49F5-8C2A-0226EBE1E453}" destId="{9D48B2F5-0142-488C-A2CB-E2580AD9E459}" srcOrd="0" destOrd="1" presId="urn:microsoft.com/office/officeart/2005/8/layout/default"/>
    <dgm:cxn modelId="{35493F8B-A2CC-4705-A3F5-062B8A739A79}" type="presParOf" srcId="{06F8B67F-F365-44DF-8029-1ED3E64F2189}" destId="{9D48B2F5-0142-488C-A2CB-E2580AD9E459}" srcOrd="0" destOrd="0" presId="urn:microsoft.com/office/officeart/2005/8/layout/default"/>
    <dgm:cxn modelId="{0749ED62-E4A8-44F4-8F66-FF845713A3A3}" type="presParOf" srcId="{06F8B67F-F365-44DF-8029-1ED3E64F2189}" destId="{56A818F3-CD9A-40D4-9024-155E93C6EED2}" srcOrd="1" destOrd="0" presId="urn:microsoft.com/office/officeart/2005/8/layout/default"/>
    <dgm:cxn modelId="{50CAE11D-8A2C-44D5-B80E-5DA64069E828}" type="presParOf" srcId="{06F8B67F-F365-44DF-8029-1ED3E64F2189}" destId="{15C818E6-378C-4431-946C-BE5D01F92962}" srcOrd="2" destOrd="0" presId="urn:microsoft.com/office/officeart/2005/8/layout/default"/>
    <dgm:cxn modelId="{395C5552-D1A4-4AAE-9D34-6C9056EA0D20}" type="presParOf" srcId="{06F8B67F-F365-44DF-8029-1ED3E64F2189}" destId="{81B4EC10-CCA6-48A4-A2E3-4C8A0F41383E}" srcOrd="3" destOrd="0" presId="urn:microsoft.com/office/officeart/2005/8/layout/default"/>
    <dgm:cxn modelId="{BEFD44E0-7C15-495F-BB86-53D843C592C5}" type="presParOf" srcId="{06F8B67F-F365-44DF-8029-1ED3E64F2189}" destId="{F300B483-F648-4D97-9536-DC7CE6FA6430}" srcOrd="4" destOrd="0" presId="urn:microsoft.com/office/officeart/2005/8/layout/default"/>
    <dgm:cxn modelId="{D8EF4485-60A7-4124-B159-50DD0A6FE2D3}" type="presParOf" srcId="{06F8B67F-F365-44DF-8029-1ED3E64F2189}" destId="{D72D8A02-7DCB-4A4D-8192-E7A5A802B41A}" srcOrd="5" destOrd="0" presId="urn:microsoft.com/office/officeart/2005/8/layout/default"/>
    <dgm:cxn modelId="{C91BA2E4-2560-4F0A-82EB-6B3C4E7A3B12}" type="presParOf" srcId="{06F8B67F-F365-44DF-8029-1ED3E64F2189}" destId="{B4CB9AE5-44EE-4938-A7F5-B3E97B079557}" srcOrd="6" destOrd="0" presId="urn:microsoft.com/office/officeart/2005/8/layout/default"/>
    <dgm:cxn modelId="{7A2D3CED-5553-44EF-A857-90C7582D73FA}" type="presParOf" srcId="{06F8B67F-F365-44DF-8029-1ED3E64F2189}" destId="{D15706E1-AA9A-46AB-AE9D-6FDC5A92E2F9}" srcOrd="7" destOrd="0" presId="urn:microsoft.com/office/officeart/2005/8/layout/default"/>
    <dgm:cxn modelId="{CDFA76C8-D948-4AB2-81CC-F99DF88F141C}" type="presParOf" srcId="{06F8B67F-F365-44DF-8029-1ED3E64F2189}" destId="{AC4871F3-751E-4E49-858B-DBFBA2337AC4}" srcOrd="8" destOrd="0" presId="urn:microsoft.com/office/officeart/2005/8/layout/default"/>
    <dgm:cxn modelId="{FBAD42CD-1F22-49F4-8C31-10296A14F7DD}" type="presParOf" srcId="{06F8B67F-F365-44DF-8029-1ED3E64F2189}" destId="{856B6615-9CC3-429A-87AB-671FA1898AD8}" srcOrd="9" destOrd="0" presId="urn:microsoft.com/office/officeart/2005/8/layout/default"/>
    <dgm:cxn modelId="{3CD12FBC-5F6C-4156-84EE-B447E14C5144}" type="presParOf" srcId="{06F8B67F-F365-44DF-8029-1ED3E64F2189}" destId="{AB1AE4C4-8B15-4C5E-8651-667A3641130D}" srcOrd="10" destOrd="0" presId="urn:microsoft.com/office/officeart/2005/8/layout/default"/>
    <dgm:cxn modelId="{A7EE3B2E-1436-4BED-9846-AB66C71FCA0F}" type="presParOf" srcId="{06F8B67F-F365-44DF-8029-1ED3E64F2189}" destId="{19DA0558-287B-4312-A981-B24F295BA2C0}" srcOrd="11" destOrd="0" presId="urn:microsoft.com/office/officeart/2005/8/layout/default"/>
    <dgm:cxn modelId="{20E9BCFE-8EC3-48DB-A2D6-9F5177FB12D9}" type="presParOf" srcId="{06F8B67F-F365-44DF-8029-1ED3E64F2189}" destId="{241DEA59-83A4-4007-AE18-5B4B6DE0B943}" srcOrd="12" destOrd="0" presId="urn:microsoft.com/office/officeart/2005/8/layout/default"/>
    <dgm:cxn modelId="{1B465D40-7842-44D0-90BA-224391C2C852}" type="presParOf" srcId="{06F8B67F-F365-44DF-8029-1ED3E64F2189}" destId="{18B3026B-A7F4-4AA9-9765-E6D3533F4752}" srcOrd="13" destOrd="0" presId="urn:microsoft.com/office/officeart/2005/8/layout/default"/>
    <dgm:cxn modelId="{EFA82A61-990F-4341-A3F3-28CE4A9DE8EC}" type="presParOf" srcId="{06F8B67F-F365-44DF-8029-1ED3E64F2189}" destId="{CFBF1278-9B8D-4EE7-B1FE-A40CC027005A}" srcOrd="14" destOrd="0" presId="urn:microsoft.com/office/officeart/2005/8/layout/default"/>
    <dgm:cxn modelId="{AF15B1E2-F211-463D-A401-761FAB527B69}" type="presParOf" srcId="{06F8B67F-F365-44DF-8029-1ED3E64F2189}" destId="{B3DD922A-4518-4E72-A07B-C9E66072A1E0}" srcOrd="15" destOrd="0" presId="urn:microsoft.com/office/officeart/2005/8/layout/default"/>
    <dgm:cxn modelId="{0034D30D-5B3D-4E6F-A4FA-3EF4EF1C7E97}" type="presParOf" srcId="{06F8B67F-F365-44DF-8029-1ED3E64F2189}" destId="{1B884D43-4DCE-45EB-8360-CD7130E35FE7}"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1A05F6-DC78-49A2-8948-777278C44141}"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1300E52B-3993-44BF-8C55-084068311506}">
      <dgm:prSet/>
      <dgm:spPr/>
      <dgm:t>
        <a:bodyPr/>
        <a:lstStyle/>
        <a:p>
          <a:r>
            <a:rPr lang="en-US" dirty="0"/>
            <a:t>2019 Capital Projects Bond Funds </a:t>
          </a:r>
        </a:p>
        <a:p>
          <a:r>
            <a:rPr lang="en-US" dirty="0"/>
            <a:t>Accounts for the bond proceeds, investment earnings and expenses associated with the District’s 2019 bond projects. </a:t>
          </a:r>
        </a:p>
      </dgm:t>
    </dgm:pt>
    <dgm:pt modelId="{E0C2A61B-03C5-4BBF-96DC-4AB5F7527166}" type="parTrans" cxnId="{49D0FEDF-19FC-4762-BF63-C09AE355CFF7}">
      <dgm:prSet/>
      <dgm:spPr/>
      <dgm:t>
        <a:bodyPr/>
        <a:lstStyle/>
        <a:p>
          <a:endParaRPr lang="en-US"/>
        </a:p>
      </dgm:t>
    </dgm:pt>
    <dgm:pt modelId="{A4ABDF7F-F3F1-4F31-9CAD-6389DBBBEF84}" type="sibTrans" cxnId="{49D0FEDF-19FC-4762-BF63-C09AE355CFF7}">
      <dgm:prSet/>
      <dgm:spPr/>
      <dgm:t>
        <a:bodyPr/>
        <a:lstStyle/>
        <a:p>
          <a:endParaRPr lang="en-US"/>
        </a:p>
      </dgm:t>
    </dgm:pt>
    <dgm:pt modelId="{D9365C7B-6853-4C0F-8CBB-51D09D1748BC}">
      <dgm:prSet/>
      <dgm:spPr/>
      <dgm:t>
        <a:bodyPr/>
        <a:lstStyle/>
        <a:p>
          <a:r>
            <a:rPr lang="en-US" dirty="0"/>
            <a:t>Sinking Fund </a:t>
          </a:r>
        </a:p>
        <a:p>
          <a:r>
            <a:rPr lang="en-US" dirty="0"/>
            <a:t>Accounts for the revenue and expenses associated with the District’s sinking fund millage.</a:t>
          </a:r>
        </a:p>
      </dgm:t>
    </dgm:pt>
    <dgm:pt modelId="{4668AE72-17CA-41DB-8234-398BC7523FC4}" type="parTrans" cxnId="{1EB30EA5-8FBA-403D-B6CE-C202AF568A4E}">
      <dgm:prSet/>
      <dgm:spPr/>
      <dgm:t>
        <a:bodyPr/>
        <a:lstStyle/>
        <a:p>
          <a:endParaRPr lang="en-US"/>
        </a:p>
      </dgm:t>
    </dgm:pt>
    <dgm:pt modelId="{C2B99A1B-2DE7-49C6-9B8E-BBE4537E6D42}" type="sibTrans" cxnId="{1EB30EA5-8FBA-403D-B6CE-C202AF568A4E}">
      <dgm:prSet/>
      <dgm:spPr/>
      <dgm:t>
        <a:bodyPr/>
        <a:lstStyle/>
        <a:p>
          <a:endParaRPr lang="en-US"/>
        </a:p>
      </dgm:t>
    </dgm:pt>
    <dgm:pt modelId="{E88C5D6B-2E66-49A5-8A0C-2AAA1AEF3AB6}">
      <dgm:prSet/>
      <dgm:spPr/>
      <dgm:t>
        <a:bodyPr/>
        <a:lstStyle/>
        <a:p>
          <a:r>
            <a:rPr lang="en-US" dirty="0"/>
            <a:t>2023 Capital Projects Fund</a:t>
          </a:r>
        </a:p>
        <a:p>
          <a:r>
            <a:rPr lang="en-US" dirty="0"/>
            <a:t>Accounts for bond proceeds, investment earnings and expenses associated with the District’s 2023 bond projects.</a:t>
          </a:r>
        </a:p>
      </dgm:t>
    </dgm:pt>
    <dgm:pt modelId="{A0A00B23-C906-4F93-947F-7F13EDBC0655}" type="parTrans" cxnId="{7A011826-102F-4489-BB9F-35E548DB342F}">
      <dgm:prSet/>
      <dgm:spPr/>
      <dgm:t>
        <a:bodyPr/>
        <a:lstStyle/>
        <a:p>
          <a:endParaRPr lang="en-US"/>
        </a:p>
      </dgm:t>
    </dgm:pt>
    <dgm:pt modelId="{D9CC0812-E0AC-4ADC-ADAC-BB202A4B6F19}" type="sibTrans" cxnId="{7A011826-102F-4489-BB9F-35E548DB342F}">
      <dgm:prSet/>
      <dgm:spPr/>
      <dgm:t>
        <a:bodyPr/>
        <a:lstStyle/>
        <a:p>
          <a:endParaRPr lang="en-US"/>
        </a:p>
      </dgm:t>
    </dgm:pt>
    <dgm:pt modelId="{AFC4A047-5C91-4FAB-8B9C-177D9CBB0BBE}" type="pres">
      <dgm:prSet presAssocID="{6B1A05F6-DC78-49A2-8948-777278C44141}" presName="vert0" presStyleCnt="0">
        <dgm:presLayoutVars>
          <dgm:dir/>
          <dgm:animOne val="branch"/>
          <dgm:animLvl val="lvl"/>
        </dgm:presLayoutVars>
      </dgm:prSet>
      <dgm:spPr/>
    </dgm:pt>
    <dgm:pt modelId="{CDBB90A9-639C-4DFE-86DC-345955CB23F8}" type="pres">
      <dgm:prSet presAssocID="{1300E52B-3993-44BF-8C55-084068311506}" presName="thickLine" presStyleLbl="alignNode1" presStyleIdx="0" presStyleCnt="3"/>
      <dgm:spPr/>
    </dgm:pt>
    <dgm:pt modelId="{7A491099-BECE-4B6A-BB5C-3DE93624E1DB}" type="pres">
      <dgm:prSet presAssocID="{1300E52B-3993-44BF-8C55-084068311506}" presName="horz1" presStyleCnt="0"/>
      <dgm:spPr/>
    </dgm:pt>
    <dgm:pt modelId="{5A50A499-55AF-4199-950F-E614714A20CF}" type="pres">
      <dgm:prSet presAssocID="{1300E52B-3993-44BF-8C55-084068311506}" presName="tx1" presStyleLbl="revTx" presStyleIdx="0" presStyleCnt="3"/>
      <dgm:spPr/>
    </dgm:pt>
    <dgm:pt modelId="{8B838EBC-31A0-494B-9691-E759275C133A}" type="pres">
      <dgm:prSet presAssocID="{1300E52B-3993-44BF-8C55-084068311506}" presName="vert1" presStyleCnt="0"/>
      <dgm:spPr/>
    </dgm:pt>
    <dgm:pt modelId="{55474B76-DD0D-476B-AB68-0FC884BCE6FD}" type="pres">
      <dgm:prSet presAssocID="{E88C5D6B-2E66-49A5-8A0C-2AAA1AEF3AB6}" presName="thickLine" presStyleLbl="alignNode1" presStyleIdx="1" presStyleCnt="3"/>
      <dgm:spPr/>
    </dgm:pt>
    <dgm:pt modelId="{10CED44E-AA6D-4AE4-862C-75C2BBAAA46F}" type="pres">
      <dgm:prSet presAssocID="{E88C5D6B-2E66-49A5-8A0C-2AAA1AEF3AB6}" presName="horz1" presStyleCnt="0"/>
      <dgm:spPr/>
    </dgm:pt>
    <dgm:pt modelId="{901D2945-9A54-4ADD-AFD2-F4132A3537B0}" type="pres">
      <dgm:prSet presAssocID="{E88C5D6B-2E66-49A5-8A0C-2AAA1AEF3AB6}" presName="tx1" presStyleLbl="revTx" presStyleIdx="1" presStyleCnt="3"/>
      <dgm:spPr/>
    </dgm:pt>
    <dgm:pt modelId="{B576A4A7-3C64-4175-BC70-05B70EF9E874}" type="pres">
      <dgm:prSet presAssocID="{E88C5D6B-2E66-49A5-8A0C-2AAA1AEF3AB6}" presName="vert1" presStyleCnt="0"/>
      <dgm:spPr/>
    </dgm:pt>
    <dgm:pt modelId="{E88A8653-0166-45F6-886D-91BB88406907}" type="pres">
      <dgm:prSet presAssocID="{D9365C7B-6853-4C0F-8CBB-51D09D1748BC}" presName="thickLine" presStyleLbl="alignNode1" presStyleIdx="2" presStyleCnt="3"/>
      <dgm:spPr/>
    </dgm:pt>
    <dgm:pt modelId="{A70131EC-604B-4715-A484-3F6F959B503B}" type="pres">
      <dgm:prSet presAssocID="{D9365C7B-6853-4C0F-8CBB-51D09D1748BC}" presName="horz1" presStyleCnt="0"/>
      <dgm:spPr/>
    </dgm:pt>
    <dgm:pt modelId="{0664327D-C467-475B-8880-AFD35DB4EEA6}" type="pres">
      <dgm:prSet presAssocID="{D9365C7B-6853-4C0F-8CBB-51D09D1748BC}" presName="tx1" presStyleLbl="revTx" presStyleIdx="2" presStyleCnt="3"/>
      <dgm:spPr/>
    </dgm:pt>
    <dgm:pt modelId="{6234BA56-1A2A-40AC-B48C-E0B4D40DB111}" type="pres">
      <dgm:prSet presAssocID="{D9365C7B-6853-4C0F-8CBB-51D09D1748BC}" presName="vert1" presStyleCnt="0"/>
      <dgm:spPr/>
    </dgm:pt>
  </dgm:ptLst>
  <dgm:cxnLst>
    <dgm:cxn modelId="{7A011826-102F-4489-BB9F-35E548DB342F}" srcId="{6B1A05F6-DC78-49A2-8948-777278C44141}" destId="{E88C5D6B-2E66-49A5-8A0C-2AAA1AEF3AB6}" srcOrd="1" destOrd="0" parTransId="{A0A00B23-C906-4F93-947F-7F13EDBC0655}" sibTransId="{D9CC0812-E0AC-4ADC-ADAC-BB202A4B6F19}"/>
    <dgm:cxn modelId="{3010C057-9A9E-4CE9-871F-A6FF8EA09338}" type="presOf" srcId="{D9365C7B-6853-4C0F-8CBB-51D09D1748BC}" destId="{0664327D-C467-475B-8880-AFD35DB4EEA6}" srcOrd="0" destOrd="0" presId="urn:microsoft.com/office/officeart/2008/layout/LinedList"/>
    <dgm:cxn modelId="{1EB30EA5-8FBA-403D-B6CE-C202AF568A4E}" srcId="{6B1A05F6-DC78-49A2-8948-777278C44141}" destId="{D9365C7B-6853-4C0F-8CBB-51D09D1748BC}" srcOrd="2" destOrd="0" parTransId="{4668AE72-17CA-41DB-8234-398BC7523FC4}" sibTransId="{C2B99A1B-2DE7-49C6-9B8E-BBE4537E6D42}"/>
    <dgm:cxn modelId="{0AE8CBD9-1CFC-4D52-B490-42F27D50538C}" type="presOf" srcId="{6B1A05F6-DC78-49A2-8948-777278C44141}" destId="{AFC4A047-5C91-4FAB-8B9C-177D9CBB0BBE}" srcOrd="0" destOrd="0" presId="urn:microsoft.com/office/officeart/2008/layout/LinedList"/>
    <dgm:cxn modelId="{49D0FEDF-19FC-4762-BF63-C09AE355CFF7}" srcId="{6B1A05F6-DC78-49A2-8948-777278C44141}" destId="{1300E52B-3993-44BF-8C55-084068311506}" srcOrd="0" destOrd="0" parTransId="{E0C2A61B-03C5-4BBF-96DC-4AB5F7527166}" sibTransId="{A4ABDF7F-F3F1-4F31-9CAD-6389DBBBEF84}"/>
    <dgm:cxn modelId="{8C1050E3-BAE6-4744-9341-5DFC09F81C9A}" type="presOf" srcId="{1300E52B-3993-44BF-8C55-084068311506}" destId="{5A50A499-55AF-4199-950F-E614714A20CF}" srcOrd="0" destOrd="0" presId="urn:microsoft.com/office/officeart/2008/layout/LinedList"/>
    <dgm:cxn modelId="{0CC59BE7-47A4-4A99-9179-1323AAA8EC1F}" type="presOf" srcId="{E88C5D6B-2E66-49A5-8A0C-2AAA1AEF3AB6}" destId="{901D2945-9A54-4ADD-AFD2-F4132A3537B0}" srcOrd="0" destOrd="0" presId="urn:microsoft.com/office/officeart/2008/layout/LinedList"/>
    <dgm:cxn modelId="{E54FD628-ABBE-4DC1-9220-4333062BC629}" type="presParOf" srcId="{AFC4A047-5C91-4FAB-8B9C-177D9CBB0BBE}" destId="{CDBB90A9-639C-4DFE-86DC-345955CB23F8}" srcOrd="0" destOrd="0" presId="urn:microsoft.com/office/officeart/2008/layout/LinedList"/>
    <dgm:cxn modelId="{3C7D2B52-8522-4048-AAB3-DA164EFFF928}" type="presParOf" srcId="{AFC4A047-5C91-4FAB-8B9C-177D9CBB0BBE}" destId="{7A491099-BECE-4B6A-BB5C-3DE93624E1DB}" srcOrd="1" destOrd="0" presId="urn:microsoft.com/office/officeart/2008/layout/LinedList"/>
    <dgm:cxn modelId="{A6579483-9377-416A-A6FE-3FDDE8145957}" type="presParOf" srcId="{7A491099-BECE-4B6A-BB5C-3DE93624E1DB}" destId="{5A50A499-55AF-4199-950F-E614714A20CF}" srcOrd="0" destOrd="0" presId="urn:microsoft.com/office/officeart/2008/layout/LinedList"/>
    <dgm:cxn modelId="{869BE183-1C17-4FE1-8B5D-9AB10CC909DD}" type="presParOf" srcId="{7A491099-BECE-4B6A-BB5C-3DE93624E1DB}" destId="{8B838EBC-31A0-494B-9691-E759275C133A}" srcOrd="1" destOrd="0" presId="urn:microsoft.com/office/officeart/2008/layout/LinedList"/>
    <dgm:cxn modelId="{9E6A25C7-E46E-4E49-B193-0DED12F93D92}" type="presParOf" srcId="{AFC4A047-5C91-4FAB-8B9C-177D9CBB0BBE}" destId="{55474B76-DD0D-476B-AB68-0FC884BCE6FD}" srcOrd="2" destOrd="0" presId="urn:microsoft.com/office/officeart/2008/layout/LinedList"/>
    <dgm:cxn modelId="{DA6A773C-334F-47DA-9D10-9181C14AA8B6}" type="presParOf" srcId="{AFC4A047-5C91-4FAB-8B9C-177D9CBB0BBE}" destId="{10CED44E-AA6D-4AE4-862C-75C2BBAAA46F}" srcOrd="3" destOrd="0" presId="urn:microsoft.com/office/officeart/2008/layout/LinedList"/>
    <dgm:cxn modelId="{C9D5885E-F39C-44DC-845D-7401F43A1295}" type="presParOf" srcId="{10CED44E-AA6D-4AE4-862C-75C2BBAAA46F}" destId="{901D2945-9A54-4ADD-AFD2-F4132A3537B0}" srcOrd="0" destOrd="0" presId="urn:microsoft.com/office/officeart/2008/layout/LinedList"/>
    <dgm:cxn modelId="{4FADA342-F151-4619-B82C-D8A282454821}" type="presParOf" srcId="{10CED44E-AA6D-4AE4-862C-75C2BBAAA46F}" destId="{B576A4A7-3C64-4175-BC70-05B70EF9E874}" srcOrd="1" destOrd="0" presId="urn:microsoft.com/office/officeart/2008/layout/LinedList"/>
    <dgm:cxn modelId="{E057BDF1-F481-4320-A5DA-93D51CE8C148}" type="presParOf" srcId="{AFC4A047-5C91-4FAB-8B9C-177D9CBB0BBE}" destId="{E88A8653-0166-45F6-886D-91BB88406907}" srcOrd="4" destOrd="0" presId="urn:microsoft.com/office/officeart/2008/layout/LinedList"/>
    <dgm:cxn modelId="{E5E6366E-A718-4756-B405-2091A07EFAE8}" type="presParOf" srcId="{AFC4A047-5C91-4FAB-8B9C-177D9CBB0BBE}" destId="{A70131EC-604B-4715-A484-3F6F959B503B}" srcOrd="5" destOrd="0" presId="urn:microsoft.com/office/officeart/2008/layout/LinedList"/>
    <dgm:cxn modelId="{B3D59BDA-89F7-450C-9EF4-EA2FE602E862}" type="presParOf" srcId="{A70131EC-604B-4715-A484-3F6F959B503B}" destId="{0664327D-C467-475B-8880-AFD35DB4EEA6}" srcOrd="0" destOrd="0" presId="urn:microsoft.com/office/officeart/2008/layout/LinedList"/>
    <dgm:cxn modelId="{7203ACC5-0914-4535-B7B2-0BA582AFBE69}" type="presParOf" srcId="{A70131EC-604B-4715-A484-3F6F959B503B}" destId="{6234BA56-1A2A-40AC-B48C-E0B4D40DB111}"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1A05F6-DC78-49A2-8948-777278C44141}" type="doc">
      <dgm:prSet loTypeId="urn:microsoft.com/office/officeart/2008/layout/LinedList" loCatId="list" qsTypeId="urn:microsoft.com/office/officeart/2005/8/quickstyle/simple1" qsCatId="simple" csTypeId="urn:microsoft.com/office/officeart/2005/8/colors/accent3_2" csCatId="accent3" phldr="1"/>
      <dgm:spPr/>
      <dgm:t>
        <a:bodyPr/>
        <a:lstStyle/>
        <a:p>
          <a:endParaRPr lang="en-US"/>
        </a:p>
      </dgm:t>
    </dgm:pt>
    <dgm:pt modelId="{1300E52B-3993-44BF-8C55-084068311506}">
      <dgm:prSet/>
      <dgm:spPr/>
      <dgm:t>
        <a:bodyPr/>
        <a:lstStyle/>
        <a:p>
          <a:r>
            <a:rPr lang="en-US" dirty="0"/>
            <a:t>Food Service Fund  </a:t>
          </a:r>
        </a:p>
        <a:p>
          <a:r>
            <a:rPr lang="en-US" dirty="0"/>
            <a:t>Accounts for revenue and expenses associated with the District’s food service program.</a:t>
          </a:r>
        </a:p>
      </dgm:t>
    </dgm:pt>
    <dgm:pt modelId="{E0C2A61B-03C5-4BBF-96DC-4AB5F7527166}" type="parTrans" cxnId="{49D0FEDF-19FC-4762-BF63-C09AE355CFF7}">
      <dgm:prSet/>
      <dgm:spPr/>
      <dgm:t>
        <a:bodyPr/>
        <a:lstStyle/>
        <a:p>
          <a:endParaRPr lang="en-US"/>
        </a:p>
      </dgm:t>
    </dgm:pt>
    <dgm:pt modelId="{A4ABDF7F-F3F1-4F31-9CAD-6389DBBBEF84}" type="sibTrans" cxnId="{49D0FEDF-19FC-4762-BF63-C09AE355CFF7}">
      <dgm:prSet/>
      <dgm:spPr/>
      <dgm:t>
        <a:bodyPr/>
        <a:lstStyle/>
        <a:p>
          <a:endParaRPr lang="en-US"/>
        </a:p>
      </dgm:t>
    </dgm:pt>
    <dgm:pt modelId="{D9365C7B-6853-4C0F-8CBB-51D09D1748BC}">
      <dgm:prSet/>
      <dgm:spPr/>
      <dgm:t>
        <a:bodyPr/>
        <a:lstStyle/>
        <a:p>
          <a:r>
            <a:rPr lang="en-US" dirty="0"/>
            <a:t>Community Service Fund  </a:t>
          </a:r>
        </a:p>
        <a:p>
          <a:r>
            <a:rPr lang="en-US" dirty="0"/>
            <a:t>Accounts for revenue and expenses associated with the District’s fee for service programs, including CARE company and community recreation .</a:t>
          </a:r>
        </a:p>
      </dgm:t>
    </dgm:pt>
    <dgm:pt modelId="{4668AE72-17CA-41DB-8234-398BC7523FC4}" type="parTrans" cxnId="{1EB30EA5-8FBA-403D-B6CE-C202AF568A4E}">
      <dgm:prSet/>
      <dgm:spPr/>
      <dgm:t>
        <a:bodyPr/>
        <a:lstStyle/>
        <a:p>
          <a:endParaRPr lang="en-US"/>
        </a:p>
      </dgm:t>
    </dgm:pt>
    <dgm:pt modelId="{C2B99A1B-2DE7-49C6-9B8E-BBE4537E6D42}" type="sibTrans" cxnId="{1EB30EA5-8FBA-403D-B6CE-C202AF568A4E}">
      <dgm:prSet/>
      <dgm:spPr/>
      <dgm:t>
        <a:bodyPr/>
        <a:lstStyle/>
        <a:p>
          <a:endParaRPr lang="en-US"/>
        </a:p>
      </dgm:t>
    </dgm:pt>
    <dgm:pt modelId="{3532D91F-4DAC-44ED-A50D-5BFF3533DECC}">
      <dgm:prSet/>
      <dgm:spPr/>
      <dgm:t>
        <a:bodyPr/>
        <a:lstStyle/>
        <a:p>
          <a:r>
            <a:rPr lang="en-US" dirty="0"/>
            <a:t>Troy Preschool Fund </a:t>
          </a:r>
        </a:p>
        <a:p>
          <a:r>
            <a:rPr lang="en-US" dirty="0"/>
            <a:t> Accounts for the revenue and expenses associated with the operation of the Troy School District Preschool program.</a:t>
          </a:r>
        </a:p>
      </dgm:t>
    </dgm:pt>
    <dgm:pt modelId="{BF38D0F7-BB47-4F69-8779-2C95C4EA9172}" type="parTrans" cxnId="{C07A4B47-DE9E-42CC-AD76-E31923D2C674}">
      <dgm:prSet/>
      <dgm:spPr/>
      <dgm:t>
        <a:bodyPr/>
        <a:lstStyle/>
        <a:p>
          <a:endParaRPr lang="en-US"/>
        </a:p>
      </dgm:t>
    </dgm:pt>
    <dgm:pt modelId="{D818DFA4-6629-42CA-B50D-F50B841EC135}" type="sibTrans" cxnId="{C07A4B47-DE9E-42CC-AD76-E31923D2C674}">
      <dgm:prSet/>
      <dgm:spPr/>
      <dgm:t>
        <a:bodyPr/>
        <a:lstStyle/>
        <a:p>
          <a:endParaRPr lang="en-US"/>
        </a:p>
      </dgm:t>
    </dgm:pt>
    <dgm:pt modelId="{F6E18089-6850-4255-AE74-E61898E09447}">
      <dgm:prSet/>
      <dgm:spPr/>
      <dgm:t>
        <a:bodyPr/>
        <a:lstStyle/>
        <a:p>
          <a:r>
            <a:rPr lang="en-US" dirty="0"/>
            <a:t>Troy School and Student Activities Fund </a:t>
          </a:r>
        </a:p>
        <a:p>
          <a:r>
            <a:rPr lang="en-US" dirty="0"/>
            <a:t>Accounts for the transactions of student groups for school and school-related purposes.</a:t>
          </a:r>
        </a:p>
      </dgm:t>
    </dgm:pt>
    <dgm:pt modelId="{FFEEC117-1EB4-450C-ABE5-0866AC9CED7E}" type="parTrans" cxnId="{B11AB477-53FE-4B3A-AFE6-5DD627CCA54A}">
      <dgm:prSet/>
      <dgm:spPr/>
      <dgm:t>
        <a:bodyPr/>
        <a:lstStyle/>
        <a:p>
          <a:endParaRPr lang="en-US"/>
        </a:p>
      </dgm:t>
    </dgm:pt>
    <dgm:pt modelId="{DE2511B9-4544-4477-A9A4-1F47FD13AC9F}" type="sibTrans" cxnId="{B11AB477-53FE-4B3A-AFE6-5DD627CCA54A}">
      <dgm:prSet/>
      <dgm:spPr/>
      <dgm:t>
        <a:bodyPr/>
        <a:lstStyle/>
        <a:p>
          <a:endParaRPr lang="en-US"/>
        </a:p>
      </dgm:t>
    </dgm:pt>
    <dgm:pt modelId="{E88C5D6B-2E66-49A5-8A0C-2AAA1AEF3AB6}">
      <dgm:prSet/>
      <dgm:spPr/>
      <dgm:t>
        <a:bodyPr/>
        <a:lstStyle/>
        <a:p>
          <a:r>
            <a:rPr lang="en-US" dirty="0"/>
            <a:t>TCC Grant Fund                                                                               </a:t>
          </a:r>
        </a:p>
        <a:p>
          <a:r>
            <a:rPr lang="en-US" dirty="0"/>
            <a:t>Accounts for the revenue and expenses associated with operations of the Troy Career Center (Michigan Works! Troy)</a:t>
          </a:r>
        </a:p>
      </dgm:t>
    </dgm:pt>
    <dgm:pt modelId="{A0A00B23-C906-4F93-947F-7F13EDBC0655}" type="parTrans" cxnId="{7A011826-102F-4489-BB9F-35E548DB342F}">
      <dgm:prSet/>
      <dgm:spPr/>
      <dgm:t>
        <a:bodyPr/>
        <a:lstStyle/>
        <a:p>
          <a:endParaRPr lang="en-US"/>
        </a:p>
      </dgm:t>
    </dgm:pt>
    <dgm:pt modelId="{D9CC0812-E0AC-4ADC-ADAC-BB202A4B6F19}" type="sibTrans" cxnId="{7A011826-102F-4489-BB9F-35E548DB342F}">
      <dgm:prSet/>
      <dgm:spPr/>
      <dgm:t>
        <a:bodyPr/>
        <a:lstStyle/>
        <a:p>
          <a:endParaRPr lang="en-US"/>
        </a:p>
      </dgm:t>
    </dgm:pt>
    <dgm:pt modelId="{AFC4A047-5C91-4FAB-8B9C-177D9CBB0BBE}" type="pres">
      <dgm:prSet presAssocID="{6B1A05F6-DC78-49A2-8948-777278C44141}" presName="vert0" presStyleCnt="0">
        <dgm:presLayoutVars>
          <dgm:dir/>
          <dgm:animOne val="branch"/>
          <dgm:animLvl val="lvl"/>
        </dgm:presLayoutVars>
      </dgm:prSet>
      <dgm:spPr/>
    </dgm:pt>
    <dgm:pt modelId="{CDBB90A9-639C-4DFE-86DC-345955CB23F8}" type="pres">
      <dgm:prSet presAssocID="{1300E52B-3993-44BF-8C55-084068311506}" presName="thickLine" presStyleLbl="alignNode1" presStyleIdx="0" presStyleCnt="5"/>
      <dgm:spPr/>
    </dgm:pt>
    <dgm:pt modelId="{7A491099-BECE-4B6A-BB5C-3DE93624E1DB}" type="pres">
      <dgm:prSet presAssocID="{1300E52B-3993-44BF-8C55-084068311506}" presName="horz1" presStyleCnt="0"/>
      <dgm:spPr/>
    </dgm:pt>
    <dgm:pt modelId="{5A50A499-55AF-4199-950F-E614714A20CF}" type="pres">
      <dgm:prSet presAssocID="{1300E52B-3993-44BF-8C55-084068311506}" presName="tx1" presStyleLbl="revTx" presStyleIdx="0" presStyleCnt="5"/>
      <dgm:spPr/>
    </dgm:pt>
    <dgm:pt modelId="{8B838EBC-31A0-494B-9691-E759275C133A}" type="pres">
      <dgm:prSet presAssocID="{1300E52B-3993-44BF-8C55-084068311506}" presName="vert1" presStyleCnt="0"/>
      <dgm:spPr/>
    </dgm:pt>
    <dgm:pt modelId="{55474B76-DD0D-476B-AB68-0FC884BCE6FD}" type="pres">
      <dgm:prSet presAssocID="{E88C5D6B-2E66-49A5-8A0C-2AAA1AEF3AB6}" presName="thickLine" presStyleLbl="alignNode1" presStyleIdx="1" presStyleCnt="5"/>
      <dgm:spPr/>
    </dgm:pt>
    <dgm:pt modelId="{10CED44E-AA6D-4AE4-862C-75C2BBAAA46F}" type="pres">
      <dgm:prSet presAssocID="{E88C5D6B-2E66-49A5-8A0C-2AAA1AEF3AB6}" presName="horz1" presStyleCnt="0"/>
      <dgm:spPr/>
    </dgm:pt>
    <dgm:pt modelId="{901D2945-9A54-4ADD-AFD2-F4132A3537B0}" type="pres">
      <dgm:prSet presAssocID="{E88C5D6B-2E66-49A5-8A0C-2AAA1AEF3AB6}" presName="tx1" presStyleLbl="revTx" presStyleIdx="1" presStyleCnt="5"/>
      <dgm:spPr/>
    </dgm:pt>
    <dgm:pt modelId="{B576A4A7-3C64-4175-BC70-05B70EF9E874}" type="pres">
      <dgm:prSet presAssocID="{E88C5D6B-2E66-49A5-8A0C-2AAA1AEF3AB6}" presName="vert1" presStyleCnt="0"/>
      <dgm:spPr/>
    </dgm:pt>
    <dgm:pt modelId="{E88A8653-0166-45F6-886D-91BB88406907}" type="pres">
      <dgm:prSet presAssocID="{D9365C7B-6853-4C0F-8CBB-51D09D1748BC}" presName="thickLine" presStyleLbl="alignNode1" presStyleIdx="2" presStyleCnt="5"/>
      <dgm:spPr/>
    </dgm:pt>
    <dgm:pt modelId="{A70131EC-604B-4715-A484-3F6F959B503B}" type="pres">
      <dgm:prSet presAssocID="{D9365C7B-6853-4C0F-8CBB-51D09D1748BC}" presName="horz1" presStyleCnt="0"/>
      <dgm:spPr/>
    </dgm:pt>
    <dgm:pt modelId="{0664327D-C467-475B-8880-AFD35DB4EEA6}" type="pres">
      <dgm:prSet presAssocID="{D9365C7B-6853-4C0F-8CBB-51D09D1748BC}" presName="tx1" presStyleLbl="revTx" presStyleIdx="2" presStyleCnt="5"/>
      <dgm:spPr/>
    </dgm:pt>
    <dgm:pt modelId="{6234BA56-1A2A-40AC-B48C-E0B4D40DB111}" type="pres">
      <dgm:prSet presAssocID="{D9365C7B-6853-4C0F-8CBB-51D09D1748BC}" presName="vert1" presStyleCnt="0"/>
      <dgm:spPr/>
    </dgm:pt>
    <dgm:pt modelId="{19D4C6EA-23CB-4DF7-ACFC-073DDEDB026C}" type="pres">
      <dgm:prSet presAssocID="{3532D91F-4DAC-44ED-A50D-5BFF3533DECC}" presName="thickLine" presStyleLbl="alignNode1" presStyleIdx="3" presStyleCnt="5"/>
      <dgm:spPr/>
    </dgm:pt>
    <dgm:pt modelId="{512E25C5-2986-4A18-BBDD-71AA8E6120A9}" type="pres">
      <dgm:prSet presAssocID="{3532D91F-4DAC-44ED-A50D-5BFF3533DECC}" presName="horz1" presStyleCnt="0"/>
      <dgm:spPr/>
    </dgm:pt>
    <dgm:pt modelId="{92D4CAE4-8073-4946-A89F-237ABF12EDF1}" type="pres">
      <dgm:prSet presAssocID="{3532D91F-4DAC-44ED-A50D-5BFF3533DECC}" presName="tx1" presStyleLbl="revTx" presStyleIdx="3" presStyleCnt="5"/>
      <dgm:spPr/>
    </dgm:pt>
    <dgm:pt modelId="{D1797C24-EB1E-4776-8B7F-65641680B18A}" type="pres">
      <dgm:prSet presAssocID="{3532D91F-4DAC-44ED-A50D-5BFF3533DECC}" presName="vert1" presStyleCnt="0"/>
      <dgm:spPr/>
    </dgm:pt>
    <dgm:pt modelId="{692BE9C9-E498-48D1-BC47-0B503B955CEB}" type="pres">
      <dgm:prSet presAssocID="{F6E18089-6850-4255-AE74-E61898E09447}" presName="thickLine" presStyleLbl="alignNode1" presStyleIdx="4" presStyleCnt="5"/>
      <dgm:spPr/>
    </dgm:pt>
    <dgm:pt modelId="{8D2A8586-BB73-412A-99C8-FA1B974BA904}" type="pres">
      <dgm:prSet presAssocID="{F6E18089-6850-4255-AE74-E61898E09447}" presName="horz1" presStyleCnt="0"/>
      <dgm:spPr/>
    </dgm:pt>
    <dgm:pt modelId="{FE1A4092-0ABC-4EE1-A9B4-7208DE5452CD}" type="pres">
      <dgm:prSet presAssocID="{F6E18089-6850-4255-AE74-E61898E09447}" presName="tx1" presStyleLbl="revTx" presStyleIdx="4" presStyleCnt="5"/>
      <dgm:spPr/>
    </dgm:pt>
    <dgm:pt modelId="{BCCE0096-3F4E-4757-BDB7-26069DE64164}" type="pres">
      <dgm:prSet presAssocID="{F6E18089-6850-4255-AE74-E61898E09447}" presName="vert1" presStyleCnt="0"/>
      <dgm:spPr/>
    </dgm:pt>
  </dgm:ptLst>
  <dgm:cxnLst>
    <dgm:cxn modelId="{7A011826-102F-4489-BB9F-35E548DB342F}" srcId="{6B1A05F6-DC78-49A2-8948-777278C44141}" destId="{E88C5D6B-2E66-49A5-8A0C-2AAA1AEF3AB6}" srcOrd="1" destOrd="0" parTransId="{A0A00B23-C906-4F93-947F-7F13EDBC0655}" sibTransId="{D9CC0812-E0AC-4ADC-ADAC-BB202A4B6F19}"/>
    <dgm:cxn modelId="{C07A4B47-DE9E-42CC-AD76-E31923D2C674}" srcId="{6B1A05F6-DC78-49A2-8948-777278C44141}" destId="{3532D91F-4DAC-44ED-A50D-5BFF3533DECC}" srcOrd="3" destOrd="0" parTransId="{BF38D0F7-BB47-4F69-8779-2C95C4EA9172}" sibTransId="{D818DFA4-6629-42CA-B50D-F50B841EC135}"/>
    <dgm:cxn modelId="{B11AB477-53FE-4B3A-AFE6-5DD627CCA54A}" srcId="{6B1A05F6-DC78-49A2-8948-777278C44141}" destId="{F6E18089-6850-4255-AE74-E61898E09447}" srcOrd="4" destOrd="0" parTransId="{FFEEC117-1EB4-450C-ABE5-0866AC9CED7E}" sibTransId="{DE2511B9-4544-4477-A9A4-1F47FD13AC9F}"/>
    <dgm:cxn modelId="{3010C057-9A9E-4CE9-871F-A6FF8EA09338}" type="presOf" srcId="{D9365C7B-6853-4C0F-8CBB-51D09D1748BC}" destId="{0664327D-C467-475B-8880-AFD35DB4EEA6}" srcOrd="0" destOrd="0" presId="urn:microsoft.com/office/officeart/2008/layout/LinedList"/>
    <dgm:cxn modelId="{1EB30EA5-8FBA-403D-B6CE-C202AF568A4E}" srcId="{6B1A05F6-DC78-49A2-8948-777278C44141}" destId="{D9365C7B-6853-4C0F-8CBB-51D09D1748BC}" srcOrd="2" destOrd="0" parTransId="{4668AE72-17CA-41DB-8234-398BC7523FC4}" sibTransId="{C2B99A1B-2DE7-49C6-9B8E-BBE4537E6D42}"/>
    <dgm:cxn modelId="{393E1CAB-AA2A-459F-9178-F513411A7331}" type="presOf" srcId="{F6E18089-6850-4255-AE74-E61898E09447}" destId="{FE1A4092-0ABC-4EE1-A9B4-7208DE5452CD}" srcOrd="0" destOrd="0" presId="urn:microsoft.com/office/officeart/2008/layout/LinedList"/>
    <dgm:cxn modelId="{2AD1A4C6-6A02-48A9-B290-D1B58D750B86}" type="presOf" srcId="{3532D91F-4DAC-44ED-A50D-5BFF3533DECC}" destId="{92D4CAE4-8073-4946-A89F-237ABF12EDF1}" srcOrd="0" destOrd="0" presId="urn:microsoft.com/office/officeart/2008/layout/LinedList"/>
    <dgm:cxn modelId="{0AE8CBD9-1CFC-4D52-B490-42F27D50538C}" type="presOf" srcId="{6B1A05F6-DC78-49A2-8948-777278C44141}" destId="{AFC4A047-5C91-4FAB-8B9C-177D9CBB0BBE}" srcOrd="0" destOrd="0" presId="urn:microsoft.com/office/officeart/2008/layout/LinedList"/>
    <dgm:cxn modelId="{49D0FEDF-19FC-4762-BF63-C09AE355CFF7}" srcId="{6B1A05F6-DC78-49A2-8948-777278C44141}" destId="{1300E52B-3993-44BF-8C55-084068311506}" srcOrd="0" destOrd="0" parTransId="{E0C2A61B-03C5-4BBF-96DC-4AB5F7527166}" sibTransId="{A4ABDF7F-F3F1-4F31-9CAD-6389DBBBEF84}"/>
    <dgm:cxn modelId="{8C1050E3-BAE6-4744-9341-5DFC09F81C9A}" type="presOf" srcId="{1300E52B-3993-44BF-8C55-084068311506}" destId="{5A50A499-55AF-4199-950F-E614714A20CF}" srcOrd="0" destOrd="0" presId="urn:microsoft.com/office/officeart/2008/layout/LinedList"/>
    <dgm:cxn modelId="{0CC59BE7-47A4-4A99-9179-1323AAA8EC1F}" type="presOf" srcId="{E88C5D6B-2E66-49A5-8A0C-2AAA1AEF3AB6}" destId="{901D2945-9A54-4ADD-AFD2-F4132A3537B0}" srcOrd="0" destOrd="0" presId="urn:microsoft.com/office/officeart/2008/layout/LinedList"/>
    <dgm:cxn modelId="{E54FD628-ABBE-4DC1-9220-4333062BC629}" type="presParOf" srcId="{AFC4A047-5C91-4FAB-8B9C-177D9CBB0BBE}" destId="{CDBB90A9-639C-4DFE-86DC-345955CB23F8}" srcOrd="0" destOrd="0" presId="urn:microsoft.com/office/officeart/2008/layout/LinedList"/>
    <dgm:cxn modelId="{3C7D2B52-8522-4048-AAB3-DA164EFFF928}" type="presParOf" srcId="{AFC4A047-5C91-4FAB-8B9C-177D9CBB0BBE}" destId="{7A491099-BECE-4B6A-BB5C-3DE93624E1DB}" srcOrd="1" destOrd="0" presId="urn:microsoft.com/office/officeart/2008/layout/LinedList"/>
    <dgm:cxn modelId="{A6579483-9377-416A-A6FE-3FDDE8145957}" type="presParOf" srcId="{7A491099-BECE-4B6A-BB5C-3DE93624E1DB}" destId="{5A50A499-55AF-4199-950F-E614714A20CF}" srcOrd="0" destOrd="0" presId="urn:microsoft.com/office/officeart/2008/layout/LinedList"/>
    <dgm:cxn modelId="{869BE183-1C17-4FE1-8B5D-9AB10CC909DD}" type="presParOf" srcId="{7A491099-BECE-4B6A-BB5C-3DE93624E1DB}" destId="{8B838EBC-31A0-494B-9691-E759275C133A}" srcOrd="1" destOrd="0" presId="urn:microsoft.com/office/officeart/2008/layout/LinedList"/>
    <dgm:cxn modelId="{9E6A25C7-E46E-4E49-B193-0DED12F93D92}" type="presParOf" srcId="{AFC4A047-5C91-4FAB-8B9C-177D9CBB0BBE}" destId="{55474B76-DD0D-476B-AB68-0FC884BCE6FD}" srcOrd="2" destOrd="0" presId="urn:microsoft.com/office/officeart/2008/layout/LinedList"/>
    <dgm:cxn modelId="{DA6A773C-334F-47DA-9D10-9181C14AA8B6}" type="presParOf" srcId="{AFC4A047-5C91-4FAB-8B9C-177D9CBB0BBE}" destId="{10CED44E-AA6D-4AE4-862C-75C2BBAAA46F}" srcOrd="3" destOrd="0" presId="urn:microsoft.com/office/officeart/2008/layout/LinedList"/>
    <dgm:cxn modelId="{C9D5885E-F39C-44DC-845D-7401F43A1295}" type="presParOf" srcId="{10CED44E-AA6D-4AE4-862C-75C2BBAAA46F}" destId="{901D2945-9A54-4ADD-AFD2-F4132A3537B0}" srcOrd="0" destOrd="0" presId="urn:microsoft.com/office/officeart/2008/layout/LinedList"/>
    <dgm:cxn modelId="{4FADA342-F151-4619-B82C-D8A282454821}" type="presParOf" srcId="{10CED44E-AA6D-4AE4-862C-75C2BBAAA46F}" destId="{B576A4A7-3C64-4175-BC70-05B70EF9E874}" srcOrd="1" destOrd="0" presId="urn:microsoft.com/office/officeart/2008/layout/LinedList"/>
    <dgm:cxn modelId="{E057BDF1-F481-4320-A5DA-93D51CE8C148}" type="presParOf" srcId="{AFC4A047-5C91-4FAB-8B9C-177D9CBB0BBE}" destId="{E88A8653-0166-45F6-886D-91BB88406907}" srcOrd="4" destOrd="0" presId="urn:microsoft.com/office/officeart/2008/layout/LinedList"/>
    <dgm:cxn modelId="{E5E6366E-A718-4756-B405-2091A07EFAE8}" type="presParOf" srcId="{AFC4A047-5C91-4FAB-8B9C-177D9CBB0BBE}" destId="{A70131EC-604B-4715-A484-3F6F959B503B}" srcOrd="5" destOrd="0" presId="urn:microsoft.com/office/officeart/2008/layout/LinedList"/>
    <dgm:cxn modelId="{B3D59BDA-89F7-450C-9EF4-EA2FE602E862}" type="presParOf" srcId="{A70131EC-604B-4715-A484-3F6F959B503B}" destId="{0664327D-C467-475B-8880-AFD35DB4EEA6}" srcOrd="0" destOrd="0" presId="urn:microsoft.com/office/officeart/2008/layout/LinedList"/>
    <dgm:cxn modelId="{7203ACC5-0914-4535-B7B2-0BA582AFBE69}" type="presParOf" srcId="{A70131EC-604B-4715-A484-3F6F959B503B}" destId="{6234BA56-1A2A-40AC-B48C-E0B4D40DB111}" srcOrd="1" destOrd="0" presId="urn:microsoft.com/office/officeart/2008/layout/LinedList"/>
    <dgm:cxn modelId="{106D4959-398A-4836-A9B9-F849E64C7156}" type="presParOf" srcId="{AFC4A047-5C91-4FAB-8B9C-177D9CBB0BBE}" destId="{19D4C6EA-23CB-4DF7-ACFC-073DDEDB026C}" srcOrd="6" destOrd="0" presId="urn:microsoft.com/office/officeart/2008/layout/LinedList"/>
    <dgm:cxn modelId="{DA14FC1C-A2EC-45C7-8843-0EDB69272467}" type="presParOf" srcId="{AFC4A047-5C91-4FAB-8B9C-177D9CBB0BBE}" destId="{512E25C5-2986-4A18-BBDD-71AA8E6120A9}" srcOrd="7" destOrd="0" presId="urn:microsoft.com/office/officeart/2008/layout/LinedList"/>
    <dgm:cxn modelId="{ED279D04-6174-498B-8DDA-B8B74949D320}" type="presParOf" srcId="{512E25C5-2986-4A18-BBDD-71AA8E6120A9}" destId="{92D4CAE4-8073-4946-A89F-237ABF12EDF1}" srcOrd="0" destOrd="0" presId="urn:microsoft.com/office/officeart/2008/layout/LinedList"/>
    <dgm:cxn modelId="{C3F3372C-3DAA-4E97-ADC5-BFB353682DC5}" type="presParOf" srcId="{512E25C5-2986-4A18-BBDD-71AA8E6120A9}" destId="{D1797C24-EB1E-4776-8B7F-65641680B18A}" srcOrd="1" destOrd="0" presId="urn:microsoft.com/office/officeart/2008/layout/LinedList"/>
    <dgm:cxn modelId="{8B4F8975-7322-4620-A721-9AA455CC6DED}" type="presParOf" srcId="{AFC4A047-5C91-4FAB-8B9C-177D9CBB0BBE}" destId="{692BE9C9-E498-48D1-BC47-0B503B955CEB}" srcOrd="8" destOrd="0" presId="urn:microsoft.com/office/officeart/2008/layout/LinedList"/>
    <dgm:cxn modelId="{AC3EC574-9318-4AA7-9B66-A14EA2921C7E}" type="presParOf" srcId="{AFC4A047-5C91-4FAB-8B9C-177D9CBB0BBE}" destId="{8D2A8586-BB73-412A-99C8-FA1B974BA904}" srcOrd="9" destOrd="0" presId="urn:microsoft.com/office/officeart/2008/layout/LinedList"/>
    <dgm:cxn modelId="{27850F31-EBDA-4E7F-BEBB-7CC270A3B6DA}" type="presParOf" srcId="{8D2A8586-BB73-412A-99C8-FA1B974BA904}" destId="{FE1A4092-0ABC-4EE1-A9B4-7208DE5452CD}" srcOrd="0" destOrd="0" presId="urn:microsoft.com/office/officeart/2008/layout/LinedList"/>
    <dgm:cxn modelId="{FDBF77D4-2D7C-43A5-B944-59941DE4C496}" type="presParOf" srcId="{8D2A8586-BB73-412A-99C8-FA1B974BA904}" destId="{BCCE0096-3F4E-4757-BDB7-26069DE64164}"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1263532"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State Source Revenue:</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Categorical funding adjusted to reflect year end expectations  </a:t>
          </a:r>
        </a:p>
        <a:p>
          <a:pPr marL="171450" lvl="1" indent="-171450" algn="l" defTabSz="844550">
            <a:lnSpc>
              <a:spcPct val="90000"/>
            </a:lnSpc>
            <a:spcBef>
              <a:spcPct val="0"/>
            </a:spcBef>
            <a:spcAft>
              <a:spcPct val="15000"/>
            </a:spcAft>
            <a:buChar char="•"/>
          </a:pPr>
          <a:endParaRPr lang="en-US" sz="1900" kern="1200" dirty="0">
            <a:latin typeface="Times New Roman" panose="02020603050405020304" pitchFamily="18" charset="0"/>
            <a:cs typeface="Times New Roman" panose="02020603050405020304" pitchFamily="18" charset="0"/>
          </a:endParaRPr>
        </a:p>
      </dsp:txBody>
      <dsp:txXfrm>
        <a:off x="1263532" y="2306"/>
        <a:ext cx="2969493" cy="1781695"/>
      </dsp:txXfrm>
    </dsp:sp>
    <dsp:sp modelId="{BAA0630F-6FBA-4010-8270-D1F60BDD839F}">
      <dsp:nvSpPr>
        <dsp:cNvPr id="0" name=""/>
        <dsp:cNvSpPr/>
      </dsp:nvSpPr>
      <dsp:spPr>
        <a:xfrm>
          <a:off x="4529974" y="230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Federal Source Revenue: </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Grant funding adjusted to reflect year end expectations </a:t>
          </a:r>
        </a:p>
      </dsp:txBody>
      <dsp:txXfrm>
        <a:off x="4529974" y="2306"/>
        <a:ext cx="2969493" cy="1781695"/>
      </dsp:txXfrm>
    </dsp:sp>
    <dsp:sp modelId="{21BB3C05-0DD2-473F-8D14-A5A9EEE81A80}">
      <dsp:nvSpPr>
        <dsp:cNvPr id="0" name=""/>
        <dsp:cNvSpPr/>
      </dsp:nvSpPr>
      <dsp:spPr>
        <a:xfrm>
          <a:off x="2896753" y="1904153"/>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Interdistrict Source Revenue:</a:t>
          </a:r>
        </a:p>
        <a:p>
          <a:pPr marL="171450" lvl="1" indent="-171450" algn="l"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PA-18 adjustment reflecting year end expectations </a:t>
          </a:r>
        </a:p>
      </dsp:txBody>
      <dsp:txXfrm>
        <a:off x="2896753" y="1904153"/>
        <a:ext cx="2969493" cy="1781695"/>
      </dsp:txXfrm>
    </dsp:sp>
    <dsp:sp modelId="{AB1AE4C4-8B15-4C5E-8651-667A3641130D}">
      <dsp:nvSpPr>
        <dsp:cNvPr id="0" name=""/>
        <dsp:cNvSpPr/>
      </dsp:nvSpPr>
      <dsp:spPr>
        <a:xfrm>
          <a:off x="1181099" y="3885346"/>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All Other Operating Costs:</a:t>
          </a:r>
        </a:p>
        <a:p>
          <a:pPr marL="171450" lvl="1" indent="-171450" algn="ctr" defTabSz="844550">
            <a:lnSpc>
              <a:spcPct val="90000"/>
            </a:lnSpc>
            <a:spcBef>
              <a:spcPct val="0"/>
            </a:spcBef>
            <a:spcAft>
              <a:spcPct val="15000"/>
            </a:spcAft>
            <a:buChar char="•"/>
          </a:pPr>
          <a:r>
            <a:rPr lang="en-US" sz="1900" kern="1200" dirty="0">
              <a:latin typeface="Times New Roman" panose="02020603050405020304" pitchFamily="18" charset="0"/>
              <a:cs typeface="Times New Roman" panose="02020603050405020304" pitchFamily="18" charset="0"/>
            </a:rPr>
            <a:t>Expenditure Budgets Adjusted reflecting year end expectations </a:t>
          </a:r>
        </a:p>
      </dsp:txBody>
      <dsp:txXfrm>
        <a:off x="1181099" y="3885346"/>
        <a:ext cx="2969493" cy="1781695"/>
      </dsp:txXfrm>
    </dsp:sp>
    <dsp:sp modelId="{C57762AF-4C81-4D3E-8D33-C86813AF3458}">
      <dsp:nvSpPr>
        <dsp:cNvPr id="0" name=""/>
        <dsp:cNvSpPr/>
      </dsp:nvSpPr>
      <dsp:spPr>
        <a:xfrm>
          <a:off x="4533894" y="3885340"/>
          <a:ext cx="2969493" cy="178169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Purchased Services</a:t>
          </a:r>
        </a:p>
        <a:p>
          <a:pPr marL="0" lvl="0" indent="0" algn="ctr" defTabSz="1066800">
            <a:lnSpc>
              <a:spcPct val="9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Expenditure budgets adjusted to reflect year end expectations</a:t>
          </a:r>
        </a:p>
      </dsp:txBody>
      <dsp:txXfrm>
        <a:off x="4533894" y="3885340"/>
        <a:ext cx="2969493" cy="17816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48B2F5-0142-488C-A2CB-E2580AD9E459}">
      <dsp:nvSpPr>
        <dsp:cNvPr id="0" name=""/>
        <dsp:cNvSpPr/>
      </dsp:nvSpPr>
      <dsp:spPr>
        <a:xfrm>
          <a:off x="0"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Local Source Revenue:</a:t>
          </a:r>
        </a:p>
        <a:p>
          <a:pPr marL="114300" lvl="1" indent="-114300" algn="l" defTabSz="577850">
            <a:lnSpc>
              <a:spcPct val="90000"/>
            </a:lnSpc>
            <a:spcBef>
              <a:spcPct val="0"/>
            </a:spcBef>
            <a:spcAft>
              <a:spcPct val="15000"/>
            </a:spcAft>
            <a:buChar char="•"/>
          </a:pPr>
          <a:r>
            <a:rPr lang="en-US" sz="1300" kern="1200" dirty="0"/>
            <a:t>Property tax revenue adjusted to reflect increasing property values </a:t>
          </a:r>
        </a:p>
        <a:p>
          <a:pPr marL="114300" lvl="1" indent="-114300" algn="l" defTabSz="577850">
            <a:lnSpc>
              <a:spcPct val="90000"/>
            </a:lnSpc>
            <a:spcBef>
              <a:spcPct val="0"/>
            </a:spcBef>
            <a:spcAft>
              <a:spcPct val="15000"/>
            </a:spcAft>
            <a:buChar char="•"/>
          </a:pPr>
          <a:r>
            <a:rPr lang="en-US" sz="1300" kern="1200" dirty="0"/>
            <a:t>Investment revenue decline</a:t>
          </a:r>
        </a:p>
      </dsp:txBody>
      <dsp:txXfrm>
        <a:off x="0" y="233361"/>
        <a:ext cx="2738437" cy="1643062"/>
      </dsp:txXfrm>
    </dsp:sp>
    <dsp:sp modelId="{15C818E6-378C-4431-946C-BE5D01F92962}">
      <dsp:nvSpPr>
        <dsp:cNvPr id="0" name=""/>
        <dsp:cNvSpPr/>
      </dsp:nvSpPr>
      <dsp:spPr>
        <a:xfrm>
          <a:off x="3012281"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State Source Revenue:</a:t>
          </a:r>
        </a:p>
        <a:p>
          <a:pPr marL="114300" lvl="1" indent="-114300" algn="l" defTabSz="577850">
            <a:lnSpc>
              <a:spcPct val="90000"/>
            </a:lnSpc>
            <a:spcBef>
              <a:spcPct val="0"/>
            </a:spcBef>
            <a:spcAft>
              <a:spcPct val="15000"/>
            </a:spcAft>
            <a:buChar char="•"/>
          </a:pPr>
          <a:r>
            <a:rPr lang="en-US" sz="1300" kern="1200" dirty="0"/>
            <a:t>Enrollment Projection: 12,300 (-70)</a:t>
          </a:r>
        </a:p>
        <a:p>
          <a:pPr marL="114300" lvl="1" indent="-114300" algn="l" defTabSz="577850">
            <a:lnSpc>
              <a:spcPct val="90000"/>
            </a:lnSpc>
            <a:spcBef>
              <a:spcPct val="0"/>
            </a:spcBef>
            <a:spcAft>
              <a:spcPct val="15000"/>
            </a:spcAft>
            <a:buChar char="•"/>
          </a:pPr>
          <a:r>
            <a:rPr lang="en-US" sz="1300" kern="1200" dirty="0"/>
            <a:t>Foundation Allowance: $241 per pupil (Governor’s budget)</a:t>
          </a:r>
        </a:p>
      </dsp:txBody>
      <dsp:txXfrm>
        <a:off x="3012281" y="233361"/>
        <a:ext cx="2738437" cy="1643062"/>
      </dsp:txXfrm>
    </dsp:sp>
    <dsp:sp modelId="{F300B483-F648-4D97-9536-DC7CE6FA6430}">
      <dsp:nvSpPr>
        <dsp:cNvPr id="0" name=""/>
        <dsp:cNvSpPr/>
      </dsp:nvSpPr>
      <dsp:spPr>
        <a:xfrm>
          <a:off x="6024562" y="233361"/>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State Source Revenue: </a:t>
          </a:r>
        </a:p>
        <a:p>
          <a:pPr marL="114300" lvl="1" indent="-114300" algn="l" defTabSz="577850">
            <a:lnSpc>
              <a:spcPct val="90000"/>
            </a:lnSpc>
            <a:spcBef>
              <a:spcPct val="0"/>
            </a:spcBef>
            <a:spcAft>
              <a:spcPct val="15000"/>
            </a:spcAft>
            <a:buChar char="•"/>
          </a:pPr>
          <a:r>
            <a:rPr lang="en-US" sz="1300" kern="1200" dirty="0"/>
            <a:t>Final reductions in section 20f funding</a:t>
          </a:r>
        </a:p>
        <a:p>
          <a:pPr marL="114300" lvl="1" indent="-114300" algn="l" defTabSz="577850">
            <a:lnSpc>
              <a:spcPct val="90000"/>
            </a:lnSpc>
            <a:spcBef>
              <a:spcPct val="0"/>
            </a:spcBef>
            <a:spcAft>
              <a:spcPct val="15000"/>
            </a:spcAft>
            <a:buChar char="•"/>
          </a:pPr>
          <a:r>
            <a:rPr lang="en-US" sz="1300" kern="1200" dirty="0"/>
            <a:t>Material reduction in 31aa funding ($1.4 million)  </a:t>
          </a:r>
        </a:p>
      </dsp:txBody>
      <dsp:txXfrm>
        <a:off x="6024562" y="233361"/>
        <a:ext cx="2738437" cy="1643062"/>
      </dsp:txXfrm>
    </dsp:sp>
    <dsp:sp modelId="{B4CB9AE5-44EE-4938-A7F5-B3E97B079557}">
      <dsp:nvSpPr>
        <dsp:cNvPr id="0" name=""/>
        <dsp:cNvSpPr/>
      </dsp:nvSpPr>
      <dsp:spPr>
        <a:xfrm>
          <a:off x="0"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Federal Source Revenue:</a:t>
          </a:r>
        </a:p>
        <a:p>
          <a:pPr marL="114300" lvl="1" indent="-114300" algn="l" defTabSz="577850">
            <a:lnSpc>
              <a:spcPct val="90000"/>
            </a:lnSpc>
            <a:spcBef>
              <a:spcPct val="0"/>
            </a:spcBef>
            <a:spcAft>
              <a:spcPct val="15000"/>
            </a:spcAft>
            <a:buChar char="•"/>
          </a:pPr>
          <a:r>
            <a:rPr lang="en-US" sz="1300" kern="1200" dirty="0"/>
            <a:t>$3.0 million ESSER Equalization (11t) reduction</a:t>
          </a:r>
        </a:p>
      </dsp:txBody>
      <dsp:txXfrm>
        <a:off x="0" y="2150268"/>
        <a:ext cx="2738437" cy="1643062"/>
      </dsp:txXfrm>
    </dsp:sp>
    <dsp:sp modelId="{AC4871F3-751E-4E49-858B-DBFBA2337AC4}">
      <dsp:nvSpPr>
        <dsp:cNvPr id="0" name=""/>
        <dsp:cNvSpPr/>
      </dsp:nvSpPr>
      <dsp:spPr>
        <a:xfrm>
          <a:off x="3012281"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Salaries:</a:t>
          </a:r>
        </a:p>
        <a:p>
          <a:pPr marL="114300" lvl="1" indent="-114300" algn="l" defTabSz="577850">
            <a:lnSpc>
              <a:spcPct val="90000"/>
            </a:lnSpc>
            <a:spcBef>
              <a:spcPct val="0"/>
            </a:spcBef>
            <a:spcAft>
              <a:spcPct val="15000"/>
            </a:spcAft>
            <a:buChar char="•"/>
          </a:pPr>
          <a:r>
            <a:rPr lang="en-US" sz="1300" kern="1200" dirty="0"/>
            <a:t>Adjusted to reflect contractual obligations and known FTE adjustments</a:t>
          </a:r>
        </a:p>
      </dsp:txBody>
      <dsp:txXfrm>
        <a:off x="3012281" y="2150268"/>
        <a:ext cx="2738437" cy="1643062"/>
      </dsp:txXfrm>
    </dsp:sp>
    <dsp:sp modelId="{AB1AE4C4-8B15-4C5E-8651-667A3641130D}">
      <dsp:nvSpPr>
        <dsp:cNvPr id="0" name=""/>
        <dsp:cNvSpPr/>
      </dsp:nvSpPr>
      <dsp:spPr>
        <a:xfrm>
          <a:off x="6024562" y="2150268"/>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Benefits:</a:t>
          </a:r>
        </a:p>
        <a:p>
          <a:pPr marL="114300" lvl="1" indent="-114300" algn="l" defTabSz="577850">
            <a:lnSpc>
              <a:spcPct val="90000"/>
            </a:lnSpc>
            <a:spcBef>
              <a:spcPct val="0"/>
            </a:spcBef>
            <a:spcAft>
              <a:spcPct val="15000"/>
            </a:spcAft>
            <a:buChar char="•"/>
          </a:pPr>
          <a:r>
            <a:rPr lang="en-US" sz="1300" kern="1200" dirty="0"/>
            <a:t>Retirement: Effective rate increase reflecting new year expectations</a:t>
          </a:r>
        </a:p>
        <a:p>
          <a:pPr marL="114300" lvl="1" indent="-114300" algn="l" defTabSz="577850">
            <a:lnSpc>
              <a:spcPct val="90000"/>
            </a:lnSpc>
            <a:spcBef>
              <a:spcPct val="0"/>
            </a:spcBef>
            <a:spcAft>
              <a:spcPct val="15000"/>
            </a:spcAft>
            <a:buChar char="•"/>
          </a:pPr>
          <a:r>
            <a:rPr lang="en-US" sz="1300" kern="1200" dirty="0"/>
            <a:t>Health Insurance: PA 152 hard cap rate effective January 1, 2024</a:t>
          </a:r>
        </a:p>
      </dsp:txBody>
      <dsp:txXfrm>
        <a:off x="6024562" y="2150268"/>
        <a:ext cx="2738437" cy="1643062"/>
      </dsp:txXfrm>
    </dsp:sp>
    <dsp:sp modelId="{241DEA59-83A4-4007-AE18-5B4B6DE0B943}">
      <dsp:nvSpPr>
        <dsp:cNvPr id="0" name=""/>
        <dsp:cNvSpPr/>
      </dsp:nvSpPr>
      <dsp:spPr>
        <a:xfrm>
          <a:off x="38091" y="4037747"/>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Purchased Services:</a:t>
          </a:r>
        </a:p>
        <a:p>
          <a:pPr marL="114300" lvl="1" indent="-114300" algn="l" defTabSz="577850">
            <a:lnSpc>
              <a:spcPct val="90000"/>
            </a:lnSpc>
            <a:spcBef>
              <a:spcPct val="0"/>
            </a:spcBef>
            <a:spcAft>
              <a:spcPct val="15000"/>
            </a:spcAft>
            <a:buChar char="•"/>
          </a:pPr>
          <a:r>
            <a:rPr lang="en-US" sz="1300" kern="1200" dirty="0"/>
            <a:t>Adjusted to reflect contractual obligations </a:t>
          </a:r>
        </a:p>
      </dsp:txBody>
      <dsp:txXfrm>
        <a:off x="38091" y="4037747"/>
        <a:ext cx="2738437" cy="1643062"/>
      </dsp:txXfrm>
    </dsp:sp>
    <dsp:sp modelId="{CFBF1278-9B8D-4EE7-B1FE-A40CC027005A}">
      <dsp:nvSpPr>
        <dsp:cNvPr id="0" name=""/>
        <dsp:cNvSpPr/>
      </dsp:nvSpPr>
      <dsp:spPr>
        <a:xfrm>
          <a:off x="3012281"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Supplies:</a:t>
          </a:r>
        </a:p>
        <a:p>
          <a:pPr marL="114300" lvl="1" indent="-114300" algn="l" defTabSz="577850">
            <a:lnSpc>
              <a:spcPct val="90000"/>
            </a:lnSpc>
            <a:spcBef>
              <a:spcPct val="0"/>
            </a:spcBef>
            <a:spcAft>
              <a:spcPct val="15000"/>
            </a:spcAft>
            <a:buChar char="•"/>
          </a:pPr>
          <a:r>
            <a:rPr lang="en-US" sz="1300" kern="1200" dirty="0"/>
            <a:t>Adjusted to meet program needs</a:t>
          </a:r>
        </a:p>
      </dsp:txBody>
      <dsp:txXfrm>
        <a:off x="3012281" y="4067174"/>
        <a:ext cx="2738437" cy="1643062"/>
      </dsp:txXfrm>
    </dsp:sp>
    <dsp:sp modelId="{1B884D43-4DCE-45EB-8360-CD7130E35FE7}">
      <dsp:nvSpPr>
        <dsp:cNvPr id="0" name=""/>
        <dsp:cNvSpPr/>
      </dsp:nvSpPr>
      <dsp:spPr>
        <a:xfrm>
          <a:off x="6024562" y="4067174"/>
          <a:ext cx="2738437" cy="164306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Debt Service:</a:t>
          </a:r>
        </a:p>
        <a:p>
          <a:pPr marL="114300" lvl="1" indent="-114300" algn="l" defTabSz="577850">
            <a:lnSpc>
              <a:spcPct val="90000"/>
            </a:lnSpc>
            <a:spcBef>
              <a:spcPct val="0"/>
            </a:spcBef>
            <a:spcAft>
              <a:spcPct val="15000"/>
            </a:spcAft>
            <a:buChar char="•"/>
          </a:pPr>
          <a:r>
            <a:rPr lang="en-US" sz="1300" kern="1200" dirty="0"/>
            <a:t> Includes the 2024-25 obligation </a:t>
          </a:r>
        </a:p>
        <a:p>
          <a:pPr marL="114300" lvl="1" indent="-114300" algn="l" defTabSz="577850">
            <a:lnSpc>
              <a:spcPct val="90000"/>
            </a:lnSpc>
            <a:spcBef>
              <a:spcPct val="0"/>
            </a:spcBef>
            <a:spcAft>
              <a:spcPct val="15000"/>
            </a:spcAft>
            <a:buChar char="•"/>
          </a:pPr>
          <a:r>
            <a:rPr lang="en-US" sz="1300" kern="1200" dirty="0"/>
            <a:t>for TLC debt </a:t>
          </a:r>
        </a:p>
      </dsp:txBody>
      <dsp:txXfrm>
        <a:off x="6024562" y="4067174"/>
        <a:ext cx="2738437" cy="16430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90A9-639C-4DFE-86DC-345955CB23F8}">
      <dsp:nvSpPr>
        <dsp:cNvPr id="0" name=""/>
        <dsp:cNvSpPr/>
      </dsp:nvSpPr>
      <dsp:spPr>
        <a:xfrm>
          <a:off x="0" y="2492"/>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50A499-55AF-4199-950F-E614714A20CF}">
      <dsp:nvSpPr>
        <dsp:cNvPr id="0" name=""/>
        <dsp:cNvSpPr/>
      </dsp:nvSpPr>
      <dsp:spPr>
        <a:xfrm>
          <a:off x="0" y="2492"/>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2019 Capital Projects Bond Funds </a:t>
          </a:r>
        </a:p>
        <a:p>
          <a:pPr marL="0" lvl="0" indent="0" algn="l" defTabSz="889000">
            <a:lnSpc>
              <a:spcPct val="90000"/>
            </a:lnSpc>
            <a:spcBef>
              <a:spcPct val="0"/>
            </a:spcBef>
            <a:spcAft>
              <a:spcPct val="35000"/>
            </a:spcAft>
            <a:buNone/>
          </a:pPr>
          <a:r>
            <a:rPr lang="en-US" sz="2000" kern="1200" dirty="0"/>
            <a:t>Accounts for the bond proceeds, investment earnings and expenses associated with the District’s 2019 bond projects. </a:t>
          </a:r>
        </a:p>
      </dsp:txBody>
      <dsp:txXfrm>
        <a:off x="0" y="2492"/>
        <a:ext cx="4869656" cy="1700138"/>
      </dsp:txXfrm>
    </dsp:sp>
    <dsp:sp modelId="{55474B76-DD0D-476B-AB68-0FC884BCE6FD}">
      <dsp:nvSpPr>
        <dsp:cNvPr id="0" name=""/>
        <dsp:cNvSpPr/>
      </dsp:nvSpPr>
      <dsp:spPr>
        <a:xfrm>
          <a:off x="0" y="1702630"/>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D2945-9A54-4ADD-AFD2-F4132A3537B0}">
      <dsp:nvSpPr>
        <dsp:cNvPr id="0" name=""/>
        <dsp:cNvSpPr/>
      </dsp:nvSpPr>
      <dsp:spPr>
        <a:xfrm>
          <a:off x="0" y="1702630"/>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2023 Capital Projects Fund</a:t>
          </a:r>
        </a:p>
        <a:p>
          <a:pPr marL="0" lvl="0" indent="0" algn="l" defTabSz="889000">
            <a:lnSpc>
              <a:spcPct val="90000"/>
            </a:lnSpc>
            <a:spcBef>
              <a:spcPct val="0"/>
            </a:spcBef>
            <a:spcAft>
              <a:spcPct val="35000"/>
            </a:spcAft>
            <a:buNone/>
          </a:pPr>
          <a:r>
            <a:rPr lang="en-US" sz="2000" kern="1200" dirty="0"/>
            <a:t>Accounts for bond proceeds, investment earnings and expenses associated with the District’s 2023 bond projects.</a:t>
          </a:r>
        </a:p>
      </dsp:txBody>
      <dsp:txXfrm>
        <a:off x="0" y="1702630"/>
        <a:ext cx="4869656" cy="1700138"/>
      </dsp:txXfrm>
    </dsp:sp>
    <dsp:sp modelId="{E88A8653-0166-45F6-886D-91BB88406907}">
      <dsp:nvSpPr>
        <dsp:cNvPr id="0" name=""/>
        <dsp:cNvSpPr/>
      </dsp:nvSpPr>
      <dsp:spPr>
        <a:xfrm>
          <a:off x="0" y="3402769"/>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4327D-C467-475B-8880-AFD35DB4EEA6}">
      <dsp:nvSpPr>
        <dsp:cNvPr id="0" name=""/>
        <dsp:cNvSpPr/>
      </dsp:nvSpPr>
      <dsp:spPr>
        <a:xfrm>
          <a:off x="0" y="3402769"/>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Sinking Fund </a:t>
          </a:r>
        </a:p>
        <a:p>
          <a:pPr marL="0" lvl="0" indent="0" algn="l" defTabSz="889000">
            <a:lnSpc>
              <a:spcPct val="90000"/>
            </a:lnSpc>
            <a:spcBef>
              <a:spcPct val="0"/>
            </a:spcBef>
            <a:spcAft>
              <a:spcPct val="35000"/>
            </a:spcAft>
            <a:buNone/>
          </a:pPr>
          <a:r>
            <a:rPr lang="en-US" sz="2000" kern="1200" dirty="0"/>
            <a:t>Accounts for the revenue and expenses associated with the District’s sinking fund millage.</a:t>
          </a:r>
        </a:p>
      </dsp:txBody>
      <dsp:txXfrm>
        <a:off x="0" y="3402769"/>
        <a:ext cx="4869656" cy="1700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BB90A9-639C-4DFE-86DC-345955CB23F8}">
      <dsp:nvSpPr>
        <dsp:cNvPr id="0" name=""/>
        <dsp:cNvSpPr/>
      </dsp:nvSpPr>
      <dsp:spPr>
        <a:xfrm>
          <a:off x="0" y="623"/>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50A499-55AF-4199-950F-E614714A20CF}">
      <dsp:nvSpPr>
        <dsp:cNvPr id="0" name=""/>
        <dsp:cNvSpPr/>
      </dsp:nvSpPr>
      <dsp:spPr>
        <a:xfrm>
          <a:off x="0" y="623"/>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Food Service Fund  </a:t>
          </a:r>
        </a:p>
        <a:p>
          <a:pPr marL="0" lvl="0" indent="0" algn="l" defTabSz="622300">
            <a:lnSpc>
              <a:spcPct val="90000"/>
            </a:lnSpc>
            <a:spcBef>
              <a:spcPct val="0"/>
            </a:spcBef>
            <a:spcAft>
              <a:spcPct val="35000"/>
            </a:spcAft>
            <a:buNone/>
          </a:pPr>
          <a:r>
            <a:rPr lang="en-US" sz="1400" kern="1200" dirty="0"/>
            <a:t>Accounts for revenue and expenses associated with the District’s food service program.</a:t>
          </a:r>
        </a:p>
      </dsp:txBody>
      <dsp:txXfrm>
        <a:off x="0" y="623"/>
        <a:ext cx="4869656" cy="1020830"/>
      </dsp:txXfrm>
    </dsp:sp>
    <dsp:sp modelId="{55474B76-DD0D-476B-AB68-0FC884BCE6FD}">
      <dsp:nvSpPr>
        <dsp:cNvPr id="0" name=""/>
        <dsp:cNvSpPr/>
      </dsp:nvSpPr>
      <dsp:spPr>
        <a:xfrm>
          <a:off x="0" y="1021453"/>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D2945-9A54-4ADD-AFD2-F4132A3537B0}">
      <dsp:nvSpPr>
        <dsp:cNvPr id="0" name=""/>
        <dsp:cNvSpPr/>
      </dsp:nvSpPr>
      <dsp:spPr>
        <a:xfrm>
          <a:off x="0" y="1021453"/>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TCC Grant Fund                                                                               </a:t>
          </a:r>
        </a:p>
        <a:p>
          <a:pPr marL="0" lvl="0" indent="0" algn="l" defTabSz="622300">
            <a:lnSpc>
              <a:spcPct val="90000"/>
            </a:lnSpc>
            <a:spcBef>
              <a:spcPct val="0"/>
            </a:spcBef>
            <a:spcAft>
              <a:spcPct val="35000"/>
            </a:spcAft>
            <a:buNone/>
          </a:pPr>
          <a:r>
            <a:rPr lang="en-US" sz="1400" kern="1200" dirty="0"/>
            <a:t>Accounts for the revenue and expenses associated with operations of the Troy Career Center (Michigan Works! Troy)</a:t>
          </a:r>
        </a:p>
      </dsp:txBody>
      <dsp:txXfrm>
        <a:off x="0" y="1021453"/>
        <a:ext cx="4869656" cy="1020830"/>
      </dsp:txXfrm>
    </dsp:sp>
    <dsp:sp modelId="{E88A8653-0166-45F6-886D-91BB88406907}">
      <dsp:nvSpPr>
        <dsp:cNvPr id="0" name=""/>
        <dsp:cNvSpPr/>
      </dsp:nvSpPr>
      <dsp:spPr>
        <a:xfrm>
          <a:off x="0" y="2042284"/>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4327D-C467-475B-8880-AFD35DB4EEA6}">
      <dsp:nvSpPr>
        <dsp:cNvPr id="0" name=""/>
        <dsp:cNvSpPr/>
      </dsp:nvSpPr>
      <dsp:spPr>
        <a:xfrm>
          <a:off x="0" y="2042284"/>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Community Service Fund  </a:t>
          </a:r>
        </a:p>
        <a:p>
          <a:pPr marL="0" lvl="0" indent="0" algn="l" defTabSz="622300">
            <a:lnSpc>
              <a:spcPct val="90000"/>
            </a:lnSpc>
            <a:spcBef>
              <a:spcPct val="0"/>
            </a:spcBef>
            <a:spcAft>
              <a:spcPct val="35000"/>
            </a:spcAft>
            <a:buNone/>
          </a:pPr>
          <a:r>
            <a:rPr lang="en-US" sz="1400" kern="1200" dirty="0"/>
            <a:t>Accounts for revenue and expenses associated with the District’s fee for service programs, including CARE company and community recreation .</a:t>
          </a:r>
        </a:p>
      </dsp:txBody>
      <dsp:txXfrm>
        <a:off x="0" y="2042284"/>
        <a:ext cx="4869656" cy="1020830"/>
      </dsp:txXfrm>
    </dsp:sp>
    <dsp:sp modelId="{19D4C6EA-23CB-4DF7-ACFC-073DDEDB026C}">
      <dsp:nvSpPr>
        <dsp:cNvPr id="0" name=""/>
        <dsp:cNvSpPr/>
      </dsp:nvSpPr>
      <dsp:spPr>
        <a:xfrm>
          <a:off x="0" y="3063115"/>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D4CAE4-8073-4946-A89F-237ABF12EDF1}">
      <dsp:nvSpPr>
        <dsp:cNvPr id="0" name=""/>
        <dsp:cNvSpPr/>
      </dsp:nvSpPr>
      <dsp:spPr>
        <a:xfrm>
          <a:off x="0" y="3063115"/>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Troy Preschool Fund </a:t>
          </a:r>
        </a:p>
        <a:p>
          <a:pPr marL="0" lvl="0" indent="0" algn="l" defTabSz="622300">
            <a:lnSpc>
              <a:spcPct val="90000"/>
            </a:lnSpc>
            <a:spcBef>
              <a:spcPct val="0"/>
            </a:spcBef>
            <a:spcAft>
              <a:spcPct val="35000"/>
            </a:spcAft>
            <a:buNone/>
          </a:pPr>
          <a:r>
            <a:rPr lang="en-US" sz="1400" kern="1200" dirty="0"/>
            <a:t> Accounts for the revenue and expenses associated with the operation of the Troy School District Preschool program.</a:t>
          </a:r>
        </a:p>
      </dsp:txBody>
      <dsp:txXfrm>
        <a:off x="0" y="3063115"/>
        <a:ext cx="4869656" cy="1020830"/>
      </dsp:txXfrm>
    </dsp:sp>
    <dsp:sp modelId="{692BE9C9-E498-48D1-BC47-0B503B955CEB}">
      <dsp:nvSpPr>
        <dsp:cNvPr id="0" name=""/>
        <dsp:cNvSpPr/>
      </dsp:nvSpPr>
      <dsp:spPr>
        <a:xfrm>
          <a:off x="0" y="4083946"/>
          <a:ext cx="4869656" cy="0"/>
        </a:xfrm>
        <a:prstGeom prst="line">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1A4092-0ABC-4EE1-A9B4-7208DE5452CD}">
      <dsp:nvSpPr>
        <dsp:cNvPr id="0" name=""/>
        <dsp:cNvSpPr/>
      </dsp:nvSpPr>
      <dsp:spPr>
        <a:xfrm>
          <a:off x="0" y="4083946"/>
          <a:ext cx="4869656" cy="1020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Troy School and Student Activities Fund </a:t>
          </a:r>
        </a:p>
        <a:p>
          <a:pPr marL="0" lvl="0" indent="0" algn="l" defTabSz="622300">
            <a:lnSpc>
              <a:spcPct val="90000"/>
            </a:lnSpc>
            <a:spcBef>
              <a:spcPct val="0"/>
            </a:spcBef>
            <a:spcAft>
              <a:spcPct val="35000"/>
            </a:spcAft>
            <a:buNone/>
          </a:pPr>
          <a:r>
            <a:rPr lang="en-US" sz="1400" kern="1200" dirty="0"/>
            <a:t>Accounts for the transactions of student groups for school and school-related purposes.</a:t>
          </a:r>
        </a:p>
      </dsp:txBody>
      <dsp:txXfrm>
        <a:off x="0" y="4083946"/>
        <a:ext cx="4869656" cy="102083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2738" name="Rectangle 2"/>
          <p:cNvSpPr>
            <a:spLocks noGrp="1" noChangeArrowheads="1"/>
          </p:cNvSpPr>
          <p:nvPr>
            <p:ph type="hdr" sz="quarter"/>
          </p:nvPr>
        </p:nvSpPr>
        <p:spPr bwMode="auto">
          <a:xfrm>
            <a:off x="12"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spcBef>
                <a:spcPct val="20000"/>
              </a:spcBef>
              <a:buFontTx/>
              <a:buNone/>
              <a:defRPr sz="1300">
                <a:latin typeface="Tahoma" pitchFamily="34" charset="0"/>
                <a:cs typeface="+mn-cs"/>
              </a:defRPr>
            </a:lvl1pPr>
          </a:lstStyle>
          <a:p>
            <a:pPr>
              <a:defRPr/>
            </a:pPr>
            <a:endParaRPr lang="en-US"/>
          </a:p>
        </p:txBody>
      </p:sp>
      <p:sp>
        <p:nvSpPr>
          <p:cNvPr id="372739" name="Rectangle 3"/>
          <p:cNvSpPr>
            <a:spLocks noGrp="1" noChangeArrowheads="1"/>
          </p:cNvSpPr>
          <p:nvPr>
            <p:ph type="dt" sz="quarter" idx="1"/>
          </p:nvPr>
        </p:nvSpPr>
        <p:spPr bwMode="auto">
          <a:xfrm>
            <a:off x="393775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endParaRPr lang="en-US"/>
          </a:p>
        </p:txBody>
      </p:sp>
      <p:sp>
        <p:nvSpPr>
          <p:cNvPr id="372740" name="Rectangle 4"/>
          <p:cNvSpPr>
            <a:spLocks noGrp="1" noChangeArrowheads="1"/>
          </p:cNvSpPr>
          <p:nvPr>
            <p:ph type="ftr" sz="quarter" idx="2"/>
          </p:nvPr>
        </p:nvSpPr>
        <p:spPr bwMode="auto">
          <a:xfrm>
            <a:off x="12"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spcBef>
                <a:spcPct val="20000"/>
              </a:spcBef>
              <a:buFontTx/>
              <a:buNone/>
              <a:defRPr sz="1300">
                <a:latin typeface="Tahoma" pitchFamily="34" charset="0"/>
                <a:cs typeface="+mn-cs"/>
              </a:defRPr>
            </a:lvl1pPr>
          </a:lstStyle>
          <a:p>
            <a:pPr>
              <a:defRPr/>
            </a:pPr>
            <a:r>
              <a:rPr lang="en-US"/>
              <a:t>Enrollment Projections - Why and How</a:t>
            </a:r>
          </a:p>
        </p:txBody>
      </p:sp>
      <p:sp>
        <p:nvSpPr>
          <p:cNvPr id="372741" name="Rectangle 5"/>
          <p:cNvSpPr>
            <a:spLocks noGrp="1" noChangeArrowheads="1"/>
          </p:cNvSpPr>
          <p:nvPr>
            <p:ph type="sldNum" sz="quarter" idx="3"/>
          </p:nvPr>
        </p:nvSpPr>
        <p:spPr bwMode="auto">
          <a:xfrm>
            <a:off x="3937758"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fld id="{D4EA7CEE-2394-4F9B-8C99-0BD898ABC9E8}" type="slidenum">
              <a:rPr lang="en-US"/>
              <a:pPr>
                <a:defRPr/>
              </a:pPr>
              <a:t>‹#›</a:t>
            </a:fld>
            <a:endParaRPr lang="en-US"/>
          </a:p>
        </p:txBody>
      </p:sp>
    </p:spTree>
    <p:extLst>
      <p:ext uri="{BB962C8B-B14F-4D97-AF65-F5344CB8AC3E}">
        <p14:creationId xmlns:p14="http://schemas.microsoft.com/office/powerpoint/2010/main" val="2048531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2510" name="Rectangle 14"/>
          <p:cNvSpPr>
            <a:spLocks noGrp="1" noChangeArrowheads="1"/>
          </p:cNvSpPr>
          <p:nvPr>
            <p:ph type="hdr" sz="quarter"/>
          </p:nvPr>
        </p:nvSpPr>
        <p:spPr bwMode="auto">
          <a:xfrm>
            <a:off x="12"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27651" name="Rectangle 15"/>
          <p:cNvSpPr>
            <a:spLocks noGrp="1" noRot="1" noChangeAspect="1" noChangeArrowheads="1" noTextEdit="1"/>
          </p:cNvSpPr>
          <p:nvPr>
            <p:ph type="sldImg" idx="2"/>
          </p:nvPr>
        </p:nvSpPr>
        <p:spPr bwMode="auto">
          <a:xfrm>
            <a:off x="1166813" y="692150"/>
            <a:ext cx="4616450"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2512" name="Rectangle 16"/>
          <p:cNvSpPr>
            <a:spLocks noGrp="1" noChangeArrowheads="1"/>
          </p:cNvSpPr>
          <p:nvPr>
            <p:ph type="body" sz="quarter" idx="3"/>
          </p:nvPr>
        </p:nvSpPr>
        <p:spPr bwMode="auto">
          <a:xfrm>
            <a:off x="927003" y="4386190"/>
            <a:ext cx="5096092" cy="4157496"/>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2513" name="Rectangle 17"/>
          <p:cNvSpPr>
            <a:spLocks noGrp="1" noChangeArrowheads="1"/>
          </p:cNvSpPr>
          <p:nvPr>
            <p:ph type="dt" idx="1"/>
          </p:nvPr>
        </p:nvSpPr>
        <p:spPr bwMode="auto">
          <a:xfrm>
            <a:off x="3937758" y="0"/>
            <a:ext cx="3012329"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endParaRPr lang="en-US"/>
          </a:p>
        </p:txBody>
      </p:sp>
      <p:sp>
        <p:nvSpPr>
          <p:cNvPr id="362514" name="Rectangle 18"/>
          <p:cNvSpPr>
            <a:spLocks noGrp="1" noChangeArrowheads="1"/>
          </p:cNvSpPr>
          <p:nvPr>
            <p:ph type="ftr" sz="quarter" idx="4"/>
          </p:nvPr>
        </p:nvSpPr>
        <p:spPr bwMode="auto">
          <a:xfrm>
            <a:off x="12"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a:p>
        </p:txBody>
      </p:sp>
      <p:sp>
        <p:nvSpPr>
          <p:cNvPr id="362515" name="Rectangle 19"/>
          <p:cNvSpPr>
            <a:spLocks noGrp="1" noChangeArrowheads="1"/>
          </p:cNvSpPr>
          <p:nvPr>
            <p:ph type="sldNum" sz="quarter" idx="5"/>
          </p:nvPr>
        </p:nvSpPr>
        <p:spPr bwMode="auto">
          <a:xfrm>
            <a:off x="3937758" y="8773969"/>
            <a:ext cx="3012329"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fld id="{C4A85720-D93E-4351-AF84-D93DA6C7213A}" type="slidenum">
              <a:rPr lang="en-US"/>
              <a:pPr>
                <a:defRPr/>
              </a:pPr>
              <a:t>‹#›</a:t>
            </a:fld>
            <a:endParaRPr lang="en-US"/>
          </a:p>
        </p:txBody>
      </p:sp>
    </p:spTree>
    <p:extLst>
      <p:ext uri="{BB962C8B-B14F-4D97-AF65-F5344CB8AC3E}">
        <p14:creationId xmlns:p14="http://schemas.microsoft.com/office/powerpoint/2010/main" val="631616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5"/>
          </p:nvPr>
        </p:nvSpPr>
        <p:spPr/>
        <p:txBody>
          <a:bodyPr/>
          <a:lstStyle/>
          <a:p>
            <a:pPr>
              <a:defRPr/>
            </a:pPr>
            <a:fld id="{3436AA5D-F24A-48A3-B49F-1391C759B1F5}" type="slidenum">
              <a:rPr lang="en-US" smtClean="0"/>
              <a:pPr>
                <a:defRPr/>
              </a:pPr>
              <a:t>1</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Frequently, presenters must deliver material of a technical nature to an audience unfamiliar with the topic or vocabulary.  The material may be complex or heavy with detail.  To present technical material effectively, use the following guidelines from Dale Carnegie Training®.</a:t>
            </a:r>
          </a:p>
          <a:p>
            <a:r>
              <a:rPr lang="en-US" dirty="0"/>
              <a:t> </a:t>
            </a:r>
          </a:p>
          <a:p>
            <a:r>
              <a:rPr lang="en-US" dirty="0"/>
              <a:t>Consider the amount of time available and prepare to organize your material.  Narrow your topic.  Divide your presentation into clear segments. Follow a logical progression. Maintain your focus throughout. Close the presentation with a summary, repetition of the key steps, or a logical conclusion.</a:t>
            </a:r>
          </a:p>
          <a:p>
            <a:r>
              <a:rPr lang="en-US" dirty="0"/>
              <a:t> </a:t>
            </a:r>
          </a:p>
          <a:p>
            <a:r>
              <a:rPr lang="en-US" dirty="0"/>
              <a:t>Keep your audience in mind at all times.  For example, be sure data is clear and information is relevant.  Keep the level of detail and vocabulary appropriate for the audience.  Use visuals to support key points or steps.  Keep alert to the needs of your listeners, and you will have a more receptive audience.</a:t>
            </a:r>
          </a:p>
        </p:txBody>
      </p:sp>
    </p:spTree>
    <p:extLst>
      <p:ext uri="{BB962C8B-B14F-4D97-AF65-F5344CB8AC3E}">
        <p14:creationId xmlns:p14="http://schemas.microsoft.com/office/powerpoint/2010/main" val="4002434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16</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20000"/>
              </a:spcBef>
              <a:spcAft>
                <a:spcPct val="0"/>
              </a:spcAft>
              <a:buClrTx/>
              <a:buSzTx/>
              <a:buFontTx/>
              <a:buNone/>
              <a:tabLst/>
              <a:defRPr/>
            </a:pPr>
            <a:fld id="{C4A85720-D93E-4351-AF84-D93DA6C7213A}" type="slidenum">
              <a:rPr kumimoji="0" lang="en-US" sz="1300" b="0" i="0" u="none" strike="noStrike" kern="1200" cap="none" spc="0" normalizeH="0" baseline="0" noProof="0" smtClean="0">
                <a:ln>
                  <a:noFill/>
                </a:ln>
                <a:solidFill>
                  <a:srgbClr val="000000"/>
                </a:solidFill>
                <a:effectLst/>
                <a:uLnTx/>
                <a:uFillTx/>
                <a:latin typeface="Tahoma" pitchFamily="34" charset="0"/>
                <a:ea typeface="+mn-ea"/>
                <a:cs typeface="+mn-cs"/>
              </a:rPr>
              <a:pPr marL="0" marR="0" lvl="0" indent="0" algn="r" defTabSz="914400" rtl="0" eaLnBrk="0" fontAlgn="base" latinLnBrk="0" hangingPunct="0">
                <a:lnSpc>
                  <a:spcPct val="100000"/>
                </a:lnSpc>
                <a:spcBef>
                  <a:spcPct val="20000"/>
                </a:spcBef>
                <a:spcAft>
                  <a:spcPct val="0"/>
                </a:spcAft>
                <a:buClrTx/>
                <a:buSzTx/>
                <a:buFontTx/>
                <a:buNone/>
                <a:tabLst/>
                <a:defRPr/>
              </a:pPr>
              <a:t>17</a:t>
            </a:fld>
            <a:endParaRPr kumimoji="0" lang="en-US" sz="13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8227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pPr>
              <a:defRPr/>
            </a:pPr>
            <a:fld id="{13DE0193-D1BF-4952-98EF-3903CD0E6D36}" type="datetime1">
              <a:rPr lang="en-US" smtClean="0"/>
              <a:pPr>
                <a:defRPr/>
              </a:pPr>
              <a:t>6/19/2024</a:t>
            </a:fld>
            <a:endParaRPr lang="en-US" altLang="en-US"/>
          </a:p>
        </p:txBody>
      </p:sp>
      <p:sp>
        <p:nvSpPr>
          <p:cNvPr id="5" name="Footer Placeholder 4"/>
          <p:cNvSpPr>
            <a:spLocks noGrp="1"/>
          </p:cNvSpPr>
          <p:nvPr>
            <p:ph type="ftr" sz="quarter" idx="11"/>
          </p:nvPr>
        </p:nvSpPr>
        <p:spPr>
          <a:xfrm>
            <a:off x="3623733" y="6117336"/>
            <a:ext cx="3609438" cy="365125"/>
          </a:xfrm>
        </p:spPr>
        <p:txBody>
          <a:bodyPr/>
          <a:lstStyle/>
          <a:p>
            <a:pPr>
              <a:defRPr/>
            </a:pPr>
            <a:endParaRPr lang="en-US" altLang="en-US"/>
          </a:p>
        </p:txBody>
      </p:sp>
      <p:sp>
        <p:nvSpPr>
          <p:cNvPr id="6" name="Slide Number Placeholder 5"/>
          <p:cNvSpPr>
            <a:spLocks noGrp="1"/>
          </p:cNvSpPr>
          <p:nvPr>
            <p:ph type="sldNum" sz="quarter" idx="12"/>
          </p:nvPr>
        </p:nvSpPr>
        <p:spPr>
          <a:xfrm>
            <a:off x="8275320" y="6117336"/>
            <a:ext cx="411480" cy="365125"/>
          </a:xfrm>
        </p:spPr>
        <p:txBody>
          <a:bodyPr/>
          <a:lstStyle/>
          <a:p>
            <a:pPr>
              <a:defRPr/>
            </a:pPr>
            <a:fld id="{17F6527C-09EA-4256-9CF7-89437F3A6D56}" type="slidenum">
              <a:rPr lang="en-US" altLang="en-US" smtClean="0"/>
              <a:pPr>
                <a:defRPr/>
              </a:pPr>
              <a:t>‹#›</a:t>
            </a:fld>
            <a:endParaRPr lang="en-US" alt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187003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pPr>
              <a:defRPr/>
            </a:pPr>
            <a:fld id="{55B004B1-B11D-4B2B-85C6-0EECC016E13F}" type="datetime1">
              <a:rPr lang="en-US" smtClean="0"/>
              <a:pPr>
                <a:defRPr/>
              </a:pPr>
              <a:t>6/19/2024</a:t>
            </a:fld>
            <a:endParaRPr lang="en-US" altLang="en-US"/>
          </a:p>
        </p:txBody>
      </p:sp>
      <p:sp>
        <p:nvSpPr>
          <p:cNvPr id="5" name="Footer Placeholder 4"/>
          <p:cNvSpPr>
            <a:spLocks noGrp="1"/>
          </p:cNvSpPr>
          <p:nvPr>
            <p:ph type="ftr" sz="quarter" idx="11"/>
          </p:nvPr>
        </p:nvSpPr>
        <p:spPr>
          <a:xfrm>
            <a:off x="1972647" y="6108173"/>
            <a:ext cx="5314517" cy="365125"/>
          </a:xfrm>
        </p:spPr>
        <p:txBody>
          <a:bodyPr/>
          <a:lstStyle/>
          <a:p>
            <a:pPr>
              <a:defRPr/>
            </a:pPr>
            <a:endParaRPr lang="en-US" altLang="en-US"/>
          </a:p>
        </p:txBody>
      </p:sp>
      <p:sp>
        <p:nvSpPr>
          <p:cNvPr id="6" name="Slide Number Placeholder 5"/>
          <p:cNvSpPr>
            <a:spLocks noGrp="1"/>
          </p:cNvSpPr>
          <p:nvPr>
            <p:ph type="sldNum" sz="quarter" idx="12"/>
          </p:nvPr>
        </p:nvSpPr>
        <p:spPr>
          <a:xfrm>
            <a:off x="8258967" y="6108173"/>
            <a:ext cx="427833" cy="365125"/>
          </a:xfrm>
        </p:spPr>
        <p:txBody>
          <a:bodyPr/>
          <a:lstStyle/>
          <a:p>
            <a:pPr>
              <a:defRPr/>
            </a:pPr>
            <a:fld id="{1A25CF7E-05FF-4B4A-9944-BE57E82D8571}" type="slidenum">
              <a:rPr lang="en-US" altLang="en-US" smtClean="0"/>
              <a:pPr>
                <a:defRPr/>
              </a:pPr>
              <a:t>‹#›</a:t>
            </a:fld>
            <a:endParaRPr lang="en-US" altLang="en-US"/>
          </a:p>
        </p:txBody>
      </p:sp>
    </p:spTree>
    <p:extLst>
      <p:ext uri="{BB962C8B-B14F-4D97-AF65-F5344CB8AC3E}">
        <p14:creationId xmlns:p14="http://schemas.microsoft.com/office/powerpoint/2010/main" val="3051185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1A3FD60-6DEF-4021-A4BD-2ABEBDDE8F87}" type="datetime1">
              <a:rPr lang="en-US" smtClean="0"/>
              <a:pPr>
                <a:defRPr/>
              </a:pPr>
              <a:t>6/19/2024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a:xfrm>
            <a:off x="8273317" y="6116070"/>
            <a:ext cx="413483" cy="365125"/>
          </a:xfrm>
        </p:spPr>
        <p:txBody>
          <a:bodyPr/>
          <a:lstStyle/>
          <a:p>
            <a:pPr>
              <a:defRPr/>
            </a:pPr>
            <a:fld id="{141FDA88-53DF-491F-ACF1-54DC3129BB39}" type="slidenum">
              <a:rPr lang="en-US" altLang="en-US" smtClean="0"/>
              <a:pPr>
                <a:defRPr/>
              </a:pPr>
              <a:t>‹#›</a:t>
            </a:fld>
            <a:endParaRPr lang="en-US" altLang="en-US"/>
          </a:p>
        </p:txBody>
      </p:sp>
    </p:spTree>
    <p:extLst>
      <p:ext uri="{BB962C8B-B14F-4D97-AF65-F5344CB8AC3E}">
        <p14:creationId xmlns:p14="http://schemas.microsoft.com/office/powerpoint/2010/main" val="1362580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BC1EA10C-0A2F-4B1C-AFD5-D695854A4BB0}" type="datetime1">
              <a:rPr lang="en-US" smtClean="0"/>
              <a:pPr>
                <a:defRPr/>
              </a:pPr>
              <a:t>6/19/2024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53DE79C-EF84-454B-BCEC-3BC154D27F88}" type="slidenum">
              <a:rPr lang="en-US" altLang="en-US" smtClean="0"/>
              <a:pPr>
                <a:defRPr/>
              </a:pPr>
              <a:t>‹#›</a:t>
            </a:fld>
            <a:endParaRPr lang="en-US" altLang="en-US"/>
          </a:p>
        </p:txBody>
      </p:sp>
    </p:spTree>
    <p:extLst>
      <p:ext uri="{BB962C8B-B14F-4D97-AF65-F5344CB8AC3E}">
        <p14:creationId xmlns:p14="http://schemas.microsoft.com/office/powerpoint/2010/main" val="3347112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53024006-7966-4ECD-A578-A76B2F86F361}" type="datetime1">
              <a:rPr lang="en-US" smtClean="0"/>
              <a:pPr>
                <a:defRPr/>
              </a:pPr>
              <a:t>6/19/2024</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68C69CCE-16DC-4A83-BF74-B88FF4FECC36}" type="slidenum">
              <a:rPr lang="en-US" altLang="en-US" smtClean="0"/>
              <a:pPr>
                <a:defRPr/>
              </a:pPr>
              <a:t>‹#›</a:t>
            </a:fld>
            <a:endParaRPr lang="en-US" altLang="en-US"/>
          </a:p>
        </p:txBody>
      </p:sp>
    </p:spTree>
    <p:extLst>
      <p:ext uri="{BB962C8B-B14F-4D97-AF65-F5344CB8AC3E}">
        <p14:creationId xmlns:p14="http://schemas.microsoft.com/office/powerpoint/2010/main" val="705720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E56A08AC-DA96-4507-9F67-1768BC2BD5B0}" type="datetime1">
              <a:rPr lang="en-US" smtClean="0"/>
              <a:pPr>
                <a:defRPr/>
              </a:pPr>
              <a:t>6/19/2024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D046D30B-1D77-4CBB-9C49-B44ACFBF2BED}" type="slidenum">
              <a:rPr lang="en-US" altLang="en-US" smtClean="0"/>
              <a:pPr>
                <a:defRPr/>
              </a:pPr>
              <a:t>‹#›</a:t>
            </a:fld>
            <a:endParaRPr lang="en-US" altLang="en-US"/>
          </a:p>
        </p:txBody>
      </p:sp>
    </p:spTree>
    <p:extLst>
      <p:ext uri="{BB962C8B-B14F-4D97-AF65-F5344CB8AC3E}">
        <p14:creationId xmlns:p14="http://schemas.microsoft.com/office/powerpoint/2010/main" val="81993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CE20353-6F25-40D7-B75D-60763B9D47E1}" type="datetime1">
              <a:rPr lang="en-US" smtClean="0"/>
              <a:pPr>
                <a:defRPr/>
              </a:pPr>
              <a:t>6/19/2024</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81627D45-3680-4120-ADEC-2D4CED3EEEA1}" type="slidenum">
              <a:rPr lang="en-US" altLang="en-US" smtClean="0"/>
              <a:pPr>
                <a:defRPr/>
              </a:pPr>
              <a:t>‹#›</a:t>
            </a:fld>
            <a:endParaRPr lang="en-US" altLang="en-US"/>
          </a:p>
        </p:txBody>
      </p:sp>
    </p:spTree>
    <p:extLst>
      <p:ext uri="{BB962C8B-B14F-4D97-AF65-F5344CB8AC3E}">
        <p14:creationId xmlns:p14="http://schemas.microsoft.com/office/powerpoint/2010/main" val="3129708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6D603D2-A6C6-48B0-812F-90F123834752}" type="datetime1">
              <a:rPr lang="en-US" smtClean="0"/>
              <a:pPr>
                <a:defRPr/>
              </a:pPr>
              <a:t>6/19/2024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6ACF822A-BFFB-4365-AFE5-43BEEE997710}" type="slidenum">
              <a:rPr lang="en-US" altLang="en-US" smtClean="0"/>
              <a:pPr>
                <a:defRPr/>
              </a:pPr>
              <a:t>‹#›</a:t>
            </a:fld>
            <a:endParaRPr lang="en-US" altLang="en-US"/>
          </a:p>
        </p:txBody>
      </p:sp>
    </p:spTree>
    <p:extLst>
      <p:ext uri="{BB962C8B-B14F-4D97-AF65-F5344CB8AC3E}">
        <p14:creationId xmlns:p14="http://schemas.microsoft.com/office/powerpoint/2010/main" val="3965154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FD799C1-8FC9-44B8-9522-2C9BF5C670C5}" type="datetime1">
              <a:rPr lang="en-US" smtClean="0"/>
              <a:pPr>
                <a:defRPr/>
              </a:pPr>
              <a:t>6/19/2024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48354902-845C-42AB-8626-F072442D32F7}" type="slidenum">
              <a:rPr lang="en-US" altLang="en-US" smtClean="0"/>
              <a:pPr>
                <a:defRPr/>
              </a:pPr>
              <a:t>‹#›</a:t>
            </a:fld>
            <a:endParaRPr lang="en-US" altLang="en-US"/>
          </a:p>
        </p:txBody>
      </p:sp>
    </p:spTree>
    <p:extLst>
      <p:ext uri="{BB962C8B-B14F-4D97-AF65-F5344CB8AC3E}">
        <p14:creationId xmlns:p14="http://schemas.microsoft.com/office/powerpoint/2010/main" val="160942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FE7F0EA-49D4-45A4-9C97-6B9A48DA8217}" type="datetime1">
              <a:rPr lang="en-US" smtClean="0"/>
              <a:pPr>
                <a:defRPr/>
              </a:pPr>
              <a:t>6/19/2024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8650058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6/19/2024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2326915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6/19/2024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187380368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6/19/2024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20840579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6/19/2024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8866387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EFE7F0EA-49D4-45A4-9C97-6B9A48DA8217}" type="datetime1">
              <a:rPr lang="en-US" smtClean="0"/>
              <a:pPr>
                <a:defRPr/>
              </a:pPr>
              <a:t>6/19/2024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255626713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CEEE49E-90D7-4DC4-B4A7-A2F2BE7F8A81}" type="datetime1">
              <a:rPr lang="en-US" smtClean="0"/>
              <a:pPr>
                <a:defRPr/>
              </a:pPr>
              <a:t>6/19/2024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1773F5B0-CD4F-4AC1-8324-39D68F78EFED}" type="slidenum">
              <a:rPr lang="en-US" altLang="en-US" smtClean="0"/>
              <a:pPr>
                <a:defRPr/>
              </a:pPr>
              <a:t>‹#›</a:t>
            </a:fld>
            <a:endParaRPr lang="en-US" altLang="en-US"/>
          </a:p>
        </p:txBody>
      </p:sp>
    </p:spTree>
    <p:extLst>
      <p:ext uri="{BB962C8B-B14F-4D97-AF65-F5344CB8AC3E}">
        <p14:creationId xmlns:p14="http://schemas.microsoft.com/office/powerpoint/2010/main" val="3432144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9B0FEA6-688D-4F5C-93FE-DEECFF1AB383}" type="datetime1">
              <a:rPr lang="en-US" smtClean="0"/>
              <a:pPr>
                <a:defRPr/>
              </a:pPr>
              <a:t>6/19/2024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2E7AA040-820A-4231-839E-5B1AD38EE386}" type="slidenum">
              <a:rPr lang="en-US" altLang="en-US" smtClean="0"/>
              <a:pPr>
                <a:defRPr/>
              </a:pPr>
              <a:t>‹#›</a:t>
            </a:fld>
            <a:endParaRPr lang="en-US" altLang="en-US"/>
          </a:p>
        </p:txBody>
      </p:sp>
    </p:spTree>
    <p:extLst>
      <p:ext uri="{BB962C8B-B14F-4D97-AF65-F5344CB8AC3E}">
        <p14:creationId xmlns:p14="http://schemas.microsoft.com/office/powerpoint/2010/main" val="1413087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FE7F0EA-49D4-45A4-9C97-6B9A48DA8217}" type="datetime1">
              <a:rPr lang="en-US" smtClean="0"/>
              <a:pPr>
                <a:defRPr/>
              </a:pPr>
              <a:t>6/19/2024</a:t>
            </a:fld>
            <a:endParaRPr lang="en-US" alt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en-US" alt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E7F75AF0-187E-407A-8136-888F64E12E5D}" type="slidenum">
              <a:rPr lang="en-US" altLang="en-US" smtClean="0"/>
              <a:pPr>
                <a:defRPr/>
              </a:pPr>
              <a:t>‹#›</a:t>
            </a:fld>
            <a:endParaRPr lang="en-US" altLang="en-US"/>
          </a:p>
        </p:txBody>
      </p:sp>
    </p:spTree>
    <p:extLst>
      <p:ext uri="{BB962C8B-B14F-4D97-AF65-F5344CB8AC3E}">
        <p14:creationId xmlns:p14="http://schemas.microsoft.com/office/powerpoint/2010/main" val="3363414631"/>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 id="2147484142" r:id="rId4"/>
    <p:sldLayoutId id="2147484143" r:id="rId5"/>
    <p:sldLayoutId id="2147484144" r:id="rId6"/>
    <p:sldLayoutId id="2147484145" r:id="rId7"/>
    <p:sldLayoutId id="2147484146" r:id="rId8"/>
    <p:sldLayoutId id="2147484147" r:id="rId9"/>
    <p:sldLayoutId id="2147484148" r:id="rId10"/>
    <p:sldLayoutId id="2147484149" r:id="rId11"/>
    <p:sldLayoutId id="2147484150" r:id="rId12"/>
    <p:sldLayoutId id="2147484151" r:id="rId13"/>
    <p:sldLayoutId id="2147484152" r:id="rId14"/>
    <p:sldLayoutId id="2147484153" r:id="rId15"/>
    <p:sldLayoutId id="2147484154" r:id="rId16"/>
    <p:sldLayoutId id="2147484155" r:id="rId17"/>
  </p:sldLayoutIdLst>
  <p:hf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8.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07/relationships/hdphoto" Target="../media/hdphoto1.wdp"/><Relationship Id="rId7" Type="http://schemas.openxmlformats.org/officeDocument/2006/relationships/diagramColors" Target="../diagrams/colors3.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07/relationships/hdphoto" Target="../media/hdphoto1.wdp"/><Relationship Id="rId7" Type="http://schemas.openxmlformats.org/officeDocument/2006/relationships/diagramColors" Target="../diagrams/colors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0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09800"/>
            <a:ext cx="4668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a:xfrm>
            <a:off x="1371600" y="3886200"/>
            <a:ext cx="6400800" cy="1905000"/>
          </a:xfrm>
        </p:spPr>
        <p:txBody>
          <a:bodyPr>
            <a:normAutofit fontScale="85000" lnSpcReduction="20000"/>
          </a:bodyPr>
          <a:lstStyle/>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2023-24 Final Budget Amendment                 </a:t>
            </a:r>
            <a:r>
              <a:rPr lang="en-US" sz="2800" b="1">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and 2024-25 </a:t>
            </a: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Proposed Budget</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Presentation</a:t>
            </a:r>
          </a:p>
          <a:p>
            <a:pPr>
              <a:spcBef>
                <a:spcPct val="50000"/>
              </a:spcBef>
            </a:pPr>
            <a:r>
              <a:rPr lang="en-US" sz="2800" b="1" dirty="0">
                <a:ln w="12700">
                  <a:solidFill>
                    <a:schemeClr val="tx2">
                      <a:satMod val="155000"/>
                    </a:schemeClr>
                  </a:solidFill>
                  <a:prstDash val="solid"/>
                </a:ln>
                <a:solidFill>
                  <a:schemeClr val="tx1"/>
                </a:solidFill>
                <a:latin typeface="Times New Roman" panose="02020603050405020304" pitchFamily="18" charset="0"/>
                <a:cs typeface="Times New Roman" panose="02020603050405020304" pitchFamily="18" charset="0"/>
              </a:rPr>
              <a:t>June 20, 2024</a:t>
            </a:r>
            <a:endParaRPr lang="en-US" sz="2800" b="1" dirty="0">
              <a:ln w="12700">
                <a:solidFill>
                  <a:schemeClr val="bg2">
                    <a:lumMod val="25000"/>
                  </a:schemeClr>
                </a:solidFill>
                <a:prstDash val="solid"/>
              </a:ln>
              <a:solidFill>
                <a:schemeClr val="tx1"/>
              </a:solidFill>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0"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1"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2"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3"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4"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5"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17" name="Rectangle 16">
            <a:extLst>
              <a:ext uri="{FF2B5EF4-FFF2-40B4-BE49-F238E27FC236}">
                <a16:creationId xmlns:a16="http://schemas.microsoft.com/office/drawing/2014/main" id="{CE3D4922-3D1C-4679-9A86-15BFC1A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64E9BCF-1B67-4514-808C-A5DCBDEB4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1" name="Group 20">
            <a:extLst>
              <a:ext uri="{FF2B5EF4-FFF2-40B4-BE49-F238E27FC236}">
                <a16:creationId xmlns:a16="http://schemas.microsoft.com/office/drawing/2014/main" id="{32238778-9D1D-45F4-BB78-76F208A224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22" name="Freeform 6">
              <a:extLst>
                <a:ext uri="{FF2B5EF4-FFF2-40B4-BE49-F238E27FC236}">
                  <a16:creationId xmlns:a16="http://schemas.microsoft.com/office/drawing/2014/main" id="{93667F4D-F2CD-4E50-BACC-24766910F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3" name="Freeform 7">
              <a:extLst>
                <a:ext uri="{FF2B5EF4-FFF2-40B4-BE49-F238E27FC236}">
                  <a16:creationId xmlns:a16="http://schemas.microsoft.com/office/drawing/2014/main" id="{20CAAE25-D2F2-493F-9569-EC552C1AD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4" name="Freeform 8">
              <a:extLst>
                <a:ext uri="{FF2B5EF4-FFF2-40B4-BE49-F238E27FC236}">
                  <a16:creationId xmlns:a16="http://schemas.microsoft.com/office/drawing/2014/main" id="{42D5E996-541D-42BA-8B22-F7E96752CE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5" name="Freeform 9">
              <a:extLst>
                <a:ext uri="{FF2B5EF4-FFF2-40B4-BE49-F238E27FC236}">
                  <a16:creationId xmlns:a16="http://schemas.microsoft.com/office/drawing/2014/main" id="{6BDB86F1-7C07-4D49-B9C9-7837A1FB2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6" name="Freeform 10">
              <a:extLst>
                <a:ext uri="{FF2B5EF4-FFF2-40B4-BE49-F238E27FC236}">
                  <a16:creationId xmlns:a16="http://schemas.microsoft.com/office/drawing/2014/main" id="{92FDEA97-0861-44C0-9B26-4BB5F777A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7" name="Freeform 11">
              <a:extLst>
                <a:ext uri="{FF2B5EF4-FFF2-40B4-BE49-F238E27FC236}">
                  <a16:creationId xmlns:a16="http://schemas.microsoft.com/office/drawing/2014/main" id="{A9F3AA02-C861-444A-9178-0BD3D3CE1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35A0C139-A150-666F-9F2A-9812653F6E9C}"/>
              </a:ext>
            </a:extLst>
          </p:cNvPr>
          <p:cNvSpPr>
            <a:spLocks noGrp="1"/>
          </p:cNvSpPr>
          <p:nvPr>
            <p:ph type="title"/>
          </p:nvPr>
        </p:nvSpPr>
        <p:spPr>
          <a:xfrm>
            <a:off x="3637802" y="1396180"/>
            <a:ext cx="5277597" cy="3842570"/>
          </a:xfrm>
        </p:spPr>
        <p:txBody>
          <a:bodyPr vert="horz" lIns="91440" tIns="45720" rIns="91440" bIns="45720" rtlCol="0" anchor="ctr">
            <a:normAutofit/>
          </a:bodyPr>
          <a:lstStyle/>
          <a:p>
            <a:pPr algn="l"/>
            <a:r>
              <a:rPr lang="en-US" b="1" dirty="0">
                <a:latin typeface="Times New Roman" panose="02020603050405020304" pitchFamily="18" charset="0"/>
                <a:cs typeface="Times New Roman" panose="02020603050405020304" pitchFamily="18" charset="0"/>
              </a:rPr>
              <a:t>Truth In Taxation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Establishment of Millage Rates</a:t>
            </a:r>
          </a:p>
        </p:txBody>
      </p:sp>
      <p:sp>
        <p:nvSpPr>
          <p:cNvPr id="4" name="Slide Number Placeholder 3">
            <a:extLst>
              <a:ext uri="{FF2B5EF4-FFF2-40B4-BE49-F238E27FC236}">
                <a16:creationId xmlns:a16="http://schemas.microsoft.com/office/drawing/2014/main" id="{AC1FFD53-6754-B8BD-82CF-52645C58B564}"/>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defTabSz="457200">
              <a:spcAft>
                <a:spcPts val="600"/>
              </a:spcAft>
              <a:defRPr/>
            </a:pPr>
            <a:fld id="{1A25CF7E-05FF-4B4A-9944-BE57E82D8571}" type="slidenum">
              <a:rPr lang="en-US" altLang="en-US" smtClean="0">
                <a:cs typeface="+mn-cs"/>
              </a:rPr>
              <a:pPr defTabSz="457200">
                <a:spcAft>
                  <a:spcPts val="600"/>
                </a:spcAft>
                <a:defRPr/>
              </a:pPr>
              <a:t>2</a:t>
            </a:fld>
            <a:endParaRPr lang="en-US" altLang="en-US">
              <a:cs typeface="+mn-cs"/>
            </a:endParaRPr>
          </a:p>
        </p:txBody>
      </p:sp>
      <p:pic>
        <p:nvPicPr>
          <p:cNvPr id="28" name="Picture 1">
            <a:extLst>
              <a:ext uri="{FF2B5EF4-FFF2-40B4-BE49-F238E27FC236}">
                <a16:creationId xmlns:a16="http://schemas.microsoft.com/office/drawing/2014/main" id="{63850463-EE25-DF4B-AA8D-EAE808E8CE6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854280" y="2819401"/>
            <a:ext cx="449580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3197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3</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7" name="Object 2"/>
          <p:cNvGraphicFramePr>
            <a:graphicFrameLocks noChangeAspect="1"/>
          </p:cNvGraphicFramePr>
          <p:nvPr>
            <p:extLst>
              <p:ext uri="{D42A27DB-BD31-4B8C-83A1-F6EECF244321}">
                <p14:modId xmlns:p14="http://schemas.microsoft.com/office/powerpoint/2010/main" val="2678656663"/>
              </p:ext>
            </p:extLst>
          </p:nvPr>
        </p:nvGraphicFramePr>
        <p:xfrm>
          <a:off x="838200" y="293006"/>
          <a:ext cx="8178800" cy="6564993"/>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p:cNvSpPr txBox="1"/>
          <p:nvPr/>
        </p:nvSpPr>
        <p:spPr>
          <a:xfrm>
            <a:off x="6415483" y="5415694"/>
            <a:ext cx="2057400"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6.80% Increase</a:t>
            </a:r>
          </a:p>
        </p:txBody>
      </p:sp>
    </p:spTree>
    <p:extLst>
      <p:ext uri="{BB962C8B-B14F-4D97-AF65-F5344CB8AC3E}">
        <p14:creationId xmlns:p14="http://schemas.microsoft.com/office/powerpoint/2010/main" val="66040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4</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4213009343"/>
              </p:ext>
            </p:extLst>
          </p:nvPr>
        </p:nvGraphicFramePr>
        <p:xfrm>
          <a:off x="914400" y="0"/>
          <a:ext cx="8286750" cy="6096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5</a:t>
            </a:fld>
            <a:endParaRPr lang="en-US" altLang="en-US"/>
          </a:p>
        </p:txBody>
      </p:sp>
      <p:graphicFrame>
        <p:nvGraphicFramePr>
          <p:cNvPr id="5" name="Object 4"/>
          <p:cNvGraphicFramePr>
            <a:graphicFrameLocks noChangeAspect="1"/>
          </p:cNvGraphicFramePr>
          <p:nvPr>
            <p:extLst>
              <p:ext uri="{D42A27DB-BD31-4B8C-83A1-F6EECF244321}">
                <p14:modId xmlns:p14="http://schemas.microsoft.com/office/powerpoint/2010/main" val="1164332795"/>
              </p:ext>
            </p:extLst>
          </p:nvPr>
        </p:nvGraphicFramePr>
        <p:xfrm>
          <a:off x="990600" y="152400"/>
          <a:ext cx="8115300" cy="6705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6116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6</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6" name="Object 2"/>
          <p:cNvGraphicFramePr>
            <a:graphicFrameLocks noChangeAspect="1"/>
          </p:cNvGraphicFramePr>
          <p:nvPr/>
        </p:nvGraphicFramePr>
        <p:xfrm>
          <a:off x="1066800" y="0"/>
          <a:ext cx="8077200" cy="6705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6011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8CF848-47F9-B683-5705-1CB67DA9D975}"/>
              </a:ext>
            </a:extLst>
          </p:cNvPr>
          <p:cNvSpPr>
            <a:spLocks noGrp="1"/>
          </p:cNvSpPr>
          <p:nvPr>
            <p:ph type="sldNum" sz="quarter" idx="12"/>
          </p:nvPr>
        </p:nvSpPr>
        <p:spPr/>
        <p:txBody>
          <a:bodyPr/>
          <a:lstStyle/>
          <a:p>
            <a:pPr>
              <a:defRPr/>
            </a:pPr>
            <a:fld id="{1A25CF7E-05FF-4B4A-9944-BE57E82D8571}" type="slidenum">
              <a:rPr lang="en-US" altLang="en-US" smtClean="0"/>
              <a:pPr>
                <a:defRPr/>
              </a:pPr>
              <a:t>7</a:t>
            </a:fld>
            <a:endParaRPr lang="en-US" altLang="en-US"/>
          </a:p>
        </p:txBody>
      </p:sp>
      <p:sp>
        <p:nvSpPr>
          <p:cNvPr id="12" name="TextBox 11">
            <a:extLst>
              <a:ext uri="{FF2B5EF4-FFF2-40B4-BE49-F238E27FC236}">
                <a16:creationId xmlns:a16="http://schemas.microsoft.com/office/drawing/2014/main" id="{DB8DB81E-B725-CDE8-C84D-FB6ED32783AF}"/>
              </a:ext>
            </a:extLst>
          </p:cNvPr>
          <p:cNvSpPr txBox="1"/>
          <p:nvPr/>
        </p:nvSpPr>
        <p:spPr>
          <a:xfrm>
            <a:off x="3886200" y="304800"/>
            <a:ext cx="2209800"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L-4029</a:t>
            </a:r>
          </a:p>
        </p:txBody>
      </p:sp>
      <p:pic>
        <p:nvPicPr>
          <p:cNvPr id="9" name="Picture 8">
            <a:extLst>
              <a:ext uri="{FF2B5EF4-FFF2-40B4-BE49-F238E27FC236}">
                <a16:creationId xmlns:a16="http://schemas.microsoft.com/office/drawing/2014/main" id="{FCFB49B1-A456-49DF-44C4-9CF1FEDD8CC8}"/>
              </a:ext>
            </a:extLst>
          </p:cNvPr>
          <p:cNvPicPr>
            <a:picLocks noChangeAspect="1"/>
          </p:cNvPicPr>
          <p:nvPr/>
        </p:nvPicPr>
        <p:blipFill>
          <a:blip r:embed="rId2"/>
          <a:stretch>
            <a:fillRect/>
          </a:stretch>
        </p:blipFill>
        <p:spPr>
          <a:xfrm>
            <a:off x="1371600" y="1012686"/>
            <a:ext cx="7239000" cy="4854714"/>
          </a:xfrm>
          <a:prstGeom prst="rect">
            <a:avLst/>
          </a:prstGeom>
        </p:spPr>
      </p:pic>
    </p:spTree>
    <p:extLst>
      <p:ext uri="{BB962C8B-B14F-4D97-AF65-F5344CB8AC3E}">
        <p14:creationId xmlns:p14="http://schemas.microsoft.com/office/powerpoint/2010/main" val="1121479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18" name="Rectangle 17">
            <a:extLst>
              <a:ext uri="{FF2B5EF4-FFF2-40B4-BE49-F238E27FC236}">
                <a16:creationId xmlns:a16="http://schemas.microsoft.com/office/drawing/2014/main" id="{E58348C3-6249-4952-AA86-C63DB35EA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E6174AD-DBB0-43E6-98C2-738DB3A152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21" name="Freeform 6">
              <a:extLst>
                <a:ext uri="{FF2B5EF4-FFF2-40B4-BE49-F238E27FC236}">
                  <a16:creationId xmlns:a16="http://schemas.microsoft.com/office/drawing/2014/main" id="{50A59800-3661-4778-9D8A-F816C85C41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2" name="Freeform 7">
              <a:extLst>
                <a:ext uri="{FF2B5EF4-FFF2-40B4-BE49-F238E27FC236}">
                  <a16:creationId xmlns:a16="http://schemas.microsoft.com/office/drawing/2014/main" id="{7A810977-C816-4698-B7E7-0E6BDED79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3" name="Freeform 9">
              <a:extLst>
                <a:ext uri="{FF2B5EF4-FFF2-40B4-BE49-F238E27FC236}">
                  <a16:creationId xmlns:a16="http://schemas.microsoft.com/office/drawing/2014/main" id="{181E4B1B-2437-4A14-8927-817FC7AED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4" name="Freeform 10">
              <a:extLst>
                <a:ext uri="{FF2B5EF4-FFF2-40B4-BE49-F238E27FC236}">
                  <a16:creationId xmlns:a16="http://schemas.microsoft.com/office/drawing/2014/main" id="{3F98AD26-9FF7-44EA-B876-9C857F8ED9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5" name="Freeform 11">
              <a:extLst>
                <a:ext uri="{FF2B5EF4-FFF2-40B4-BE49-F238E27FC236}">
                  <a16:creationId xmlns:a16="http://schemas.microsoft.com/office/drawing/2014/main" id="{32EBB12A-A9CE-446F-9462-15DAC0D0F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6" name="Freeform 12">
              <a:extLst>
                <a:ext uri="{FF2B5EF4-FFF2-40B4-BE49-F238E27FC236}">
                  <a16:creationId xmlns:a16="http://schemas.microsoft.com/office/drawing/2014/main" id="{85925599-F99B-48E5-A384-76136C081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096A1A49-4362-4E00-AD52-74BB24CB93FD}"/>
              </a:ext>
            </a:extLst>
          </p:cNvPr>
          <p:cNvSpPr>
            <a:spLocks noGrp="1"/>
          </p:cNvSpPr>
          <p:nvPr>
            <p:ph type="title"/>
          </p:nvPr>
        </p:nvSpPr>
        <p:spPr>
          <a:xfrm>
            <a:off x="4086224" y="1380068"/>
            <a:ext cx="4541042" cy="2616199"/>
          </a:xfrm>
        </p:spPr>
        <p:txBody>
          <a:bodyPr vert="horz" lIns="91440" tIns="45720" rIns="91440" bIns="45720" rtlCol="0" anchor="b">
            <a:normAutofit/>
          </a:bodyPr>
          <a:lstStyle/>
          <a:p>
            <a:pPr algn="r"/>
            <a:r>
              <a:rPr lang="en-US" sz="6000"/>
              <a:t>General Fund</a:t>
            </a:r>
          </a:p>
        </p:txBody>
      </p:sp>
      <p:pic>
        <p:nvPicPr>
          <p:cNvPr id="6" name="Picture 5">
            <a:extLst>
              <a:ext uri="{FF2B5EF4-FFF2-40B4-BE49-F238E27FC236}">
                <a16:creationId xmlns:a16="http://schemas.microsoft.com/office/drawing/2014/main" id="{D60CEA74-FC7A-C417-A403-06DA413554E9}"/>
              </a:ext>
            </a:extLst>
          </p:cNvPr>
          <p:cNvPicPr>
            <a:picLocks noChangeAspect="1"/>
          </p:cNvPicPr>
          <p:nvPr/>
        </p:nvPicPr>
        <p:blipFill rotWithShape="1">
          <a:blip r:embed="rId3"/>
          <a:srcRect l="50646" r="15838"/>
          <a:stretch/>
        </p:blipFill>
        <p:spPr>
          <a:xfrm>
            <a:off x="20" y="10"/>
            <a:ext cx="4086205" cy="6857990"/>
          </a:xfrm>
          <a:custGeom>
            <a:avLst/>
            <a:gdLst/>
            <a:ahLst/>
            <a:cxnLst/>
            <a:rect l="l" t="t" r="r" b="b"/>
            <a:pathLst>
              <a:path w="5448300" h="6858000">
                <a:moveTo>
                  <a:pt x="0" y="0"/>
                </a:moveTo>
                <a:lnTo>
                  <a:pt x="3513666" y="0"/>
                </a:lnTo>
                <a:lnTo>
                  <a:pt x="2861733" y="2548466"/>
                </a:lnTo>
                <a:lnTo>
                  <a:pt x="5448300" y="6853767"/>
                </a:lnTo>
                <a:lnTo>
                  <a:pt x="0" y="6858000"/>
                </a:lnTo>
                <a:lnTo>
                  <a:pt x="0" y="0"/>
                </a:lnTo>
                <a:close/>
              </a:path>
            </a:pathLst>
          </a:custGeom>
          <a:ln w="38100">
            <a:noFill/>
          </a:ln>
          <a:effectLst/>
        </p:spPr>
      </p:pic>
      <p:sp>
        <p:nvSpPr>
          <p:cNvPr id="4" name="Slide Number Placeholder 3">
            <a:extLst>
              <a:ext uri="{FF2B5EF4-FFF2-40B4-BE49-F238E27FC236}">
                <a16:creationId xmlns:a16="http://schemas.microsoft.com/office/drawing/2014/main" id="{D9EFEF5A-B156-456D-BD89-49EF9ADBF791}"/>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8</a:t>
            </a:fld>
            <a:endParaRPr lang="en-US" altLang="en-US">
              <a:cs typeface="+mn-cs"/>
            </a:endParaRPr>
          </a:p>
        </p:txBody>
      </p:sp>
    </p:spTree>
    <p:extLst>
      <p:ext uri="{BB962C8B-B14F-4D97-AF65-F5344CB8AC3E}">
        <p14:creationId xmlns:p14="http://schemas.microsoft.com/office/powerpoint/2010/main" val="161855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2023-24 General Fund Budget Adjustments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2102013986"/>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9</a:t>
            </a:fld>
            <a:endParaRPr lang="en-US" altLang="en-US"/>
          </a:p>
        </p:txBody>
      </p:sp>
    </p:spTree>
    <p:extLst>
      <p:ext uri="{BB962C8B-B14F-4D97-AF65-F5344CB8AC3E}">
        <p14:creationId xmlns:p14="http://schemas.microsoft.com/office/powerpoint/2010/main" val="284567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10</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graphicFrame>
        <p:nvGraphicFramePr>
          <p:cNvPr id="3" name="Object 2">
            <a:extLst>
              <a:ext uri="{FF2B5EF4-FFF2-40B4-BE49-F238E27FC236}">
                <a16:creationId xmlns:a16="http://schemas.microsoft.com/office/drawing/2014/main" id="{5D8A59F5-8ADA-EB8E-06D1-EBFE4C4C40C3}"/>
              </a:ext>
            </a:extLst>
          </p:cNvPr>
          <p:cNvGraphicFramePr>
            <a:graphicFrameLocks noChangeAspect="1"/>
          </p:cNvGraphicFramePr>
          <p:nvPr>
            <p:extLst>
              <p:ext uri="{D42A27DB-BD31-4B8C-83A1-F6EECF244321}">
                <p14:modId xmlns:p14="http://schemas.microsoft.com/office/powerpoint/2010/main" val="810643255"/>
              </p:ext>
            </p:extLst>
          </p:nvPr>
        </p:nvGraphicFramePr>
        <p:xfrm>
          <a:off x="1295400" y="10236"/>
          <a:ext cx="7467599" cy="6446838"/>
        </p:xfrm>
        <a:graphic>
          <a:graphicData uri="http://schemas.openxmlformats.org/presentationml/2006/ole">
            <mc:AlternateContent xmlns:mc="http://schemas.openxmlformats.org/markup-compatibility/2006">
              <mc:Choice xmlns:v="urn:schemas-microsoft-com:vml" Requires="v">
                <p:oleObj name="Worksheet" r:id="rId3" imgW="7803022" imgH="6446661" progId="Excel.Sheet.12">
                  <p:embed/>
                </p:oleObj>
              </mc:Choice>
              <mc:Fallback>
                <p:oleObj name="Worksheet" r:id="rId3" imgW="7803022" imgH="6446661" progId="Excel.Sheet.12">
                  <p:embed/>
                  <p:pic>
                    <p:nvPicPr>
                      <p:cNvPr id="5" name="Object 4">
                        <a:extLst>
                          <a:ext uri="{FF2B5EF4-FFF2-40B4-BE49-F238E27FC236}">
                            <a16:creationId xmlns:a16="http://schemas.microsoft.com/office/drawing/2014/main" id="{3BB25C79-543B-0514-7B22-38B58EF9037C}"/>
                          </a:ext>
                        </a:extLst>
                      </p:cNvPr>
                      <p:cNvPicPr/>
                      <p:nvPr/>
                    </p:nvPicPr>
                    <p:blipFill>
                      <a:blip r:embed="rId4"/>
                      <a:stretch>
                        <a:fillRect/>
                      </a:stretch>
                    </p:blipFill>
                    <p:spPr>
                      <a:xfrm>
                        <a:off x="1295400" y="10236"/>
                        <a:ext cx="7467599" cy="6446838"/>
                      </a:xfrm>
                      <a:prstGeom prst="rect">
                        <a:avLst/>
                      </a:prstGeom>
                    </p:spPr>
                  </p:pic>
                </p:oleObj>
              </mc:Fallback>
            </mc:AlternateContent>
          </a:graphicData>
        </a:graphic>
      </p:graphicFrame>
    </p:spTree>
    <p:extLst>
      <p:ext uri="{BB962C8B-B14F-4D97-AF65-F5344CB8AC3E}">
        <p14:creationId xmlns:p14="http://schemas.microsoft.com/office/powerpoint/2010/main" val="2632556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792162"/>
          </a:xfrm>
        </p:spPr>
        <p:txBody>
          <a:bodyPr/>
          <a:lstStyle/>
          <a:p>
            <a:r>
              <a:rPr lang="en-US" sz="2800" b="1" dirty="0">
                <a:latin typeface="Times New Roman" panose="02020603050405020304" pitchFamily="18" charset="0"/>
                <a:cs typeface="Times New Roman" panose="02020603050405020304" pitchFamily="18" charset="0"/>
              </a:rPr>
              <a:t>2024-25 General Fund Assumptions</a:t>
            </a:r>
          </a:p>
        </p:txBody>
      </p:sp>
      <p:graphicFrame>
        <p:nvGraphicFramePr>
          <p:cNvPr id="6" name="Content Placeholder 2">
            <a:extLst>
              <a:ext uri="{FF2B5EF4-FFF2-40B4-BE49-F238E27FC236}">
                <a16:creationId xmlns:a16="http://schemas.microsoft.com/office/drawing/2014/main" id="{6DE51F43-361C-9E40-5AB3-6BFB1AD74990}"/>
              </a:ext>
            </a:extLst>
          </p:cNvPr>
          <p:cNvGraphicFramePr>
            <a:graphicFrameLocks noGrp="1"/>
          </p:cNvGraphicFramePr>
          <p:nvPr>
            <p:ph idx="1"/>
            <p:extLst>
              <p:ext uri="{D42A27DB-BD31-4B8C-83A1-F6EECF244321}">
                <p14:modId xmlns:p14="http://schemas.microsoft.com/office/powerpoint/2010/main" val="1315692520"/>
              </p:ext>
            </p:extLst>
          </p:nvPr>
        </p:nvGraphicFramePr>
        <p:xfrm>
          <a:off x="190500" y="915255"/>
          <a:ext cx="876300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11</a:t>
            </a:fld>
            <a:endParaRPr lang="en-US" altLang="en-US"/>
          </a:p>
        </p:txBody>
      </p:sp>
    </p:spTree>
    <p:extLst>
      <p:ext uri="{BB962C8B-B14F-4D97-AF65-F5344CB8AC3E}">
        <p14:creationId xmlns:p14="http://schemas.microsoft.com/office/powerpoint/2010/main" val="77730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12</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graphicFrame>
        <p:nvGraphicFramePr>
          <p:cNvPr id="3" name="Object 2">
            <a:extLst>
              <a:ext uri="{FF2B5EF4-FFF2-40B4-BE49-F238E27FC236}">
                <a16:creationId xmlns:a16="http://schemas.microsoft.com/office/drawing/2014/main" id="{D15FEFC8-DBB1-F733-5BA2-4A3E44028E95}"/>
              </a:ext>
            </a:extLst>
          </p:cNvPr>
          <p:cNvGraphicFramePr>
            <a:graphicFrameLocks noChangeAspect="1"/>
          </p:cNvGraphicFramePr>
          <p:nvPr>
            <p:extLst>
              <p:ext uri="{D42A27DB-BD31-4B8C-83A1-F6EECF244321}">
                <p14:modId xmlns:p14="http://schemas.microsoft.com/office/powerpoint/2010/main" val="3792409815"/>
              </p:ext>
            </p:extLst>
          </p:nvPr>
        </p:nvGraphicFramePr>
        <p:xfrm>
          <a:off x="914399" y="457200"/>
          <a:ext cx="7997825" cy="5715000"/>
        </p:xfrm>
        <a:graphic>
          <a:graphicData uri="http://schemas.openxmlformats.org/presentationml/2006/ole">
            <mc:AlternateContent xmlns:mc="http://schemas.openxmlformats.org/markup-compatibility/2006">
              <mc:Choice xmlns:v="urn:schemas-microsoft-com:vml" Requires="v">
                <p:oleObj name="Worksheet" r:id="rId3" imgW="10408849" imgH="5600794" progId="Excel.Sheet.12">
                  <p:embed/>
                </p:oleObj>
              </mc:Choice>
              <mc:Fallback>
                <p:oleObj name="Worksheet" r:id="rId3" imgW="10408849" imgH="5600794" progId="Excel.Sheet.12">
                  <p:embed/>
                  <p:pic>
                    <p:nvPicPr>
                      <p:cNvPr id="3" name="Object 2">
                        <a:extLst>
                          <a:ext uri="{FF2B5EF4-FFF2-40B4-BE49-F238E27FC236}">
                            <a16:creationId xmlns:a16="http://schemas.microsoft.com/office/drawing/2014/main" id="{B5CEA358-47F2-A05A-AD0E-9BE0A92DC6C4}"/>
                          </a:ext>
                        </a:extLst>
                      </p:cNvPr>
                      <p:cNvPicPr/>
                      <p:nvPr/>
                    </p:nvPicPr>
                    <p:blipFill>
                      <a:blip r:embed="rId4"/>
                      <a:stretch>
                        <a:fillRect/>
                      </a:stretch>
                    </p:blipFill>
                    <p:spPr>
                      <a:xfrm>
                        <a:off x="914399" y="457200"/>
                        <a:ext cx="7997825" cy="5715000"/>
                      </a:xfrm>
                      <a:prstGeom prst="rect">
                        <a:avLst/>
                      </a:prstGeom>
                    </p:spPr>
                  </p:pic>
                </p:oleObj>
              </mc:Fallback>
            </mc:AlternateContent>
          </a:graphicData>
        </a:graphic>
      </p:graphicFrame>
    </p:spTree>
    <p:extLst>
      <p:ext uri="{BB962C8B-B14F-4D97-AF65-F5344CB8AC3E}">
        <p14:creationId xmlns:p14="http://schemas.microsoft.com/office/powerpoint/2010/main" val="368537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7611-0857-4C91-8D83-EE13049AD4B6}"/>
              </a:ext>
            </a:extLst>
          </p:cNvPr>
          <p:cNvSpPr>
            <a:spLocks noGrp="1"/>
          </p:cNvSpPr>
          <p:nvPr>
            <p:ph type="title"/>
          </p:nvPr>
        </p:nvSpPr>
        <p:spPr>
          <a:xfrm>
            <a:off x="990600" y="381000"/>
            <a:ext cx="2500121" cy="1504335"/>
          </a:xfrm>
        </p:spPr>
        <p:txBody>
          <a:bodyPr>
            <a:normAutofit/>
          </a:bodyPr>
          <a:lstStyle/>
          <a:p>
            <a:r>
              <a:rPr lang="en-US" sz="3000" b="1" dirty="0">
                <a:latin typeface="Times New Roman" panose="02020603050405020304" pitchFamily="18" charset="0"/>
                <a:cs typeface="Times New Roman" panose="02020603050405020304" pitchFamily="18" charset="0"/>
              </a:rPr>
              <a:t>So What? Now What?</a:t>
            </a:r>
          </a:p>
        </p:txBody>
      </p:sp>
      <p:sp>
        <p:nvSpPr>
          <p:cNvPr id="3" name="Content Placeholder 2">
            <a:extLst>
              <a:ext uri="{FF2B5EF4-FFF2-40B4-BE49-F238E27FC236}">
                <a16:creationId xmlns:a16="http://schemas.microsoft.com/office/drawing/2014/main" id="{D60F27A6-FB02-45AE-AD8C-7F9343F2B931}"/>
              </a:ext>
            </a:extLst>
          </p:cNvPr>
          <p:cNvSpPr>
            <a:spLocks noGrp="1"/>
          </p:cNvSpPr>
          <p:nvPr>
            <p:ph idx="1"/>
          </p:nvPr>
        </p:nvSpPr>
        <p:spPr>
          <a:xfrm>
            <a:off x="1143000" y="1885335"/>
            <a:ext cx="2500122" cy="2895601"/>
          </a:xfrm>
        </p:spPr>
        <p:txBody>
          <a:bodyPr anchor="t">
            <a:noAutofit/>
          </a:bodyPr>
          <a:lstStyle/>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Federal Funding</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Enrollment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Structural Budget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Staff Alignment</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a:p>
            <a:pPr>
              <a:lnSpc>
                <a:spcPct val="90000"/>
              </a:lnSpc>
              <a:spcBef>
                <a:spcPct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Strategic use of Fund Balance</a:t>
            </a:r>
          </a:p>
          <a:p>
            <a:pPr marL="0" indent="0">
              <a:lnSpc>
                <a:spcPct val="90000"/>
              </a:lnSpc>
              <a:spcBef>
                <a:spcPct val="0"/>
              </a:spcBef>
              <a:buNone/>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F3E9B75-312A-40AE-8375-B225E4E245A5}"/>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13</a:t>
            </a:fld>
            <a:endParaRPr lang="en-US" altLang="en-US"/>
          </a:p>
        </p:txBody>
      </p:sp>
      <p:pic>
        <p:nvPicPr>
          <p:cNvPr id="5" name="Picture 4">
            <a:extLst>
              <a:ext uri="{FF2B5EF4-FFF2-40B4-BE49-F238E27FC236}">
                <a16:creationId xmlns:a16="http://schemas.microsoft.com/office/drawing/2014/main" id="{E625D2F1-654A-7B31-5A7B-BB09B2F11DE5}"/>
              </a:ext>
            </a:extLst>
          </p:cNvPr>
          <p:cNvPicPr>
            <a:picLocks noChangeAspect="1"/>
          </p:cNvPicPr>
          <p:nvPr/>
        </p:nvPicPr>
        <p:blipFill>
          <a:blip r:embed="rId2"/>
          <a:stretch>
            <a:fillRect/>
          </a:stretch>
        </p:blipFill>
        <p:spPr>
          <a:xfrm>
            <a:off x="4267200" y="625743"/>
            <a:ext cx="4511431" cy="5396735"/>
          </a:xfrm>
          <a:prstGeom prst="rect">
            <a:avLst/>
          </a:prstGeom>
        </p:spPr>
      </p:pic>
    </p:spTree>
    <p:extLst>
      <p:ext uri="{BB962C8B-B14F-4D97-AF65-F5344CB8AC3E}">
        <p14:creationId xmlns:p14="http://schemas.microsoft.com/office/powerpoint/2010/main" val="2893575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hidden="1"/>
          <p:cNvSpPr>
            <a:spLocks noGrp="1"/>
          </p:cNvSpPr>
          <p:nvPr>
            <p:ph type="sldNum" sz="quarter" idx="12"/>
          </p:nvPr>
        </p:nvSpPr>
        <p:spPr/>
        <p:txBody>
          <a:bodyPr/>
          <a:lstStyle/>
          <a:p>
            <a:pPr>
              <a:spcAft>
                <a:spcPts val="600"/>
              </a:spcAft>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spcAft>
                  <a:spcPts val="600"/>
                </a:spcAft>
                <a:defRPr/>
              </a:pPr>
              <a:t>14</a:t>
            </a:fld>
            <a:endParaRPr lang="en-US" altLang="en-US" sz="14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6477F66-326C-A713-D92E-62D620E6862D}"/>
              </a:ext>
            </a:extLst>
          </p:cNvPr>
          <p:cNvPicPr>
            <a:picLocks noChangeAspect="1"/>
          </p:cNvPicPr>
          <p:nvPr/>
        </p:nvPicPr>
        <p:blipFill>
          <a:blip r:embed="rId2"/>
          <a:stretch>
            <a:fillRect/>
          </a:stretch>
        </p:blipFill>
        <p:spPr>
          <a:xfrm>
            <a:off x="4471987" y="3319462"/>
            <a:ext cx="200025" cy="219075"/>
          </a:xfrm>
          <a:prstGeom prst="rect">
            <a:avLst/>
          </a:prstGeom>
        </p:spPr>
      </p:pic>
      <p:pic>
        <p:nvPicPr>
          <p:cNvPr id="2" name="Picture 1">
            <a:extLst>
              <a:ext uri="{FF2B5EF4-FFF2-40B4-BE49-F238E27FC236}">
                <a16:creationId xmlns:a16="http://schemas.microsoft.com/office/drawing/2014/main" id="{312D1665-4593-C07C-A8CF-F471FA42B1CD}"/>
              </a:ext>
            </a:extLst>
          </p:cNvPr>
          <p:cNvPicPr>
            <a:picLocks noChangeAspect="1"/>
          </p:cNvPicPr>
          <p:nvPr/>
        </p:nvPicPr>
        <p:blipFill>
          <a:blip r:embed="rId3"/>
          <a:stretch>
            <a:fillRect/>
          </a:stretch>
        </p:blipFill>
        <p:spPr>
          <a:xfrm>
            <a:off x="2066924" y="238125"/>
            <a:ext cx="5553076" cy="6381750"/>
          </a:xfrm>
          <a:prstGeom prst="rect">
            <a:avLst/>
          </a:prstGeom>
        </p:spPr>
      </p:pic>
    </p:spTree>
    <p:extLst>
      <p:ext uri="{BB962C8B-B14F-4D97-AF65-F5344CB8AC3E}">
        <p14:creationId xmlns:p14="http://schemas.microsoft.com/office/powerpoint/2010/main" val="1171714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228601" y="6241655"/>
            <a:ext cx="1523999" cy="323338"/>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15</a:t>
            </a:fld>
            <a:endParaRPr lang="en-US" altLang="en-US" sz="1400" dirty="0">
              <a:latin typeface="Times New Roman" panose="02020603050405020304" pitchFamily="18" charset="0"/>
              <a:cs typeface="Times New Roman" panose="02020603050405020304" pitchFamily="18" charset="0"/>
            </a:endParaRPr>
          </a:p>
        </p:txBody>
      </p:sp>
      <p:graphicFrame>
        <p:nvGraphicFramePr>
          <p:cNvPr id="7" name="Object 1"/>
          <p:cNvGraphicFramePr>
            <a:graphicFrameLocks noGrp="1"/>
          </p:cNvGraphicFramePr>
          <p:nvPr>
            <p:extLst>
              <p:ext uri="{D42A27DB-BD31-4B8C-83A1-F6EECF244321}">
                <p14:modId xmlns:p14="http://schemas.microsoft.com/office/powerpoint/2010/main" val="3660085013"/>
              </p:ext>
            </p:extLst>
          </p:nvPr>
        </p:nvGraphicFramePr>
        <p:xfrm>
          <a:off x="152400" y="685799"/>
          <a:ext cx="8915400" cy="542237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91185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16</a:t>
            </a:fld>
            <a:endParaRPr kumimoji="0" lang="en-US" altLang="en-US" u="none" strike="noStrike" cap="none" spc="0" normalizeH="0" baseline="0" noProof="0">
              <a:ln>
                <a:noFill/>
              </a:ln>
              <a:uLnTx/>
              <a:uFillTx/>
              <a:cs typeface="+mn-cs"/>
            </a:endParaRPr>
          </a:p>
        </p:txBody>
      </p:sp>
      <p:graphicFrame>
        <p:nvGraphicFramePr>
          <p:cNvPr id="2" name="Chart 1">
            <a:extLst>
              <a:ext uri="{FF2B5EF4-FFF2-40B4-BE49-F238E27FC236}">
                <a16:creationId xmlns:a16="http://schemas.microsoft.com/office/drawing/2014/main" id="{01B84FC6-BBC1-4430-BB75-7D7840F72A3C}"/>
              </a:ext>
            </a:extLst>
          </p:cNvPr>
          <p:cNvGraphicFramePr>
            <a:graphicFrameLocks/>
          </p:cNvGraphicFramePr>
          <p:nvPr>
            <p:extLst>
              <p:ext uri="{D42A27DB-BD31-4B8C-83A1-F6EECF244321}">
                <p14:modId xmlns:p14="http://schemas.microsoft.com/office/powerpoint/2010/main" val="2687298380"/>
              </p:ext>
            </p:extLst>
          </p:nvPr>
        </p:nvGraphicFramePr>
        <p:xfrm>
          <a:off x="1709946" y="974724"/>
          <a:ext cx="6710154" cy="48990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62946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4"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5"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6"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7"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8"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9"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41" name="Group 40">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42"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3"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4"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5"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6"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7"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9" name="Freeform: Shape 48">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17</a:t>
            </a:fld>
            <a:endParaRPr kumimoji="0" lang="en-US" altLang="en-US" u="none" strike="noStrike" cap="none" spc="0" normalizeH="0" baseline="0" noProof="0">
              <a:ln>
                <a:noFill/>
              </a:ln>
              <a:uLnTx/>
              <a:uFillTx/>
              <a:cs typeface="+mn-cs"/>
            </a:endParaRPr>
          </a:p>
        </p:txBody>
      </p:sp>
      <p:graphicFrame>
        <p:nvGraphicFramePr>
          <p:cNvPr id="7" name="Object 1"/>
          <p:cNvGraphicFramePr>
            <a:graphicFrameLocks noGrp="1"/>
          </p:cNvGraphicFramePr>
          <p:nvPr>
            <p:extLst>
              <p:ext uri="{D42A27DB-BD31-4B8C-83A1-F6EECF244321}">
                <p14:modId xmlns:p14="http://schemas.microsoft.com/office/powerpoint/2010/main" val="4018175811"/>
              </p:ext>
            </p:extLst>
          </p:nvPr>
        </p:nvGraphicFramePr>
        <p:xfrm>
          <a:off x="1498874" y="1099226"/>
          <a:ext cx="6710154" cy="51491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1390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213892" y="5883275"/>
            <a:ext cx="413375" cy="365125"/>
          </a:xfrm>
        </p:spPr>
        <p:txBody>
          <a:bodyPr vert="horz" lIns="91440" tIns="45720" rIns="91440" bIns="45720" rtlCol="0" anchor="ctr">
            <a:normAutofit/>
          </a:bodyPr>
          <a:lstStyle/>
          <a:p>
            <a:pPr marR="0" lvl="0" indent="0" defTabSz="457200" fontAlgn="base">
              <a:spcBef>
                <a:spcPct val="0"/>
              </a:spcBef>
              <a:spcAft>
                <a:spcPts val="600"/>
              </a:spcAft>
              <a:buClrTx/>
              <a:buSzTx/>
              <a:buFontTx/>
              <a:buNone/>
              <a:tabLst/>
              <a:defRPr/>
            </a:pPr>
            <a:fld id="{1A25CF7E-05FF-4B4A-9944-BE57E82D8571}" type="slidenum">
              <a:rPr kumimoji="0" lang="en-US" altLang="en-US" u="none" strike="noStrike" cap="none" spc="0" normalizeH="0" baseline="0" noProof="0" smtClean="0">
                <a:ln>
                  <a:noFill/>
                </a:ln>
                <a:uLnTx/>
                <a:uFillTx/>
                <a:cs typeface="+mn-cs"/>
              </a:rPr>
              <a:pPr marR="0" lvl="0" indent="0" defTabSz="457200" fontAlgn="base">
                <a:spcBef>
                  <a:spcPct val="0"/>
                </a:spcBef>
                <a:spcAft>
                  <a:spcPts val="600"/>
                </a:spcAft>
                <a:buClrTx/>
                <a:buSzTx/>
                <a:buFontTx/>
                <a:buNone/>
                <a:tabLst/>
                <a:defRPr/>
              </a:pPr>
              <a:t>18</a:t>
            </a:fld>
            <a:endParaRPr kumimoji="0" lang="en-US" altLang="en-US" u="none" strike="noStrike" cap="none" spc="0" normalizeH="0" baseline="0" noProof="0">
              <a:ln>
                <a:noFill/>
              </a:ln>
              <a:uLnTx/>
              <a:uFillTx/>
              <a:cs typeface="+mn-cs"/>
            </a:endParaRPr>
          </a:p>
        </p:txBody>
      </p:sp>
      <p:graphicFrame>
        <p:nvGraphicFramePr>
          <p:cNvPr id="5" name="Object 1"/>
          <p:cNvGraphicFramePr>
            <a:graphicFrameLocks noGrp="1"/>
          </p:cNvGraphicFramePr>
          <p:nvPr>
            <p:extLst>
              <p:ext uri="{D42A27DB-BD31-4B8C-83A1-F6EECF244321}">
                <p14:modId xmlns:p14="http://schemas.microsoft.com/office/powerpoint/2010/main" val="1845764590"/>
              </p:ext>
            </p:extLst>
          </p:nvPr>
        </p:nvGraphicFramePr>
        <p:xfrm>
          <a:off x="1384696" y="762000"/>
          <a:ext cx="7035404" cy="511174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25229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CD95-839F-329D-9A82-585AAA1E31AF}"/>
              </a:ext>
            </a:extLst>
          </p:cNvPr>
          <p:cNvSpPr>
            <a:spLocks noGrp="1"/>
          </p:cNvSpPr>
          <p:nvPr>
            <p:ph type="title"/>
          </p:nvPr>
        </p:nvSpPr>
        <p:spPr>
          <a:xfrm>
            <a:off x="982133" y="457201"/>
            <a:ext cx="7628467" cy="990599"/>
          </a:xfrm>
        </p:spPr>
        <p:txBody>
          <a:bodyPr/>
          <a:lstStyle/>
          <a:p>
            <a:r>
              <a:rPr lang="en-US">
                <a:latin typeface="Times New Roman" panose="02020603050405020304" pitchFamily="18" charset="0"/>
                <a:cs typeface="Times New Roman" panose="02020603050405020304" pitchFamily="18" charset="0"/>
              </a:rPr>
              <a:t>COVID Stimulus Funds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13351EB-3451-574F-F21D-2E7B60FFEAEC}"/>
              </a:ext>
            </a:extLst>
          </p:cNvPr>
          <p:cNvSpPr>
            <a:spLocks noGrp="1"/>
          </p:cNvSpPr>
          <p:nvPr>
            <p:ph type="sldNum" sz="quarter" idx="12"/>
          </p:nvPr>
        </p:nvSpPr>
        <p:spPr/>
        <p:txBody>
          <a:bodyPr/>
          <a:lstStyle/>
          <a:p>
            <a:pPr>
              <a:defRPr/>
            </a:pPr>
            <a:fld id="{1A25CF7E-05FF-4B4A-9944-BE57E82D8571}" type="slidenum">
              <a:rPr lang="en-US" altLang="en-US" smtClean="0"/>
              <a:pPr>
                <a:defRPr/>
              </a:pPr>
              <a:t>19</a:t>
            </a:fld>
            <a:endParaRPr lang="en-US" altLang="en-US"/>
          </a:p>
        </p:txBody>
      </p:sp>
      <p:pic>
        <p:nvPicPr>
          <p:cNvPr id="5" name="Picture 4">
            <a:extLst>
              <a:ext uri="{FF2B5EF4-FFF2-40B4-BE49-F238E27FC236}">
                <a16:creationId xmlns:a16="http://schemas.microsoft.com/office/drawing/2014/main" id="{8BB8FD70-50F1-489C-170C-36EBB02CD401}"/>
              </a:ext>
            </a:extLst>
          </p:cNvPr>
          <p:cNvPicPr>
            <a:picLocks noChangeAspect="1"/>
          </p:cNvPicPr>
          <p:nvPr/>
        </p:nvPicPr>
        <p:blipFill>
          <a:blip r:embed="rId2"/>
          <a:stretch>
            <a:fillRect/>
          </a:stretch>
        </p:blipFill>
        <p:spPr>
          <a:xfrm>
            <a:off x="685800" y="2057400"/>
            <a:ext cx="8281529" cy="3157435"/>
          </a:xfrm>
          <a:prstGeom prst="rect">
            <a:avLst/>
          </a:prstGeom>
        </p:spPr>
      </p:pic>
    </p:spTree>
    <p:extLst>
      <p:ext uri="{BB962C8B-B14F-4D97-AF65-F5344CB8AC3E}">
        <p14:creationId xmlns:p14="http://schemas.microsoft.com/office/powerpoint/2010/main" val="1637906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1"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2"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13"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14"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15"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16"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pic>
        <p:nvPicPr>
          <p:cNvPr id="6" name="Picture 5">
            <a:extLst>
              <a:ext uri="{FF2B5EF4-FFF2-40B4-BE49-F238E27FC236}">
                <a16:creationId xmlns:a16="http://schemas.microsoft.com/office/drawing/2014/main" id="{C6FFB1A4-D721-BD9A-13CC-66706F5C9F32}"/>
              </a:ext>
            </a:extLst>
          </p:cNvPr>
          <p:cNvPicPr>
            <a:picLocks noChangeAspect="1"/>
          </p:cNvPicPr>
          <p:nvPr/>
        </p:nvPicPr>
        <p:blipFill rotWithShape="1">
          <a:blip r:embed="rId2">
            <a:alphaModFix amt="35000"/>
          </a:blip>
          <a:srcRect l="24937" r="63"/>
          <a:stretch/>
        </p:blipFill>
        <p:spPr>
          <a:xfrm>
            <a:off x="20" y="10"/>
            <a:ext cx="9143980" cy="6857990"/>
          </a:xfrm>
          <a:prstGeom prst="rect">
            <a:avLst/>
          </a:prstGeom>
        </p:spPr>
      </p:pic>
      <p:sp>
        <p:nvSpPr>
          <p:cNvPr id="2" name="Title 1">
            <a:extLst>
              <a:ext uri="{FF2B5EF4-FFF2-40B4-BE49-F238E27FC236}">
                <a16:creationId xmlns:a16="http://schemas.microsoft.com/office/drawing/2014/main" id="{2D036B37-443D-42DA-92A0-8CEE1D39CC71}"/>
              </a:ext>
            </a:extLst>
          </p:cNvPr>
          <p:cNvSpPr>
            <a:spLocks noGrp="1"/>
          </p:cNvSpPr>
          <p:nvPr>
            <p:ph type="title"/>
          </p:nvPr>
        </p:nvSpPr>
        <p:spPr>
          <a:xfrm>
            <a:off x="2196300" y="1380068"/>
            <a:ext cx="6430967" cy="2616199"/>
          </a:xfrm>
        </p:spPr>
        <p:txBody>
          <a:bodyPr vert="horz" lIns="91440" tIns="45720" rIns="91440" bIns="45720" rtlCol="0" anchor="b">
            <a:normAutofit/>
          </a:bodyPr>
          <a:lstStyle/>
          <a:p>
            <a:pPr algn="r"/>
            <a:r>
              <a:rPr lang="en-US" sz="6000"/>
              <a:t>Ancillary Funds</a:t>
            </a:r>
          </a:p>
        </p:txBody>
      </p:sp>
      <p:grpSp>
        <p:nvGrpSpPr>
          <p:cNvPr id="18" name="Group 17">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9"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txBody>
            <a:bodyPr/>
            <a:lstStyle/>
            <a:p>
              <a:endParaRPr lang="en-US"/>
            </a:p>
          </p:txBody>
        </p:sp>
        <p:sp>
          <p:nvSpPr>
            <p:cNvPr id="20"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txBody>
            <a:bodyPr/>
            <a:lstStyle/>
            <a:p>
              <a:endParaRPr lang="en-US"/>
            </a:p>
          </p:txBody>
        </p:sp>
        <p:sp>
          <p:nvSpPr>
            <p:cNvPr id="30"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txBody>
            <a:bodyPr/>
            <a:lstStyle/>
            <a:p>
              <a:endParaRPr lang="en-US"/>
            </a:p>
          </p:txBody>
        </p:sp>
        <p:sp>
          <p:nvSpPr>
            <p:cNvPr id="22"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txBody>
            <a:bodyPr/>
            <a:lstStyle/>
            <a:p>
              <a:endParaRPr lang="en-US"/>
            </a:p>
          </p:txBody>
        </p:sp>
        <p:sp>
          <p:nvSpPr>
            <p:cNvPr id="23"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txBody>
            <a:bodyPr/>
            <a:lstStyle/>
            <a:p>
              <a:endParaRPr lang="en-US"/>
            </a:p>
          </p:txBody>
        </p:sp>
        <p:sp>
          <p:nvSpPr>
            <p:cNvPr id="24"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txBody>
            <a:bodyPr/>
            <a:lstStyle/>
            <a:p>
              <a:endParaRPr lang="en-US"/>
            </a:p>
          </p:txBody>
        </p:sp>
      </p:grpSp>
      <p:sp>
        <p:nvSpPr>
          <p:cNvPr id="4" name="Slide Number Placeholder 3">
            <a:extLst>
              <a:ext uri="{FF2B5EF4-FFF2-40B4-BE49-F238E27FC236}">
                <a16:creationId xmlns:a16="http://schemas.microsoft.com/office/drawing/2014/main" id="{5687747B-E8D6-4317-BFE9-41F352339DE2}"/>
              </a:ext>
            </a:extLst>
          </p:cNvPr>
          <p:cNvSpPr>
            <a:spLocks noGrp="1"/>
          </p:cNvSpPr>
          <p:nvPr>
            <p:ph type="sldNum" sz="quarter" idx="12"/>
          </p:nvPr>
        </p:nvSpPr>
        <p:spPr>
          <a:xfrm>
            <a:off x="8213892" y="5883275"/>
            <a:ext cx="413375" cy="365125"/>
          </a:xfrm>
        </p:spPr>
        <p:txBody>
          <a:bodyPr vert="horz" lIns="91440" tIns="45720" rIns="91440" bIns="45720" rtlCol="0" anchor="ctr">
            <a:normAutofit/>
          </a:bodyPr>
          <a:lstStyle/>
          <a:p>
            <a:pPr>
              <a:spcAft>
                <a:spcPts val="600"/>
              </a:spcAft>
              <a:defRPr/>
            </a:pPr>
            <a:fld id="{1A25CF7E-05FF-4B4A-9944-BE57E82D8571}" type="slidenum">
              <a:rPr lang="en-US" altLang="en-US" smtClean="0">
                <a:cs typeface="+mn-cs"/>
              </a:rPr>
              <a:pPr>
                <a:spcAft>
                  <a:spcPts val="600"/>
                </a:spcAft>
                <a:defRPr/>
              </a:pPr>
              <a:t>20</a:t>
            </a:fld>
            <a:endParaRPr lang="en-US" altLang="en-US">
              <a:cs typeface="+mn-cs"/>
            </a:endParaRPr>
          </a:p>
        </p:txBody>
      </p:sp>
    </p:spTree>
    <p:extLst>
      <p:ext uri="{BB962C8B-B14F-4D97-AF65-F5344CB8AC3E}">
        <p14:creationId xmlns:p14="http://schemas.microsoft.com/office/powerpoint/2010/main" val="22466162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white"/>
              </a:solidFill>
              <a:effectLst/>
              <a:uLnTx/>
              <a:uFillTx/>
              <a:latin typeface="Corbel" panose="020B0503020204020204"/>
              <a:ea typeface="+mn-ea"/>
              <a:cs typeface="+mn-cs"/>
            </a:endParaRPr>
          </a:p>
        </p:txBody>
      </p:sp>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Corbel" panose="020B0503020204020204"/>
              <a:ea typeface="+mn-ea"/>
              <a:cs typeface="+mn-cs"/>
            </a:endParaRPr>
          </a:p>
        </p:txBody>
      </p:sp>
      <p:sp>
        <p:nvSpPr>
          <p:cNvPr id="2" name="Title 1"/>
          <p:cNvSpPr>
            <a:spLocks noGrp="1"/>
          </p:cNvSpPr>
          <p:nvPr>
            <p:ph type="title"/>
          </p:nvPr>
        </p:nvSpPr>
        <p:spPr>
          <a:xfrm>
            <a:off x="401265" y="685800"/>
            <a:ext cx="1979972" cy="5105400"/>
          </a:xfrm>
        </p:spPr>
        <p:txBody>
          <a:bodyPr>
            <a:normAutofit/>
          </a:bodyPr>
          <a:lstStyle/>
          <a:p>
            <a:r>
              <a:rPr lang="en-US" sz="2800" dirty="0">
                <a:solidFill>
                  <a:srgbClr val="FFFFFF"/>
                </a:solidFill>
                <a:latin typeface="Times New Roman" panose="02020603050405020304" pitchFamily="18" charset="0"/>
                <a:cs typeface="Times New Roman" panose="02020603050405020304" pitchFamily="18" charset="0"/>
              </a:rPr>
              <a:t>Capital Projects </a:t>
            </a:r>
            <a:br>
              <a:rPr lang="en-US" sz="2800" dirty="0">
                <a:solidFill>
                  <a:srgbClr val="FFFFFF"/>
                </a:solidFill>
                <a:latin typeface="Times New Roman" panose="02020603050405020304" pitchFamily="18" charset="0"/>
                <a:cs typeface="Times New Roman" panose="02020603050405020304" pitchFamily="18" charset="0"/>
              </a:rPr>
            </a:br>
            <a:r>
              <a:rPr lang="en-US" sz="2800" dirty="0">
                <a:solidFill>
                  <a:srgbClr val="FFFFFF"/>
                </a:solidFill>
                <a:latin typeface="Times New Roman" panose="02020603050405020304" pitchFamily="18" charset="0"/>
                <a:cs typeface="Times New Roman" panose="02020603050405020304" pitchFamily="18" charset="0"/>
              </a:rPr>
              <a:t>Funds</a:t>
            </a: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3000" b="0" i="0" u="none" strike="noStrike" kern="1200" cap="none" spc="0" normalizeH="0" baseline="0" noProof="0">
                <a:ln>
                  <a:noFill/>
                </a:ln>
                <a:solidFill>
                  <a:prstClr val="black"/>
                </a:solidFill>
                <a:effectLst/>
                <a:uLnTx/>
                <a:uFillTx/>
                <a:latin typeface="Arial" charset="0"/>
                <a:ea typeface="+mn-ea"/>
                <a:cs typeface="Arial" charset="0"/>
              </a:endParaRPr>
            </a:p>
          </p:txBody>
        </p:sp>
      </p:grpSp>
      <p:sp>
        <p:nvSpPr>
          <p:cNvPr id="4" name="Slide Number Placeholder 3"/>
          <p:cNvSpPr>
            <a:spLocks noGrp="1"/>
          </p:cNvSpPr>
          <p:nvPr>
            <p:ph type="sldNum" sz="quarter" idx="12"/>
          </p:nvPr>
        </p:nvSpPr>
        <p:spPr>
          <a:xfrm>
            <a:off x="8213892" y="5867131"/>
            <a:ext cx="413375"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1A25CF7E-05FF-4B4A-9944-BE57E82D8571}" type="slidenum">
              <a:rPr kumimoji="0" lang="en-US" altLang="en-US" sz="10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ts val="600"/>
                </a:spcAft>
                <a:buClrTx/>
                <a:buSzTx/>
                <a:buFontTx/>
                <a:buNone/>
                <a:tabLst/>
                <a:defRPr/>
              </a:pPr>
              <a:t>21</a:t>
            </a:fld>
            <a:endParaRPr kumimoji="0" lang="en-US" altLang="en-US" sz="10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04800" y="6477000"/>
            <a:ext cx="1523999" cy="323338"/>
          </a:xfrm>
        </p:spPr>
      </p:pic>
      <p:graphicFrame>
        <p:nvGraphicFramePr>
          <p:cNvPr id="7" name="TextBox 2">
            <a:extLst>
              <a:ext uri="{FF2B5EF4-FFF2-40B4-BE49-F238E27FC236}">
                <a16:creationId xmlns:a16="http://schemas.microsoft.com/office/drawing/2014/main" id="{45C66FB6-9474-3E36-2554-FED07E285CD9}"/>
              </a:ext>
            </a:extLst>
          </p:cNvPr>
          <p:cNvGraphicFramePr/>
          <p:nvPr>
            <p:extLst>
              <p:ext uri="{D42A27DB-BD31-4B8C-83A1-F6EECF244321}">
                <p14:modId xmlns:p14="http://schemas.microsoft.com/office/powerpoint/2010/main" val="2987483417"/>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51619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73"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74"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75"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76"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77"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78"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80" name="Group 79">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81"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82"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83"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84"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85"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86"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88" name="Freeform: Shape 87">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D8A0B02B-0BD5-4F7E-AFA8-3CE81D059747}"/>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22</a:t>
            </a:fld>
            <a:endParaRPr lang="en-US" altLang="en-US"/>
          </a:p>
        </p:txBody>
      </p:sp>
      <p:pic>
        <p:nvPicPr>
          <p:cNvPr id="2" name="Picture 1">
            <a:extLst>
              <a:ext uri="{FF2B5EF4-FFF2-40B4-BE49-F238E27FC236}">
                <a16:creationId xmlns:a16="http://schemas.microsoft.com/office/drawing/2014/main" id="{400A01C3-31E6-0764-4A57-1D58CA27DC19}"/>
              </a:ext>
            </a:extLst>
          </p:cNvPr>
          <p:cNvPicPr>
            <a:picLocks noChangeAspect="1"/>
          </p:cNvPicPr>
          <p:nvPr/>
        </p:nvPicPr>
        <p:blipFill>
          <a:blip r:embed="rId3"/>
          <a:stretch>
            <a:fillRect/>
          </a:stretch>
        </p:blipFill>
        <p:spPr>
          <a:xfrm>
            <a:off x="1464468" y="1066000"/>
            <a:ext cx="6339840" cy="3665220"/>
          </a:xfrm>
          <a:prstGeom prst="rect">
            <a:avLst/>
          </a:prstGeom>
        </p:spPr>
      </p:pic>
    </p:spTree>
    <p:extLst>
      <p:ext uri="{BB962C8B-B14F-4D97-AF65-F5344CB8AC3E}">
        <p14:creationId xmlns:p14="http://schemas.microsoft.com/office/powerpoint/2010/main" val="2039293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23</a:t>
            </a:fld>
            <a:endParaRPr lang="en-US" altLang="en-US"/>
          </a:p>
        </p:txBody>
      </p:sp>
      <p:pic>
        <p:nvPicPr>
          <p:cNvPr id="2" name="Picture 1">
            <a:extLst>
              <a:ext uri="{FF2B5EF4-FFF2-40B4-BE49-F238E27FC236}">
                <a16:creationId xmlns:a16="http://schemas.microsoft.com/office/drawing/2014/main" id="{3DE8644E-83DB-D3F5-22B7-4B6E8582ED21}"/>
              </a:ext>
            </a:extLst>
          </p:cNvPr>
          <p:cNvPicPr>
            <a:picLocks noChangeAspect="1"/>
          </p:cNvPicPr>
          <p:nvPr/>
        </p:nvPicPr>
        <p:blipFill>
          <a:blip r:embed="rId3"/>
          <a:stretch>
            <a:fillRect/>
          </a:stretch>
        </p:blipFill>
        <p:spPr>
          <a:xfrm>
            <a:off x="1435578" y="1086908"/>
            <a:ext cx="6339840" cy="4038600"/>
          </a:xfrm>
          <a:prstGeom prst="rect">
            <a:avLst/>
          </a:prstGeom>
        </p:spPr>
      </p:pic>
    </p:spTree>
    <p:extLst>
      <p:ext uri="{BB962C8B-B14F-4D97-AF65-F5344CB8AC3E}">
        <p14:creationId xmlns:p14="http://schemas.microsoft.com/office/powerpoint/2010/main" val="1838021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B487DBE-EA76-452C-8FC2-79636EB0DD8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24</a:t>
            </a:fld>
            <a:endParaRPr lang="en-US" altLang="en-US"/>
          </a:p>
        </p:txBody>
      </p:sp>
      <p:pic>
        <p:nvPicPr>
          <p:cNvPr id="3" name="Picture 2">
            <a:extLst>
              <a:ext uri="{FF2B5EF4-FFF2-40B4-BE49-F238E27FC236}">
                <a16:creationId xmlns:a16="http://schemas.microsoft.com/office/drawing/2014/main" id="{8B7F4798-54E6-58B5-A66D-4880AFA89153}"/>
              </a:ext>
            </a:extLst>
          </p:cNvPr>
          <p:cNvPicPr>
            <a:picLocks noChangeAspect="1"/>
          </p:cNvPicPr>
          <p:nvPr/>
        </p:nvPicPr>
        <p:blipFill>
          <a:blip r:embed="rId3"/>
          <a:stretch>
            <a:fillRect/>
          </a:stretch>
        </p:blipFill>
        <p:spPr>
          <a:xfrm>
            <a:off x="1438821" y="1188040"/>
            <a:ext cx="6393180" cy="3749040"/>
          </a:xfrm>
          <a:prstGeom prst="rect">
            <a:avLst/>
          </a:prstGeom>
        </p:spPr>
      </p:pic>
    </p:spTree>
    <p:extLst>
      <p:ext uri="{BB962C8B-B14F-4D97-AF65-F5344CB8AC3E}">
        <p14:creationId xmlns:p14="http://schemas.microsoft.com/office/powerpoint/2010/main" val="3649076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2800" dirty="0">
                <a:solidFill>
                  <a:srgbClr val="FFFFFF"/>
                </a:solidFill>
                <a:latin typeface="Times New Roman" panose="02020603050405020304" pitchFamily="18" charset="0"/>
                <a:cs typeface="Times New Roman" panose="02020603050405020304" pitchFamily="18" charset="0"/>
              </a:rPr>
              <a:t>Special Revenue </a:t>
            </a:r>
            <a:br>
              <a:rPr lang="en-US" sz="2800" dirty="0">
                <a:solidFill>
                  <a:srgbClr val="FFFFFF"/>
                </a:solidFill>
                <a:latin typeface="Times New Roman" panose="02020603050405020304" pitchFamily="18" charset="0"/>
                <a:cs typeface="Times New Roman" panose="02020603050405020304" pitchFamily="18" charset="0"/>
              </a:rPr>
            </a:br>
            <a:r>
              <a:rPr lang="en-US" sz="2800" dirty="0">
                <a:solidFill>
                  <a:srgbClr val="FFFFFF"/>
                </a:solidFill>
                <a:latin typeface="Times New Roman" panose="02020603050405020304" pitchFamily="18" charset="0"/>
                <a:cs typeface="Times New Roman" panose="02020603050405020304" pitchFamily="18" charset="0"/>
              </a:rPr>
              <a:t>Funds</a:t>
            </a:r>
          </a:p>
        </p:txBody>
      </p:sp>
      <p:grpSp>
        <p:nvGrpSpPr>
          <p:cNvPr id="16" name="Group 15">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7"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8"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9"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0"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1"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2"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 name="Slide Number Placeholder 3"/>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latin typeface="Times New Roman" panose="02020603050405020304" pitchFamily="18" charset="0"/>
                <a:cs typeface="Times New Roman" panose="02020603050405020304" pitchFamily="18" charset="0"/>
              </a:rPr>
              <a:pPr>
                <a:spcAft>
                  <a:spcPts val="600"/>
                </a:spcAft>
                <a:defRPr/>
              </a:pPr>
              <a:t>25</a:t>
            </a:fld>
            <a:endParaRPr lang="en-US" altLang="en-US">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04800" y="6477000"/>
            <a:ext cx="1523999" cy="323338"/>
          </a:xfrm>
        </p:spPr>
      </p:pic>
      <p:graphicFrame>
        <p:nvGraphicFramePr>
          <p:cNvPr id="7" name="TextBox 2">
            <a:extLst>
              <a:ext uri="{FF2B5EF4-FFF2-40B4-BE49-F238E27FC236}">
                <a16:creationId xmlns:a16="http://schemas.microsoft.com/office/drawing/2014/main" id="{45C66FB6-9474-3E36-2554-FED07E285CD9}"/>
              </a:ext>
            </a:extLst>
          </p:cNvPr>
          <p:cNvGraphicFramePr/>
          <p:nvPr>
            <p:extLst>
              <p:ext uri="{D42A27DB-BD31-4B8C-83A1-F6EECF244321}">
                <p14:modId xmlns:p14="http://schemas.microsoft.com/office/powerpoint/2010/main" val="1473288716"/>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09753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26</a:t>
            </a:fld>
            <a:endParaRPr lang="en-US" altLang="en-US"/>
          </a:p>
        </p:txBody>
      </p:sp>
      <p:pic>
        <p:nvPicPr>
          <p:cNvPr id="2" name="Picture 1">
            <a:extLst>
              <a:ext uri="{FF2B5EF4-FFF2-40B4-BE49-F238E27FC236}">
                <a16:creationId xmlns:a16="http://schemas.microsoft.com/office/drawing/2014/main" id="{0DA79C66-11F3-3B91-843F-8A875BB52DD1}"/>
              </a:ext>
            </a:extLst>
          </p:cNvPr>
          <p:cNvPicPr>
            <a:picLocks noChangeAspect="1"/>
          </p:cNvPicPr>
          <p:nvPr/>
        </p:nvPicPr>
        <p:blipFill>
          <a:blip r:embed="rId3"/>
          <a:stretch>
            <a:fillRect/>
          </a:stretch>
        </p:blipFill>
        <p:spPr>
          <a:xfrm>
            <a:off x="1611244" y="457200"/>
            <a:ext cx="6179820" cy="5364480"/>
          </a:xfrm>
          <a:prstGeom prst="rect">
            <a:avLst/>
          </a:prstGeom>
        </p:spPr>
      </p:pic>
    </p:spTree>
    <p:extLst>
      <p:ext uri="{BB962C8B-B14F-4D97-AF65-F5344CB8AC3E}">
        <p14:creationId xmlns:p14="http://schemas.microsoft.com/office/powerpoint/2010/main" val="3177980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27</a:t>
            </a:fld>
            <a:endParaRPr lang="en-US" altLang="en-US"/>
          </a:p>
        </p:txBody>
      </p:sp>
      <p:pic>
        <p:nvPicPr>
          <p:cNvPr id="2" name="Picture 1">
            <a:extLst>
              <a:ext uri="{FF2B5EF4-FFF2-40B4-BE49-F238E27FC236}">
                <a16:creationId xmlns:a16="http://schemas.microsoft.com/office/drawing/2014/main" id="{F2FCFE36-33D7-A150-54D0-4E88D5C3F79B}"/>
              </a:ext>
            </a:extLst>
          </p:cNvPr>
          <p:cNvPicPr>
            <a:picLocks noChangeAspect="1"/>
          </p:cNvPicPr>
          <p:nvPr/>
        </p:nvPicPr>
        <p:blipFill>
          <a:blip r:embed="rId3"/>
          <a:stretch>
            <a:fillRect/>
          </a:stretch>
        </p:blipFill>
        <p:spPr>
          <a:xfrm>
            <a:off x="1764347" y="457200"/>
            <a:ext cx="6202680" cy="5341620"/>
          </a:xfrm>
          <a:prstGeom prst="rect">
            <a:avLst/>
          </a:prstGeom>
        </p:spPr>
      </p:pic>
    </p:spTree>
    <p:extLst>
      <p:ext uri="{BB962C8B-B14F-4D97-AF65-F5344CB8AC3E}">
        <p14:creationId xmlns:p14="http://schemas.microsoft.com/office/powerpoint/2010/main" val="3124977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2"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3"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4"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5"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6"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7"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59" name="Group 58">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0"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1"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2"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3"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4"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5"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7" name="Freeform: Shape 66">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28</a:t>
            </a:fld>
            <a:endParaRPr lang="en-US" altLang="en-US"/>
          </a:p>
        </p:txBody>
      </p:sp>
      <p:pic>
        <p:nvPicPr>
          <p:cNvPr id="2" name="Picture 1">
            <a:extLst>
              <a:ext uri="{FF2B5EF4-FFF2-40B4-BE49-F238E27FC236}">
                <a16:creationId xmlns:a16="http://schemas.microsoft.com/office/drawing/2014/main" id="{2CB0E4AF-E6CD-F668-0403-C6E6073C6E39}"/>
              </a:ext>
            </a:extLst>
          </p:cNvPr>
          <p:cNvPicPr>
            <a:picLocks noChangeAspect="1"/>
          </p:cNvPicPr>
          <p:nvPr/>
        </p:nvPicPr>
        <p:blipFill>
          <a:blip r:embed="rId3"/>
          <a:stretch>
            <a:fillRect/>
          </a:stretch>
        </p:blipFill>
        <p:spPr>
          <a:xfrm>
            <a:off x="1553284" y="609600"/>
            <a:ext cx="6393180" cy="5074920"/>
          </a:xfrm>
          <a:prstGeom prst="rect">
            <a:avLst/>
          </a:prstGeom>
        </p:spPr>
      </p:pic>
    </p:spTree>
    <p:extLst>
      <p:ext uri="{BB962C8B-B14F-4D97-AF65-F5344CB8AC3E}">
        <p14:creationId xmlns:p14="http://schemas.microsoft.com/office/powerpoint/2010/main" val="2290551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3"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4"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55"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6"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7"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8"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60" name="Group 59">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61"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2"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3"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4"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5"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6"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68" name="Freeform: Shape 67">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2E4AD4EF-D176-4188-9AD9-7E1B515919CC}"/>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29</a:t>
            </a:fld>
            <a:endParaRPr lang="en-US" altLang="en-US"/>
          </a:p>
        </p:txBody>
      </p:sp>
      <p:graphicFrame>
        <p:nvGraphicFramePr>
          <p:cNvPr id="5" name="Object 4">
            <a:extLst>
              <a:ext uri="{FF2B5EF4-FFF2-40B4-BE49-F238E27FC236}">
                <a16:creationId xmlns:a16="http://schemas.microsoft.com/office/drawing/2014/main" id="{64075E06-6CEE-FEDC-4A31-8C0F27B9106E}"/>
              </a:ext>
            </a:extLst>
          </p:cNvPr>
          <p:cNvGraphicFramePr>
            <a:graphicFrameLocks noChangeAspect="1"/>
          </p:cNvGraphicFramePr>
          <p:nvPr>
            <p:extLst>
              <p:ext uri="{D42A27DB-BD31-4B8C-83A1-F6EECF244321}">
                <p14:modId xmlns:p14="http://schemas.microsoft.com/office/powerpoint/2010/main" val="1433525764"/>
              </p:ext>
            </p:extLst>
          </p:nvPr>
        </p:nvGraphicFramePr>
        <p:xfrm>
          <a:off x="1471000" y="533400"/>
          <a:ext cx="6553200" cy="5243512"/>
        </p:xfrm>
        <a:graphic>
          <a:graphicData uri="http://schemas.openxmlformats.org/presentationml/2006/ole">
            <mc:AlternateContent xmlns:mc="http://schemas.openxmlformats.org/markup-compatibility/2006">
              <mc:Choice xmlns:v="urn:schemas-microsoft-com:vml" Requires="v">
                <p:oleObj name="Worksheet" r:id="rId3" imgW="6553058" imgH="5242764" progId="Excel.Sheet.12">
                  <p:embed/>
                </p:oleObj>
              </mc:Choice>
              <mc:Fallback>
                <p:oleObj name="Worksheet" r:id="rId3" imgW="6553058" imgH="5242764" progId="Excel.Sheet.12">
                  <p:embed/>
                  <p:pic>
                    <p:nvPicPr>
                      <p:cNvPr id="0" name=""/>
                      <p:cNvPicPr/>
                      <p:nvPr/>
                    </p:nvPicPr>
                    <p:blipFill>
                      <a:blip r:embed="rId4"/>
                      <a:stretch>
                        <a:fillRect/>
                      </a:stretch>
                    </p:blipFill>
                    <p:spPr>
                      <a:xfrm>
                        <a:off x="1471000" y="533400"/>
                        <a:ext cx="6553200" cy="5243512"/>
                      </a:xfrm>
                      <a:prstGeom prst="rect">
                        <a:avLst/>
                      </a:prstGeom>
                    </p:spPr>
                  </p:pic>
                </p:oleObj>
              </mc:Fallback>
            </mc:AlternateContent>
          </a:graphicData>
        </a:graphic>
      </p:graphicFrame>
    </p:spTree>
    <p:extLst>
      <p:ext uri="{BB962C8B-B14F-4D97-AF65-F5344CB8AC3E}">
        <p14:creationId xmlns:p14="http://schemas.microsoft.com/office/powerpoint/2010/main" val="2163491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9D35B1-0ED5-4358-8CAE-A9E49412AA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1" name="Freeform 6">
              <a:extLst>
                <a:ext uri="{FF2B5EF4-FFF2-40B4-BE49-F238E27FC236}">
                  <a16:creationId xmlns:a16="http://schemas.microsoft.com/office/drawing/2014/main" id="{DDEF6545-5A42-469E-8778-86CA01CD46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2" name="Freeform 7">
              <a:extLst>
                <a:ext uri="{FF2B5EF4-FFF2-40B4-BE49-F238E27FC236}">
                  <a16:creationId xmlns:a16="http://schemas.microsoft.com/office/drawing/2014/main" id="{3B08853F-842C-4D0A-9A89-D05CB3990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3" name="Freeform 8">
              <a:extLst>
                <a:ext uri="{FF2B5EF4-FFF2-40B4-BE49-F238E27FC236}">
                  <a16:creationId xmlns:a16="http://schemas.microsoft.com/office/drawing/2014/main" id="{A436FB18-2D01-4AAB-AD10-2D1208310F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4" name="Freeform 9">
              <a:extLst>
                <a:ext uri="{FF2B5EF4-FFF2-40B4-BE49-F238E27FC236}">
                  <a16:creationId xmlns:a16="http://schemas.microsoft.com/office/drawing/2014/main" id="{9EFB8341-7A7B-46E4-AF94-689147AD0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5" name="Freeform 10">
              <a:extLst>
                <a:ext uri="{FF2B5EF4-FFF2-40B4-BE49-F238E27FC236}">
                  <a16:creationId xmlns:a16="http://schemas.microsoft.com/office/drawing/2014/main" id="{C4D84136-7804-4605-AC9F-238A3665E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6" name="Freeform 11">
              <a:extLst>
                <a:ext uri="{FF2B5EF4-FFF2-40B4-BE49-F238E27FC236}">
                  <a16:creationId xmlns:a16="http://schemas.microsoft.com/office/drawing/2014/main" id="{4EC6F81C-51C2-4A6F-8B94-562DA6736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pSp>
        <p:nvGrpSpPr>
          <p:cNvPr id="38" name="Group 37">
            <a:extLst>
              <a:ext uri="{FF2B5EF4-FFF2-40B4-BE49-F238E27FC236}">
                <a16:creationId xmlns:a16="http://schemas.microsoft.com/office/drawing/2014/main" id="{DD65B30C-427F-449E-B039-E288E85D8A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39" name="Freeform 6">
              <a:extLst>
                <a:ext uri="{FF2B5EF4-FFF2-40B4-BE49-F238E27FC236}">
                  <a16:creationId xmlns:a16="http://schemas.microsoft.com/office/drawing/2014/main" id="{9F47D947-83F7-46E3-872B-0777122A0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0" name="Freeform 7">
              <a:extLst>
                <a:ext uri="{FF2B5EF4-FFF2-40B4-BE49-F238E27FC236}">
                  <a16:creationId xmlns:a16="http://schemas.microsoft.com/office/drawing/2014/main" id="{60C7B45B-6634-46FA-862D-B86F1C3C5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1" name="Freeform 8">
              <a:extLst>
                <a:ext uri="{FF2B5EF4-FFF2-40B4-BE49-F238E27FC236}">
                  <a16:creationId xmlns:a16="http://schemas.microsoft.com/office/drawing/2014/main" id="{C7504CC0-DD94-4ED9-ADC9-6FE7AEA33F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42" name="Freeform 9">
              <a:extLst>
                <a:ext uri="{FF2B5EF4-FFF2-40B4-BE49-F238E27FC236}">
                  <a16:creationId xmlns:a16="http://schemas.microsoft.com/office/drawing/2014/main" id="{64268326-B6DD-4E00-9788-6C319279A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43" name="Freeform 10">
              <a:extLst>
                <a:ext uri="{FF2B5EF4-FFF2-40B4-BE49-F238E27FC236}">
                  <a16:creationId xmlns:a16="http://schemas.microsoft.com/office/drawing/2014/main" id="{92C7B3DE-DB23-4AAC-B142-C803C0C0A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44" name="Freeform 11">
              <a:extLst>
                <a:ext uri="{FF2B5EF4-FFF2-40B4-BE49-F238E27FC236}">
                  <a16:creationId xmlns:a16="http://schemas.microsoft.com/office/drawing/2014/main" id="{1EEF04DC-4E0D-4127-A98D-EA81C3B2D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46" name="Freeform: Shape 45">
            <a:extLst>
              <a:ext uri="{FF2B5EF4-FFF2-40B4-BE49-F238E27FC236}">
                <a16:creationId xmlns:a16="http://schemas.microsoft.com/office/drawing/2014/main" id="{084966D2-3C9B-4F47-8231-1DEC33D3B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049" y="321734"/>
            <a:ext cx="8305651" cy="6214533"/>
          </a:xfrm>
          <a:custGeom>
            <a:avLst/>
            <a:gdLst>
              <a:gd name="connsiteX0" fmla="*/ 815396 w 11074201"/>
              <a:gd name="connsiteY0" fmla="*/ 0 h 6214533"/>
              <a:gd name="connsiteX1" fmla="*/ 11074201 w 11074201"/>
              <a:gd name="connsiteY1" fmla="*/ 0 h 6214533"/>
              <a:gd name="connsiteX2" fmla="*/ 11074201 w 11074201"/>
              <a:gd name="connsiteY2" fmla="*/ 6214533 h 6214533"/>
              <a:gd name="connsiteX3" fmla="*/ 1498193 w 11074201"/>
              <a:gd name="connsiteY3" fmla="*/ 6214533 h 6214533"/>
              <a:gd name="connsiteX4" fmla="*/ 0 w 11074201"/>
              <a:gd name="connsiteY4" fmla="*/ 4992543 h 6214533"/>
              <a:gd name="connsiteX5" fmla="*/ 433971 w 11074201"/>
              <a:gd name="connsiteY5" fmla="*/ 2335405 h 62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4201" h="6214533">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w="38100">
            <a:gradFill flip="none" rotWithShape="1">
              <a:gsLst>
                <a:gs pos="0">
                  <a:schemeClr val="bg2"/>
                </a:gs>
                <a:gs pos="100000">
                  <a:schemeClr val="bg2">
                    <a:lumMod val="75000"/>
                  </a:schemeClr>
                </a:gs>
              </a:gsLst>
              <a:lin ang="5400000" scaled="1"/>
              <a:tileRect/>
            </a:grad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hidden="1">
            <a:extLst>
              <a:ext uri="{FF2B5EF4-FFF2-40B4-BE49-F238E27FC236}">
                <a16:creationId xmlns:a16="http://schemas.microsoft.com/office/drawing/2014/main" id="{E37CC446-BC43-49BB-AD3D-918FA22BE71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30</a:t>
            </a:fld>
            <a:endParaRPr lang="en-US" altLang="en-US"/>
          </a:p>
        </p:txBody>
      </p:sp>
      <p:pic>
        <p:nvPicPr>
          <p:cNvPr id="2" name="Picture 1">
            <a:extLst>
              <a:ext uri="{FF2B5EF4-FFF2-40B4-BE49-F238E27FC236}">
                <a16:creationId xmlns:a16="http://schemas.microsoft.com/office/drawing/2014/main" id="{CD31428D-E27B-8438-E5EE-D15C0D757BC5}"/>
              </a:ext>
            </a:extLst>
          </p:cNvPr>
          <p:cNvPicPr>
            <a:picLocks noChangeAspect="1"/>
          </p:cNvPicPr>
          <p:nvPr/>
        </p:nvPicPr>
        <p:blipFill>
          <a:blip r:embed="rId3"/>
          <a:stretch>
            <a:fillRect/>
          </a:stretch>
        </p:blipFill>
        <p:spPr>
          <a:xfrm>
            <a:off x="1360170" y="1365035"/>
            <a:ext cx="6423660" cy="3665220"/>
          </a:xfrm>
          <a:prstGeom prst="rect">
            <a:avLst/>
          </a:prstGeom>
        </p:spPr>
      </p:pic>
    </p:spTree>
    <p:extLst>
      <p:ext uri="{BB962C8B-B14F-4D97-AF65-F5344CB8AC3E}">
        <p14:creationId xmlns:p14="http://schemas.microsoft.com/office/powerpoint/2010/main" val="1232677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pic>
        <p:nvPicPr>
          <p:cNvPr id="8" name="Graphic 7" descr="Help">
            <a:extLst>
              <a:ext uri="{FF2B5EF4-FFF2-40B4-BE49-F238E27FC236}">
                <a16:creationId xmlns:a16="http://schemas.microsoft.com/office/drawing/2014/main" id="{5AD4AAA7-60C4-E589-6771-41CEDA1A9D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62400" y="2286000"/>
            <a:ext cx="2037837" cy="2037837"/>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4" name="Slide Number Placeholder 3">
            <a:extLst>
              <a:ext uri="{FF2B5EF4-FFF2-40B4-BE49-F238E27FC236}">
                <a16:creationId xmlns:a16="http://schemas.microsoft.com/office/drawing/2014/main" id="{6BFDD8AD-AE95-06C0-9026-1EF89E780939}"/>
              </a:ext>
            </a:extLst>
          </p:cNvPr>
          <p:cNvSpPr>
            <a:spLocks noGrp="1"/>
          </p:cNvSpPr>
          <p:nvPr>
            <p:ph type="sldNum" sz="quarter" idx="12"/>
          </p:nvPr>
        </p:nvSpPr>
        <p:spPr>
          <a:xfrm>
            <a:off x="8213892" y="5867131"/>
            <a:ext cx="413375" cy="365125"/>
          </a:xfrm>
        </p:spPr>
        <p:txBody>
          <a:bodyPr>
            <a:normAutofit/>
          </a:bodyPr>
          <a:lstStyle/>
          <a:p>
            <a:pPr>
              <a:spcAft>
                <a:spcPts val="600"/>
              </a:spcAft>
              <a:defRPr/>
            </a:pPr>
            <a:fld id="{1A25CF7E-05FF-4B4A-9944-BE57E82D8571}" type="slidenum">
              <a:rPr lang="en-US" altLang="en-US" smtClean="0"/>
              <a:pPr>
                <a:spcAft>
                  <a:spcPts val="600"/>
                </a:spcAft>
                <a:defRPr/>
              </a:pPr>
              <a:t>31</a:t>
            </a:fld>
            <a:endParaRPr lang="en-US" altLang="en-US"/>
          </a:p>
        </p:txBody>
      </p:sp>
    </p:spTree>
    <p:extLst>
      <p:ext uri="{BB962C8B-B14F-4D97-AF65-F5344CB8AC3E}">
        <p14:creationId xmlns:p14="http://schemas.microsoft.com/office/powerpoint/2010/main" val="37575344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3495</TotalTime>
  <Words>729</Words>
  <Application>Microsoft Office PowerPoint</Application>
  <PresentationFormat>On-screen Show (4:3)</PresentationFormat>
  <Paragraphs>200</Paragraphs>
  <Slides>31</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8" baseType="lpstr">
      <vt:lpstr>Arial</vt:lpstr>
      <vt:lpstr>Corbel</vt:lpstr>
      <vt:lpstr>Tahoma</vt:lpstr>
      <vt:lpstr>Times New Roman</vt:lpstr>
      <vt:lpstr>Wingdings</vt:lpstr>
      <vt:lpstr>Parallax</vt:lpstr>
      <vt:lpstr>Worksheet</vt:lpstr>
      <vt:lpstr>PowerPoint Presentation</vt:lpstr>
      <vt:lpstr>Truth In Taxation / Establishment of Millage Rates</vt:lpstr>
      <vt:lpstr>PowerPoint Presentation</vt:lpstr>
      <vt:lpstr>PowerPoint Presentation</vt:lpstr>
      <vt:lpstr>PowerPoint Presentation</vt:lpstr>
      <vt:lpstr>PowerPoint Presentation</vt:lpstr>
      <vt:lpstr>PowerPoint Presentation</vt:lpstr>
      <vt:lpstr>General Fund</vt:lpstr>
      <vt:lpstr>2023-24 General Fund Budget Adjustments</vt:lpstr>
      <vt:lpstr>PowerPoint Presentation</vt:lpstr>
      <vt:lpstr>2024-25 General Fund Assumptions</vt:lpstr>
      <vt:lpstr>PowerPoint Presentation</vt:lpstr>
      <vt:lpstr>So What? Now What?</vt:lpstr>
      <vt:lpstr>PowerPoint Presentation</vt:lpstr>
      <vt:lpstr>PowerPoint Presentation</vt:lpstr>
      <vt:lpstr>PowerPoint Presentation</vt:lpstr>
      <vt:lpstr>PowerPoint Presentation</vt:lpstr>
      <vt:lpstr>PowerPoint Presentation</vt:lpstr>
      <vt:lpstr>COVID Stimulus Funds </vt:lpstr>
      <vt:lpstr>Ancillary Funds</vt:lpstr>
      <vt:lpstr>Capital Projects  Funds</vt:lpstr>
      <vt:lpstr>PowerPoint Presentation</vt:lpstr>
      <vt:lpstr>PowerPoint Presentation</vt:lpstr>
      <vt:lpstr>PowerPoint Presentation</vt:lpstr>
      <vt:lpstr>Special Revenue  Funds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West, Rick</dc:creator>
  <cp:lastModifiedBy>West, Rick</cp:lastModifiedBy>
  <cp:revision>112</cp:revision>
  <cp:lastPrinted>2024-05-29T14:09:15Z</cp:lastPrinted>
  <dcterms:created xsi:type="dcterms:W3CDTF">2020-06-09T21:05:26Z</dcterms:created>
  <dcterms:modified xsi:type="dcterms:W3CDTF">2024-06-19T19:24:52Z</dcterms:modified>
</cp:coreProperties>
</file>