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83" r:id="rId2"/>
    <p:sldId id="287" r:id="rId3"/>
    <p:sldId id="288" r:id="rId4"/>
    <p:sldId id="279" r:id="rId5"/>
    <p:sldId id="300" r:id="rId6"/>
    <p:sldId id="262" r:id="rId7"/>
    <p:sldId id="277" r:id="rId8"/>
    <p:sldId id="278" r:id="rId9"/>
    <p:sldId id="281" r:id="rId10"/>
    <p:sldId id="289" r:id="rId11"/>
    <p:sldId id="272" r:id="rId12"/>
    <p:sldId id="270" r:id="rId13"/>
    <p:sldId id="273" r:id="rId14"/>
    <p:sldId id="271" r:id="rId15"/>
    <p:sldId id="284" r:id="rId16"/>
    <p:sldId id="290" r:id="rId17"/>
    <p:sldId id="274" r:id="rId18"/>
    <p:sldId id="275" r:id="rId19"/>
    <p:sldId id="285" r:id="rId20"/>
    <p:sldId id="291" r:id="rId21"/>
    <p:sldId id="264" r:id="rId22"/>
    <p:sldId id="265" r:id="rId23"/>
    <p:sldId id="266" r:id="rId24"/>
    <p:sldId id="268" r:id="rId25"/>
    <p:sldId id="269" r:id="rId26"/>
    <p:sldId id="295" r:id="rId27"/>
    <p:sldId id="258" r:id="rId28"/>
    <p:sldId id="259" r:id="rId29"/>
    <p:sldId id="286" r:id="rId30"/>
    <p:sldId id="294" r:id="rId31"/>
    <p:sldId id="263" r:id="rId32"/>
    <p:sldId id="276" r:id="rId33"/>
    <p:sldId id="282" r:id="rId34"/>
    <p:sldId id="299" r:id="rId35"/>
    <p:sldId id="292" r:id="rId36"/>
    <p:sldId id="297" r:id="rId37"/>
    <p:sldId id="256" r:id="rId38"/>
    <p:sldId id="293" r:id="rId39"/>
    <p:sldId id="257" r:id="rId40"/>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10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D0F33C-ED00-914C-8D4E-C7B93D2E93B4}" v="644" dt="2023-11-14T18:56:16.8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8"/>
    <p:restoredTop sz="77892"/>
  </p:normalViewPr>
  <p:slideViewPr>
    <p:cSldViewPr snapToGrid="0">
      <p:cViewPr varScale="1">
        <p:scale>
          <a:sx n="60" d="100"/>
          <a:sy n="60" d="100"/>
        </p:scale>
        <p:origin x="111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r>
              <a:rPr lang="en-US" sz="1800" b="1" dirty="0">
                <a:solidFill>
                  <a:schemeClr val="accent1">
                    <a:lumMod val="75000"/>
                  </a:schemeClr>
                </a:solidFill>
              </a:rPr>
              <a:t>EBRW</a:t>
            </a:r>
            <a:r>
              <a:rPr lang="en-US" sz="1800" b="1" dirty="0"/>
              <a:t> SAT 11:</a:t>
            </a:r>
            <a:r>
              <a:rPr lang="en-US" sz="1800" b="1" baseline="0" dirty="0"/>
              <a:t> Actual performance versus expected performance </a:t>
            </a:r>
            <a:br>
              <a:rPr lang="en-US" sz="1800" b="1" baseline="0" dirty="0"/>
            </a:br>
            <a:r>
              <a:rPr lang="en-US" sz="1800" b="1" baseline="0" dirty="0"/>
              <a:t>based on linear regression against % economically disadvantaged within district (r</a:t>
            </a:r>
            <a:r>
              <a:rPr lang="en-US" sz="1800" b="1" baseline="30000" dirty="0"/>
              <a:t>2</a:t>
            </a:r>
            <a:r>
              <a:rPr lang="en-US" sz="1800" b="1" baseline="0" dirty="0"/>
              <a:t>=0.91)</a:t>
            </a:r>
            <a:endParaRPr lang="en-US" sz="1800" b="1" dirty="0"/>
          </a:p>
        </c:rich>
      </c:tx>
      <c:layout>
        <c:manualLayout>
          <c:xMode val="edge"/>
          <c:yMode val="edge"/>
          <c:x val="0.11237686629851122"/>
          <c:y val="7.9924795173045831E-3"/>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4297710068850087E-2"/>
          <c:y val="0.14163790763808859"/>
          <c:w val="0.94637861843356541"/>
          <c:h val="0.76010368196854139"/>
        </c:manualLayout>
      </c:layout>
      <c:barChart>
        <c:barDir val="col"/>
        <c:grouping val="clustered"/>
        <c:varyColors val="0"/>
        <c:ser>
          <c:idx val="0"/>
          <c:order val="0"/>
          <c:tx>
            <c:strRef>
              <c:f>Sheet1!$B$1</c:f>
              <c:strCache>
                <c:ptCount val="1"/>
                <c:pt idx="0">
                  <c:v>EBRW</c:v>
                </c:pt>
              </c:strCache>
            </c:strRef>
          </c:tx>
          <c:spPr>
            <a:solidFill>
              <a:schemeClr val="accent1">
                <a:lumMod val="75000"/>
              </a:schemeClr>
            </a:solidFill>
            <a:ln>
              <a:noFill/>
            </a:ln>
            <a:effectLst/>
          </c:spPr>
          <c:invertIfNegative val="0"/>
          <c:dPt>
            <c:idx val="2"/>
            <c:invertIfNegative val="0"/>
            <c:bubble3D val="0"/>
            <c:spPr>
              <a:solidFill>
                <a:schemeClr val="tx1"/>
              </a:solidFill>
              <a:ln>
                <a:noFill/>
              </a:ln>
              <a:effectLst/>
            </c:spPr>
            <c:extLst>
              <c:ext xmlns:c16="http://schemas.microsoft.com/office/drawing/2014/chart" uri="{C3380CC4-5D6E-409C-BE32-E72D297353CC}">
                <c16:uniqueId val="{00000004-305A-4264-9087-FC4018D43DBA}"/>
              </c:ext>
            </c:extLst>
          </c:dPt>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Sheet1!$A$2:$A$29</c:f>
              <c:strCache>
                <c:ptCount val="28"/>
                <c:pt idx="0">
                  <c:v>Madison Hts</c:v>
                </c:pt>
                <c:pt idx="1">
                  <c:v>Lamphere</c:v>
                </c:pt>
                <c:pt idx="2">
                  <c:v>Troy</c:v>
                </c:pt>
                <c:pt idx="3">
                  <c:v>Novi</c:v>
                </c:pt>
                <c:pt idx="4">
                  <c:v>Brandon</c:v>
                </c:pt>
                <c:pt idx="5">
                  <c:v>Rochester</c:v>
                </c:pt>
                <c:pt idx="6">
                  <c:v>Ferndale</c:v>
                </c:pt>
                <c:pt idx="7">
                  <c:v>Hazel Park</c:v>
                </c:pt>
                <c:pt idx="8">
                  <c:v>Birmingham</c:v>
                </c:pt>
                <c:pt idx="9">
                  <c:v>Berkley</c:v>
                </c:pt>
                <c:pt idx="10">
                  <c:v>Bloomfield Hills</c:v>
                </c:pt>
                <c:pt idx="11">
                  <c:v>Holly</c:v>
                </c:pt>
                <c:pt idx="12">
                  <c:v>Royal Oak</c:v>
                </c:pt>
                <c:pt idx="13">
                  <c:v>Lake Orion</c:v>
                </c:pt>
                <c:pt idx="14">
                  <c:v>Avondale</c:v>
                </c:pt>
                <c:pt idx="15">
                  <c:v>Farmington</c:v>
                </c:pt>
                <c:pt idx="16">
                  <c:v>South Lion</c:v>
                </c:pt>
                <c:pt idx="17">
                  <c:v>Walled Lake</c:v>
                </c:pt>
                <c:pt idx="18">
                  <c:v>Waterford</c:v>
                </c:pt>
                <c:pt idx="19">
                  <c:v>Oak Park</c:v>
                </c:pt>
                <c:pt idx="20">
                  <c:v>Clarenceville</c:v>
                </c:pt>
                <c:pt idx="21">
                  <c:v>Oxford</c:v>
                </c:pt>
                <c:pt idx="22">
                  <c:v>Southfield</c:v>
                </c:pt>
                <c:pt idx="23">
                  <c:v>Pontiac</c:v>
                </c:pt>
                <c:pt idx="24">
                  <c:v>West Bloomfield</c:v>
                </c:pt>
                <c:pt idx="25">
                  <c:v>Huron Valley</c:v>
                </c:pt>
                <c:pt idx="26">
                  <c:v>Clarkston</c:v>
                </c:pt>
                <c:pt idx="27">
                  <c:v>Clawson</c:v>
                </c:pt>
              </c:strCache>
            </c:strRef>
          </c:cat>
          <c:val>
            <c:numRef>
              <c:f>Sheet1!$B$2:$B$29</c:f>
              <c:numCache>
                <c:formatCode>0</c:formatCode>
                <c:ptCount val="28"/>
                <c:pt idx="0">
                  <c:v>9.0559999999999974</c:v>
                </c:pt>
                <c:pt idx="1">
                  <c:v>5.9600000000000009</c:v>
                </c:pt>
                <c:pt idx="2">
                  <c:v>5.7160000000000082</c:v>
                </c:pt>
                <c:pt idx="3">
                  <c:v>5.7000000000000028</c:v>
                </c:pt>
                <c:pt idx="4">
                  <c:v>5.436000000000007</c:v>
                </c:pt>
                <c:pt idx="5">
                  <c:v>5.0440000000000111</c:v>
                </c:pt>
                <c:pt idx="6">
                  <c:v>4.6960000000000051</c:v>
                </c:pt>
                <c:pt idx="7">
                  <c:v>3.7120000000000033</c:v>
                </c:pt>
                <c:pt idx="8">
                  <c:v>3.7000000000000028</c:v>
                </c:pt>
                <c:pt idx="9">
                  <c:v>3.3880000000000052</c:v>
                </c:pt>
                <c:pt idx="10">
                  <c:v>3.3719999999999999</c:v>
                </c:pt>
                <c:pt idx="11">
                  <c:v>1.9440000000000026</c:v>
                </c:pt>
                <c:pt idx="12">
                  <c:v>1.4039999999999964</c:v>
                </c:pt>
                <c:pt idx="13">
                  <c:v>1.4039999999999964</c:v>
                </c:pt>
                <c:pt idx="14">
                  <c:v>0.64800000000000324</c:v>
                </c:pt>
                <c:pt idx="15">
                  <c:v>0.25600000000000023</c:v>
                </c:pt>
                <c:pt idx="16">
                  <c:v>-0.28399999999999181</c:v>
                </c:pt>
                <c:pt idx="17">
                  <c:v>-0.75999999999999091</c:v>
                </c:pt>
                <c:pt idx="18">
                  <c:v>-1.6799999999999997</c:v>
                </c:pt>
                <c:pt idx="19">
                  <c:v>-1.7800000000000011</c:v>
                </c:pt>
                <c:pt idx="20">
                  <c:v>-2.6639999999999944</c:v>
                </c:pt>
                <c:pt idx="21">
                  <c:v>-2.7439999999999998</c:v>
                </c:pt>
                <c:pt idx="22">
                  <c:v>-3.171999999999997</c:v>
                </c:pt>
                <c:pt idx="23">
                  <c:v>-4.4679999999999964</c:v>
                </c:pt>
                <c:pt idx="24">
                  <c:v>-7.0719999999999956</c:v>
                </c:pt>
                <c:pt idx="25">
                  <c:v>-8.0879999999999939</c:v>
                </c:pt>
                <c:pt idx="26">
                  <c:v>-11.283999999999992</c:v>
                </c:pt>
                <c:pt idx="27">
                  <c:v>-17.383999999999993</c:v>
                </c:pt>
              </c:numCache>
            </c:numRef>
          </c:val>
          <c:extLst>
            <c:ext xmlns:c16="http://schemas.microsoft.com/office/drawing/2014/chart" uri="{C3380CC4-5D6E-409C-BE32-E72D297353CC}">
              <c16:uniqueId val="{00000000-305A-4264-9087-FC4018D43DBA}"/>
            </c:ext>
          </c:extLst>
        </c:ser>
        <c:dLbls>
          <c:showLegendKey val="0"/>
          <c:showVal val="0"/>
          <c:showCatName val="0"/>
          <c:showSerName val="0"/>
          <c:showPercent val="0"/>
          <c:showBubbleSize val="0"/>
        </c:dLbls>
        <c:gapWidth val="63"/>
        <c:overlap val="-27"/>
        <c:axId val="731525392"/>
        <c:axId val="648967520"/>
      </c:barChart>
      <c:catAx>
        <c:axId val="731525392"/>
        <c:scaling>
          <c:orientation val="minMax"/>
        </c:scaling>
        <c:delete val="1"/>
        <c:axPos val="b"/>
        <c:numFmt formatCode="General" sourceLinked="1"/>
        <c:majorTickMark val="none"/>
        <c:minorTickMark val="none"/>
        <c:tickLblPos val="nextTo"/>
        <c:crossAx val="648967520"/>
        <c:crosses val="autoZero"/>
        <c:auto val="1"/>
        <c:lblAlgn val="ctr"/>
        <c:lblOffset val="100"/>
        <c:noMultiLvlLbl val="0"/>
      </c:catAx>
      <c:valAx>
        <c:axId val="64896752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315253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r>
              <a:rPr lang="en-US" sz="1800" b="1" dirty="0">
                <a:solidFill>
                  <a:srgbClr val="C00000"/>
                </a:solidFill>
              </a:rPr>
              <a:t>Math</a:t>
            </a:r>
            <a:r>
              <a:rPr lang="en-US" sz="1800" b="1" dirty="0"/>
              <a:t> SAT 11:</a:t>
            </a:r>
            <a:r>
              <a:rPr lang="en-US" sz="1800" b="1" baseline="0" dirty="0"/>
              <a:t> Actual performance versus expected performance </a:t>
            </a:r>
            <a:br>
              <a:rPr lang="en-US" sz="1800" b="1" baseline="0" dirty="0"/>
            </a:br>
            <a:r>
              <a:rPr lang="en-US" sz="1800" b="1" baseline="0" dirty="0"/>
              <a:t>based on linear regression against % economically disadvantaged within district (r</a:t>
            </a:r>
            <a:r>
              <a:rPr lang="en-US" sz="1800" b="1" baseline="30000" dirty="0"/>
              <a:t>2</a:t>
            </a:r>
            <a:r>
              <a:rPr lang="en-US" sz="1800" b="1" baseline="0" dirty="0"/>
              <a:t>=0.87)</a:t>
            </a:r>
            <a:endParaRPr lang="en-US" sz="1800" b="1" dirty="0"/>
          </a:p>
        </c:rich>
      </c:tx>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3.4297710068850087E-2"/>
          <c:y val="0.14163790763808859"/>
          <c:w val="0.94637861843356541"/>
          <c:h val="0.76010368196854139"/>
        </c:manualLayout>
      </c:layout>
      <c:barChart>
        <c:barDir val="col"/>
        <c:grouping val="clustered"/>
        <c:varyColors val="0"/>
        <c:ser>
          <c:idx val="0"/>
          <c:order val="0"/>
          <c:tx>
            <c:strRef>
              <c:f>Sheet1!$B$1</c:f>
              <c:strCache>
                <c:ptCount val="1"/>
                <c:pt idx="0">
                  <c:v>Math</c:v>
                </c:pt>
              </c:strCache>
            </c:strRef>
          </c:tx>
          <c:spPr>
            <a:solidFill>
              <a:srgbClr val="C00000"/>
            </a:solidFill>
            <a:ln>
              <a:noFill/>
            </a:ln>
            <a:effectLst/>
          </c:spPr>
          <c:invertIfNegative val="0"/>
          <c:dPt>
            <c:idx val="1"/>
            <c:invertIfNegative val="0"/>
            <c:bubble3D val="0"/>
            <c:spPr>
              <a:solidFill>
                <a:schemeClr val="tx1"/>
              </a:solidFill>
              <a:ln>
                <a:noFill/>
              </a:ln>
              <a:effectLst/>
            </c:spPr>
            <c:extLst>
              <c:ext xmlns:c16="http://schemas.microsoft.com/office/drawing/2014/chart" uri="{C3380CC4-5D6E-409C-BE32-E72D297353CC}">
                <c16:uniqueId val="{00000002-8CD7-4F21-BF75-16C23F376E39}"/>
              </c:ext>
            </c:extLst>
          </c:dPt>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0"/>
            <c:showBubbleSize val="0"/>
            <c:separator> </c:separator>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Sheet1!$A$2:$A$29</c:f>
              <c:strCache>
                <c:ptCount val="28"/>
                <c:pt idx="0">
                  <c:v>Novi</c:v>
                </c:pt>
                <c:pt idx="1">
                  <c:v>Troy</c:v>
                </c:pt>
                <c:pt idx="2">
                  <c:v>Madison Hts</c:v>
                </c:pt>
                <c:pt idx="3">
                  <c:v>Rochester</c:v>
                </c:pt>
                <c:pt idx="4">
                  <c:v>Ferndale</c:v>
                </c:pt>
                <c:pt idx="5">
                  <c:v>Birmingham</c:v>
                </c:pt>
                <c:pt idx="6">
                  <c:v>Hazel Park</c:v>
                </c:pt>
                <c:pt idx="7">
                  <c:v>South Lion</c:v>
                </c:pt>
                <c:pt idx="8">
                  <c:v>Berkley</c:v>
                </c:pt>
                <c:pt idx="9">
                  <c:v>Oak Park</c:v>
                </c:pt>
                <c:pt idx="10">
                  <c:v>Brandon</c:v>
                </c:pt>
                <c:pt idx="11">
                  <c:v>Lamphere</c:v>
                </c:pt>
                <c:pt idx="12">
                  <c:v>Lake Orion</c:v>
                </c:pt>
                <c:pt idx="13">
                  <c:v>Pontiac</c:v>
                </c:pt>
                <c:pt idx="14">
                  <c:v>Avondale</c:v>
                </c:pt>
                <c:pt idx="15">
                  <c:v>Farmington</c:v>
                </c:pt>
                <c:pt idx="16">
                  <c:v>Bloomfield Hills</c:v>
                </c:pt>
                <c:pt idx="17">
                  <c:v>Waterford</c:v>
                </c:pt>
                <c:pt idx="18">
                  <c:v>Walled Lake</c:v>
                </c:pt>
                <c:pt idx="19">
                  <c:v>Clarenceville</c:v>
                </c:pt>
                <c:pt idx="20">
                  <c:v>Royal Oak</c:v>
                </c:pt>
                <c:pt idx="21">
                  <c:v>Holly</c:v>
                </c:pt>
                <c:pt idx="22">
                  <c:v>Clarkston</c:v>
                </c:pt>
                <c:pt idx="23">
                  <c:v>Southfield</c:v>
                </c:pt>
                <c:pt idx="24">
                  <c:v>Huron Valley</c:v>
                </c:pt>
                <c:pt idx="25">
                  <c:v>West Bloomfield</c:v>
                </c:pt>
                <c:pt idx="26">
                  <c:v>Oxford</c:v>
                </c:pt>
                <c:pt idx="27">
                  <c:v>Clawson</c:v>
                </c:pt>
              </c:strCache>
            </c:strRef>
          </c:cat>
          <c:val>
            <c:numRef>
              <c:f>Sheet1!$B$2:$B$29</c:f>
              <c:numCache>
                <c:formatCode>0</c:formatCode>
                <c:ptCount val="28"/>
                <c:pt idx="0">
                  <c:v>16.205000000000005</c:v>
                </c:pt>
                <c:pt idx="1">
                  <c:v>11.077000000000005</c:v>
                </c:pt>
                <c:pt idx="2">
                  <c:v>9</c:v>
                </c:pt>
                <c:pt idx="3">
                  <c:v>8.453000000000003</c:v>
                </c:pt>
                <c:pt idx="4">
                  <c:v>5.737000000000009</c:v>
                </c:pt>
                <c:pt idx="5">
                  <c:v>5.2050000000000054</c:v>
                </c:pt>
                <c:pt idx="6">
                  <c:v>3.6090000000000089</c:v>
                </c:pt>
                <c:pt idx="7">
                  <c:v>3.0770000000000053</c:v>
                </c:pt>
                <c:pt idx="8">
                  <c:v>2.7010000000000076</c:v>
                </c:pt>
                <c:pt idx="9">
                  <c:v>2</c:v>
                </c:pt>
                <c:pt idx="10">
                  <c:v>1.3170000000000073</c:v>
                </c:pt>
                <c:pt idx="11">
                  <c:v>0.62500000000000711</c:v>
                </c:pt>
                <c:pt idx="12">
                  <c:v>0.5730000000000075</c:v>
                </c:pt>
                <c:pt idx="13">
                  <c:v>0.54900000000000659</c:v>
                </c:pt>
                <c:pt idx="14">
                  <c:v>0.12100000000000932</c:v>
                </c:pt>
                <c:pt idx="15">
                  <c:v>-0.742999999999995</c:v>
                </c:pt>
                <c:pt idx="16">
                  <c:v>-1.1709999999999923</c:v>
                </c:pt>
                <c:pt idx="17">
                  <c:v>-1.2549999999999955</c:v>
                </c:pt>
                <c:pt idx="18">
                  <c:v>-2.6149999999999949</c:v>
                </c:pt>
                <c:pt idx="19">
                  <c:v>-3.3829999999999956</c:v>
                </c:pt>
                <c:pt idx="20">
                  <c:v>-3.4269999999999925</c:v>
                </c:pt>
                <c:pt idx="21">
                  <c:v>-4.2469999999999928</c:v>
                </c:pt>
                <c:pt idx="22">
                  <c:v>-4.9229999999999947</c:v>
                </c:pt>
                <c:pt idx="23">
                  <c:v>-6.8189999999999955</c:v>
                </c:pt>
                <c:pt idx="24">
                  <c:v>-6.9909999999999997</c:v>
                </c:pt>
                <c:pt idx="25">
                  <c:v>-9.1189999999999998</c:v>
                </c:pt>
                <c:pt idx="26">
                  <c:v>-12.742999999999995</c:v>
                </c:pt>
                <c:pt idx="27">
                  <c:v>-17.622999999999998</c:v>
                </c:pt>
              </c:numCache>
            </c:numRef>
          </c:val>
          <c:extLst>
            <c:ext xmlns:c16="http://schemas.microsoft.com/office/drawing/2014/chart" uri="{C3380CC4-5D6E-409C-BE32-E72D297353CC}">
              <c16:uniqueId val="{00000000-305A-4264-9087-FC4018D43DBA}"/>
            </c:ext>
          </c:extLst>
        </c:ser>
        <c:dLbls>
          <c:showLegendKey val="0"/>
          <c:showVal val="0"/>
          <c:showCatName val="0"/>
          <c:showSerName val="0"/>
          <c:showPercent val="0"/>
          <c:showBubbleSize val="0"/>
        </c:dLbls>
        <c:gapWidth val="63"/>
        <c:overlap val="-27"/>
        <c:axId val="731525392"/>
        <c:axId val="648967520"/>
      </c:barChart>
      <c:catAx>
        <c:axId val="731525392"/>
        <c:scaling>
          <c:orientation val="minMax"/>
        </c:scaling>
        <c:delete val="1"/>
        <c:axPos val="b"/>
        <c:numFmt formatCode="General" sourceLinked="1"/>
        <c:majorTickMark val="none"/>
        <c:minorTickMark val="none"/>
        <c:tickLblPos val="nextTo"/>
        <c:crossAx val="648967520"/>
        <c:crosses val="autoZero"/>
        <c:auto val="1"/>
        <c:lblAlgn val="ctr"/>
        <c:lblOffset val="100"/>
        <c:noMultiLvlLbl val="0"/>
      </c:catAx>
      <c:valAx>
        <c:axId val="64896752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315253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B31C9C-6DE4-4F90-9AF6-A0621102C3CC}"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1EC3532B-54A4-4FF9-B25A-F22FAC549E48}">
      <dgm:prSet/>
      <dgm:spPr/>
      <dgm:t>
        <a:bodyPr/>
        <a:lstStyle/>
        <a:p>
          <a:r>
            <a:rPr lang="en-US"/>
            <a:t>IB Curriculum is internationally aligned and recognized</a:t>
          </a:r>
        </a:p>
      </dgm:t>
    </dgm:pt>
    <dgm:pt modelId="{B9E6D10F-927A-45D4-A8D7-911070891DE5}" type="parTrans" cxnId="{E2730E9A-22B5-4CAE-9D9A-31022A3B430A}">
      <dgm:prSet/>
      <dgm:spPr/>
      <dgm:t>
        <a:bodyPr/>
        <a:lstStyle/>
        <a:p>
          <a:endParaRPr lang="en-US"/>
        </a:p>
      </dgm:t>
    </dgm:pt>
    <dgm:pt modelId="{1542C08C-8566-4806-A5EC-9EFD43E498BC}" type="sibTrans" cxnId="{E2730E9A-22B5-4CAE-9D9A-31022A3B430A}">
      <dgm:prSet/>
      <dgm:spPr/>
      <dgm:t>
        <a:bodyPr/>
        <a:lstStyle/>
        <a:p>
          <a:endParaRPr lang="en-US"/>
        </a:p>
      </dgm:t>
    </dgm:pt>
    <dgm:pt modelId="{77BEE3BE-8BCD-495D-A255-AA24D895B048}">
      <dgm:prSet/>
      <dgm:spPr/>
      <dgm:t>
        <a:bodyPr/>
        <a:lstStyle/>
        <a:p>
          <a:r>
            <a:rPr lang="en-US"/>
            <a:t>IB Diploma candidates test in six subject areas and the DP Core which includes creativity, activity, service, the extended essay, and theory of knowledge</a:t>
          </a:r>
        </a:p>
      </dgm:t>
    </dgm:pt>
    <dgm:pt modelId="{B3C62C70-690E-42D3-8A06-CAD11E377558}" type="parTrans" cxnId="{CB456533-4CE0-4A18-8839-0CA01C2325A4}">
      <dgm:prSet/>
      <dgm:spPr/>
      <dgm:t>
        <a:bodyPr/>
        <a:lstStyle/>
        <a:p>
          <a:endParaRPr lang="en-US"/>
        </a:p>
      </dgm:t>
    </dgm:pt>
    <dgm:pt modelId="{281F5C00-23A6-4849-BD5D-ACE1FE6C70BF}" type="sibTrans" cxnId="{CB456533-4CE0-4A18-8839-0CA01C2325A4}">
      <dgm:prSet/>
      <dgm:spPr/>
      <dgm:t>
        <a:bodyPr/>
        <a:lstStyle/>
        <a:p>
          <a:endParaRPr lang="en-US"/>
        </a:p>
      </dgm:t>
    </dgm:pt>
    <dgm:pt modelId="{04AA87D1-0F32-48D0-805B-305486F78E29}">
      <dgm:prSet/>
      <dgm:spPr/>
      <dgm:t>
        <a:bodyPr/>
        <a:lstStyle/>
        <a:p>
          <a:r>
            <a:rPr lang="en-US"/>
            <a:t>IB Assessments are externally monitored and scored providing more objective feedback </a:t>
          </a:r>
        </a:p>
      </dgm:t>
    </dgm:pt>
    <dgm:pt modelId="{0AF3FEAF-0448-44D2-8B7A-0707E8B16CD3}" type="parTrans" cxnId="{D4658A24-57AB-4103-A1E8-53751C9C07A5}">
      <dgm:prSet/>
      <dgm:spPr/>
      <dgm:t>
        <a:bodyPr/>
        <a:lstStyle/>
        <a:p>
          <a:endParaRPr lang="en-US"/>
        </a:p>
      </dgm:t>
    </dgm:pt>
    <dgm:pt modelId="{56840D67-F521-4B00-AE0C-851DAA818F08}" type="sibTrans" cxnId="{D4658A24-57AB-4103-A1E8-53751C9C07A5}">
      <dgm:prSet/>
      <dgm:spPr/>
      <dgm:t>
        <a:bodyPr/>
        <a:lstStyle/>
        <a:p>
          <a:endParaRPr lang="en-US"/>
        </a:p>
      </dgm:t>
    </dgm:pt>
    <dgm:pt modelId="{5E9D1627-882A-574D-BCA8-9F83713E374D}" type="pres">
      <dgm:prSet presAssocID="{15B31C9C-6DE4-4F90-9AF6-A0621102C3CC}" presName="vert0" presStyleCnt="0">
        <dgm:presLayoutVars>
          <dgm:dir/>
          <dgm:animOne val="branch"/>
          <dgm:animLvl val="lvl"/>
        </dgm:presLayoutVars>
      </dgm:prSet>
      <dgm:spPr/>
    </dgm:pt>
    <dgm:pt modelId="{09336026-E5B6-4941-8FDC-D478C5B67625}" type="pres">
      <dgm:prSet presAssocID="{1EC3532B-54A4-4FF9-B25A-F22FAC549E48}" presName="thickLine" presStyleLbl="alignNode1" presStyleIdx="0" presStyleCnt="3"/>
      <dgm:spPr/>
    </dgm:pt>
    <dgm:pt modelId="{A1938AD1-E833-D049-85A8-06555A170095}" type="pres">
      <dgm:prSet presAssocID="{1EC3532B-54A4-4FF9-B25A-F22FAC549E48}" presName="horz1" presStyleCnt="0"/>
      <dgm:spPr/>
    </dgm:pt>
    <dgm:pt modelId="{19FF9DA5-8E59-F841-9213-9BF1CDC5ABBF}" type="pres">
      <dgm:prSet presAssocID="{1EC3532B-54A4-4FF9-B25A-F22FAC549E48}" presName="tx1" presStyleLbl="revTx" presStyleIdx="0" presStyleCnt="3"/>
      <dgm:spPr/>
    </dgm:pt>
    <dgm:pt modelId="{68B55988-CCB2-6542-8B06-AB83123FAF4B}" type="pres">
      <dgm:prSet presAssocID="{1EC3532B-54A4-4FF9-B25A-F22FAC549E48}" presName="vert1" presStyleCnt="0"/>
      <dgm:spPr/>
    </dgm:pt>
    <dgm:pt modelId="{1A7A9BA7-0295-2C46-A6AC-7242EC5DC018}" type="pres">
      <dgm:prSet presAssocID="{77BEE3BE-8BCD-495D-A255-AA24D895B048}" presName="thickLine" presStyleLbl="alignNode1" presStyleIdx="1" presStyleCnt="3"/>
      <dgm:spPr/>
    </dgm:pt>
    <dgm:pt modelId="{B78C56C3-F0A8-D442-9C60-BF497B80C044}" type="pres">
      <dgm:prSet presAssocID="{77BEE3BE-8BCD-495D-A255-AA24D895B048}" presName="horz1" presStyleCnt="0"/>
      <dgm:spPr/>
    </dgm:pt>
    <dgm:pt modelId="{34771F09-6104-1D40-A9B0-128E0DDD3DD1}" type="pres">
      <dgm:prSet presAssocID="{77BEE3BE-8BCD-495D-A255-AA24D895B048}" presName="tx1" presStyleLbl="revTx" presStyleIdx="1" presStyleCnt="3"/>
      <dgm:spPr/>
    </dgm:pt>
    <dgm:pt modelId="{BDD54135-5CBF-D848-AF05-1720284EA574}" type="pres">
      <dgm:prSet presAssocID="{77BEE3BE-8BCD-495D-A255-AA24D895B048}" presName="vert1" presStyleCnt="0"/>
      <dgm:spPr/>
    </dgm:pt>
    <dgm:pt modelId="{C7D7BF89-E818-464B-A321-A3D046EB5996}" type="pres">
      <dgm:prSet presAssocID="{04AA87D1-0F32-48D0-805B-305486F78E29}" presName="thickLine" presStyleLbl="alignNode1" presStyleIdx="2" presStyleCnt="3"/>
      <dgm:spPr/>
    </dgm:pt>
    <dgm:pt modelId="{6C2E9A7A-AC7E-F447-B5E4-8A97664CE2E1}" type="pres">
      <dgm:prSet presAssocID="{04AA87D1-0F32-48D0-805B-305486F78E29}" presName="horz1" presStyleCnt="0"/>
      <dgm:spPr/>
    </dgm:pt>
    <dgm:pt modelId="{ADA2C588-7075-1B4E-8708-260E9A2EDF3D}" type="pres">
      <dgm:prSet presAssocID="{04AA87D1-0F32-48D0-805B-305486F78E29}" presName="tx1" presStyleLbl="revTx" presStyleIdx="2" presStyleCnt="3"/>
      <dgm:spPr/>
    </dgm:pt>
    <dgm:pt modelId="{82EC118F-9F3F-FA48-92CC-1C09D2A8ADBF}" type="pres">
      <dgm:prSet presAssocID="{04AA87D1-0F32-48D0-805B-305486F78E29}" presName="vert1" presStyleCnt="0"/>
      <dgm:spPr/>
    </dgm:pt>
  </dgm:ptLst>
  <dgm:cxnLst>
    <dgm:cxn modelId="{2DA5401F-AA5B-1444-9341-CD2A20B3E4B3}" type="presOf" srcId="{15B31C9C-6DE4-4F90-9AF6-A0621102C3CC}" destId="{5E9D1627-882A-574D-BCA8-9F83713E374D}" srcOrd="0" destOrd="0" presId="urn:microsoft.com/office/officeart/2008/layout/LinedList"/>
    <dgm:cxn modelId="{D4658A24-57AB-4103-A1E8-53751C9C07A5}" srcId="{15B31C9C-6DE4-4F90-9AF6-A0621102C3CC}" destId="{04AA87D1-0F32-48D0-805B-305486F78E29}" srcOrd="2" destOrd="0" parTransId="{0AF3FEAF-0448-44D2-8B7A-0707E8B16CD3}" sibTransId="{56840D67-F521-4B00-AE0C-851DAA818F08}"/>
    <dgm:cxn modelId="{CB456533-4CE0-4A18-8839-0CA01C2325A4}" srcId="{15B31C9C-6DE4-4F90-9AF6-A0621102C3CC}" destId="{77BEE3BE-8BCD-495D-A255-AA24D895B048}" srcOrd="1" destOrd="0" parTransId="{B3C62C70-690E-42D3-8A06-CAD11E377558}" sibTransId="{281F5C00-23A6-4849-BD5D-ACE1FE6C70BF}"/>
    <dgm:cxn modelId="{E2730E9A-22B5-4CAE-9D9A-31022A3B430A}" srcId="{15B31C9C-6DE4-4F90-9AF6-A0621102C3CC}" destId="{1EC3532B-54A4-4FF9-B25A-F22FAC549E48}" srcOrd="0" destOrd="0" parTransId="{B9E6D10F-927A-45D4-A8D7-911070891DE5}" sibTransId="{1542C08C-8566-4806-A5EC-9EFD43E498BC}"/>
    <dgm:cxn modelId="{6973529A-916B-5443-9B19-AED3C55FB169}" type="presOf" srcId="{04AA87D1-0F32-48D0-805B-305486F78E29}" destId="{ADA2C588-7075-1B4E-8708-260E9A2EDF3D}" srcOrd="0" destOrd="0" presId="urn:microsoft.com/office/officeart/2008/layout/LinedList"/>
    <dgm:cxn modelId="{3D515ECB-6D3F-ED40-81AE-4F61310ACE04}" type="presOf" srcId="{77BEE3BE-8BCD-495D-A255-AA24D895B048}" destId="{34771F09-6104-1D40-A9B0-128E0DDD3DD1}" srcOrd="0" destOrd="0" presId="urn:microsoft.com/office/officeart/2008/layout/LinedList"/>
    <dgm:cxn modelId="{066FD1F5-F380-7544-8C67-8E93B890FE48}" type="presOf" srcId="{1EC3532B-54A4-4FF9-B25A-F22FAC549E48}" destId="{19FF9DA5-8E59-F841-9213-9BF1CDC5ABBF}" srcOrd="0" destOrd="0" presId="urn:microsoft.com/office/officeart/2008/layout/LinedList"/>
    <dgm:cxn modelId="{3A4B7830-4721-854F-A78C-CD11F83BEBF5}" type="presParOf" srcId="{5E9D1627-882A-574D-BCA8-9F83713E374D}" destId="{09336026-E5B6-4941-8FDC-D478C5B67625}" srcOrd="0" destOrd="0" presId="urn:microsoft.com/office/officeart/2008/layout/LinedList"/>
    <dgm:cxn modelId="{2296B290-9D14-C846-A2D4-0779EE0F2852}" type="presParOf" srcId="{5E9D1627-882A-574D-BCA8-9F83713E374D}" destId="{A1938AD1-E833-D049-85A8-06555A170095}" srcOrd="1" destOrd="0" presId="urn:microsoft.com/office/officeart/2008/layout/LinedList"/>
    <dgm:cxn modelId="{01F3F9F9-5B71-C44C-9ED3-BDD6AB2E8C52}" type="presParOf" srcId="{A1938AD1-E833-D049-85A8-06555A170095}" destId="{19FF9DA5-8E59-F841-9213-9BF1CDC5ABBF}" srcOrd="0" destOrd="0" presId="urn:microsoft.com/office/officeart/2008/layout/LinedList"/>
    <dgm:cxn modelId="{76E68AD6-AFCB-0444-AA43-85DEB1574AD2}" type="presParOf" srcId="{A1938AD1-E833-D049-85A8-06555A170095}" destId="{68B55988-CCB2-6542-8B06-AB83123FAF4B}" srcOrd="1" destOrd="0" presId="urn:microsoft.com/office/officeart/2008/layout/LinedList"/>
    <dgm:cxn modelId="{A059335C-47E8-8D4C-9BB5-10B400C872B0}" type="presParOf" srcId="{5E9D1627-882A-574D-BCA8-9F83713E374D}" destId="{1A7A9BA7-0295-2C46-A6AC-7242EC5DC018}" srcOrd="2" destOrd="0" presId="urn:microsoft.com/office/officeart/2008/layout/LinedList"/>
    <dgm:cxn modelId="{EF925434-9FAC-5F4D-97D9-BDFCF0E3DF12}" type="presParOf" srcId="{5E9D1627-882A-574D-BCA8-9F83713E374D}" destId="{B78C56C3-F0A8-D442-9C60-BF497B80C044}" srcOrd="3" destOrd="0" presId="urn:microsoft.com/office/officeart/2008/layout/LinedList"/>
    <dgm:cxn modelId="{32EC9D25-66D5-DF4D-B490-E15594ADCFF2}" type="presParOf" srcId="{B78C56C3-F0A8-D442-9C60-BF497B80C044}" destId="{34771F09-6104-1D40-A9B0-128E0DDD3DD1}" srcOrd="0" destOrd="0" presId="urn:microsoft.com/office/officeart/2008/layout/LinedList"/>
    <dgm:cxn modelId="{09F7842B-018C-2D45-BC09-39FEF0791A4D}" type="presParOf" srcId="{B78C56C3-F0A8-D442-9C60-BF497B80C044}" destId="{BDD54135-5CBF-D848-AF05-1720284EA574}" srcOrd="1" destOrd="0" presId="urn:microsoft.com/office/officeart/2008/layout/LinedList"/>
    <dgm:cxn modelId="{2E282A95-A430-5B41-B3FC-1C23D58823E0}" type="presParOf" srcId="{5E9D1627-882A-574D-BCA8-9F83713E374D}" destId="{C7D7BF89-E818-464B-A321-A3D046EB5996}" srcOrd="4" destOrd="0" presId="urn:microsoft.com/office/officeart/2008/layout/LinedList"/>
    <dgm:cxn modelId="{65921C2A-19FB-A54C-8B44-016382C038CF}" type="presParOf" srcId="{5E9D1627-882A-574D-BCA8-9F83713E374D}" destId="{6C2E9A7A-AC7E-F447-B5E4-8A97664CE2E1}" srcOrd="5" destOrd="0" presId="urn:microsoft.com/office/officeart/2008/layout/LinedList"/>
    <dgm:cxn modelId="{394E5030-E1DC-D94F-B86B-FF224B78C70F}" type="presParOf" srcId="{6C2E9A7A-AC7E-F447-B5E4-8A97664CE2E1}" destId="{ADA2C588-7075-1B4E-8708-260E9A2EDF3D}" srcOrd="0" destOrd="0" presId="urn:microsoft.com/office/officeart/2008/layout/LinedList"/>
    <dgm:cxn modelId="{B0FC642C-BD41-3C47-8DF0-9BAC2D881D99}" type="presParOf" srcId="{6C2E9A7A-AC7E-F447-B5E4-8A97664CE2E1}" destId="{82EC118F-9F3F-FA48-92CC-1C09D2A8ADB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B31C9C-6DE4-4F90-9AF6-A0621102C3CC}"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1EC3532B-54A4-4FF9-B25A-F22FAC549E48}">
      <dgm:prSet/>
      <dgm:spPr/>
      <dgm:t>
        <a:bodyPr/>
        <a:lstStyle/>
        <a:p>
          <a:r>
            <a:rPr lang="en-US"/>
            <a:t>Advanced Placement courses are specified courses approved by the College Board.</a:t>
          </a:r>
        </a:p>
      </dgm:t>
    </dgm:pt>
    <dgm:pt modelId="{B9E6D10F-927A-45D4-A8D7-911070891DE5}" type="parTrans" cxnId="{E2730E9A-22B5-4CAE-9D9A-31022A3B430A}">
      <dgm:prSet/>
      <dgm:spPr/>
      <dgm:t>
        <a:bodyPr/>
        <a:lstStyle/>
        <a:p>
          <a:endParaRPr lang="en-US"/>
        </a:p>
      </dgm:t>
    </dgm:pt>
    <dgm:pt modelId="{1542C08C-8566-4806-A5EC-9EFD43E498BC}" type="sibTrans" cxnId="{E2730E9A-22B5-4CAE-9D9A-31022A3B430A}">
      <dgm:prSet/>
      <dgm:spPr/>
      <dgm:t>
        <a:bodyPr/>
        <a:lstStyle/>
        <a:p>
          <a:endParaRPr lang="en-US"/>
        </a:p>
      </dgm:t>
    </dgm:pt>
    <dgm:pt modelId="{77BEE3BE-8BCD-495D-A255-AA24D895B048}">
      <dgm:prSet/>
      <dgm:spPr/>
      <dgm:t>
        <a:bodyPr/>
        <a:lstStyle/>
        <a:p>
          <a:r>
            <a:rPr lang="en-US"/>
            <a:t>Student enrollment in AP courses in high school is shown to positively impact future student performance in college. </a:t>
          </a:r>
        </a:p>
      </dgm:t>
    </dgm:pt>
    <dgm:pt modelId="{B3C62C70-690E-42D3-8A06-CAD11E377558}" type="parTrans" cxnId="{CB456533-4CE0-4A18-8839-0CA01C2325A4}">
      <dgm:prSet/>
      <dgm:spPr/>
      <dgm:t>
        <a:bodyPr/>
        <a:lstStyle/>
        <a:p>
          <a:endParaRPr lang="en-US"/>
        </a:p>
      </dgm:t>
    </dgm:pt>
    <dgm:pt modelId="{281F5C00-23A6-4849-BD5D-ACE1FE6C70BF}" type="sibTrans" cxnId="{CB456533-4CE0-4A18-8839-0CA01C2325A4}">
      <dgm:prSet/>
      <dgm:spPr/>
      <dgm:t>
        <a:bodyPr/>
        <a:lstStyle/>
        <a:p>
          <a:endParaRPr lang="en-US"/>
        </a:p>
      </dgm:t>
    </dgm:pt>
    <dgm:pt modelId="{04AA87D1-0F32-48D0-805B-305486F78E29}">
      <dgm:prSet/>
      <dgm:spPr/>
      <dgm:t>
        <a:bodyPr/>
        <a:lstStyle/>
        <a:p>
          <a:r>
            <a:rPr lang="en-US"/>
            <a:t>Our community highly values Advanced Placement courses and opportunities that align with AP courses.  </a:t>
          </a:r>
        </a:p>
      </dgm:t>
    </dgm:pt>
    <dgm:pt modelId="{0AF3FEAF-0448-44D2-8B7A-0707E8B16CD3}" type="parTrans" cxnId="{D4658A24-57AB-4103-A1E8-53751C9C07A5}">
      <dgm:prSet/>
      <dgm:spPr/>
      <dgm:t>
        <a:bodyPr/>
        <a:lstStyle/>
        <a:p>
          <a:endParaRPr lang="en-US"/>
        </a:p>
      </dgm:t>
    </dgm:pt>
    <dgm:pt modelId="{56840D67-F521-4B00-AE0C-851DAA818F08}" type="sibTrans" cxnId="{D4658A24-57AB-4103-A1E8-53751C9C07A5}">
      <dgm:prSet/>
      <dgm:spPr/>
      <dgm:t>
        <a:bodyPr/>
        <a:lstStyle/>
        <a:p>
          <a:endParaRPr lang="en-US"/>
        </a:p>
      </dgm:t>
    </dgm:pt>
    <dgm:pt modelId="{820B062C-6B4F-4167-9DAA-47D5E6F000F0}">
      <dgm:prSet/>
      <dgm:spPr/>
      <dgm:t>
        <a:bodyPr/>
        <a:lstStyle/>
        <a:p>
          <a:r>
            <a:rPr lang="en-US"/>
            <a:t>Though AP course participation can be beneficial for students, too many AP courses or a schedule that is saturated with AP courses may be detrimental to students. </a:t>
          </a:r>
        </a:p>
      </dgm:t>
    </dgm:pt>
    <dgm:pt modelId="{8CDFD626-946E-4CB5-AFAC-1396070B7703}" type="parTrans" cxnId="{8F10A7BB-B1FA-437B-9CF6-62D9B7A8B848}">
      <dgm:prSet/>
      <dgm:spPr/>
      <dgm:t>
        <a:bodyPr/>
        <a:lstStyle/>
        <a:p>
          <a:endParaRPr lang="en-US"/>
        </a:p>
      </dgm:t>
    </dgm:pt>
    <dgm:pt modelId="{B81EC4E0-82BB-4ABD-A9DA-941B603F9846}" type="sibTrans" cxnId="{8F10A7BB-B1FA-437B-9CF6-62D9B7A8B848}">
      <dgm:prSet/>
      <dgm:spPr/>
      <dgm:t>
        <a:bodyPr/>
        <a:lstStyle/>
        <a:p>
          <a:endParaRPr lang="en-US"/>
        </a:p>
      </dgm:t>
    </dgm:pt>
    <dgm:pt modelId="{B79B402D-400E-E848-B23F-632515EA4D7F}" type="pres">
      <dgm:prSet presAssocID="{15B31C9C-6DE4-4F90-9AF6-A0621102C3CC}" presName="vert0" presStyleCnt="0">
        <dgm:presLayoutVars>
          <dgm:dir/>
          <dgm:animOne val="branch"/>
          <dgm:animLvl val="lvl"/>
        </dgm:presLayoutVars>
      </dgm:prSet>
      <dgm:spPr/>
    </dgm:pt>
    <dgm:pt modelId="{4E57FE89-3689-4A46-9706-FCAF56741DFF}" type="pres">
      <dgm:prSet presAssocID="{1EC3532B-54A4-4FF9-B25A-F22FAC549E48}" presName="thickLine" presStyleLbl="alignNode1" presStyleIdx="0" presStyleCnt="4"/>
      <dgm:spPr/>
    </dgm:pt>
    <dgm:pt modelId="{C7464A80-F1BF-2547-81D2-AEE634D4C6C4}" type="pres">
      <dgm:prSet presAssocID="{1EC3532B-54A4-4FF9-B25A-F22FAC549E48}" presName="horz1" presStyleCnt="0"/>
      <dgm:spPr/>
    </dgm:pt>
    <dgm:pt modelId="{D819C25A-D391-584C-9E73-4039902CB0B4}" type="pres">
      <dgm:prSet presAssocID="{1EC3532B-54A4-4FF9-B25A-F22FAC549E48}" presName="tx1" presStyleLbl="revTx" presStyleIdx="0" presStyleCnt="4"/>
      <dgm:spPr/>
    </dgm:pt>
    <dgm:pt modelId="{924598DA-5D15-8E40-99B7-6C5E4CC62406}" type="pres">
      <dgm:prSet presAssocID="{1EC3532B-54A4-4FF9-B25A-F22FAC549E48}" presName="vert1" presStyleCnt="0"/>
      <dgm:spPr/>
    </dgm:pt>
    <dgm:pt modelId="{76B917E7-D4F4-B841-9FCF-9E9CCEFA1D7C}" type="pres">
      <dgm:prSet presAssocID="{77BEE3BE-8BCD-495D-A255-AA24D895B048}" presName="thickLine" presStyleLbl="alignNode1" presStyleIdx="1" presStyleCnt="4"/>
      <dgm:spPr/>
    </dgm:pt>
    <dgm:pt modelId="{429F06F0-966A-1141-BCB4-790D73F1D6B0}" type="pres">
      <dgm:prSet presAssocID="{77BEE3BE-8BCD-495D-A255-AA24D895B048}" presName="horz1" presStyleCnt="0"/>
      <dgm:spPr/>
    </dgm:pt>
    <dgm:pt modelId="{9CED55B6-389D-134E-9FF8-9FEC4A92CEFE}" type="pres">
      <dgm:prSet presAssocID="{77BEE3BE-8BCD-495D-A255-AA24D895B048}" presName="tx1" presStyleLbl="revTx" presStyleIdx="1" presStyleCnt="4"/>
      <dgm:spPr/>
    </dgm:pt>
    <dgm:pt modelId="{97DE3553-1CB7-0143-92C2-C19E3ABDC68D}" type="pres">
      <dgm:prSet presAssocID="{77BEE3BE-8BCD-495D-A255-AA24D895B048}" presName="vert1" presStyleCnt="0"/>
      <dgm:spPr/>
    </dgm:pt>
    <dgm:pt modelId="{22254431-7B86-9541-9EAD-67A73231E761}" type="pres">
      <dgm:prSet presAssocID="{04AA87D1-0F32-48D0-805B-305486F78E29}" presName="thickLine" presStyleLbl="alignNode1" presStyleIdx="2" presStyleCnt="4"/>
      <dgm:spPr/>
    </dgm:pt>
    <dgm:pt modelId="{F8E75D9A-78B8-9741-88ED-80E3886B01E9}" type="pres">
      <dgm:prSet presAssocID="{04AA87D1-0F32-48D0-805B-305486F78E29}" presName="horz1" presStyleCnt="0"/>
      <dgm:spPr/>
    </dgm:pt>
    <dgm:pt modelId="{49D82F8D-69D7-F14D-8714-A800BE9A6619}" type="pres">
      <dgm:prSet presAssocID="{04AA87D1-0F32-48D0-805B-305486F78E29}" presName="tx1" presStyleLbl="revTx" presStyleIdx="2" presStyleCnt="4"/>
      <dgm:spPr/>
    </dgm:pt>
    <dgm:pt modelId="{FBF52679-7855-3C47-B851-A492C4A7949C}" type="pres">
      <dgm:prSet presAssocID="{04AA87D1-0F32-48D0-805B-305486F78E29}" presName="vert1" presStyleCnt="0"/>
      <dgm:spPr/>
    </dgm:pt>
    <dgm:pt modelId="{C2D63859-E040-174A-AEF1-4BB75F74CB12}" type="pres">
      <dgm:prSet presAssocID="{820B062C-6B4F-4167-9DAA-47D5E6F000F0}" presName="thickLine" presStyleLbl="alignNode1" presStyleIdx="3" presStyleCnt="4"/>
      <dgm:spPr/>
    </dgm:pt>
    <dgm:pt modelId="{A18E0633-6EB1-EF4F-B1A5-70A70B4EFE8F}" type="pres">
      <dgm:prSet presAssocID="{820B062C-6B4F-4167-9DAA-47D5E6F000F0}" presName="horz1" presStyleCnt="0"/>
      <dgm:spPr/>
    </dgm:pt>
    <dgm:pt modelId="{C511518A-8D73-0C47-9EE5-777370765D68}" type="pres">
      <dgm:prSet presAssocID="{820B062C-6B4F-4167-9DAA-47D5E6F000F0}" presName="tx1" presStyleLbl="revTx" presStyleIdx="3" presStyleCnt="4"/>
      <dgm:spPr/>
    </dgm:pt>
    <dgm:pt modelId="{93F78542-3900-C34D-98BA-1EEB0EC85C2B}" type="pres">
      <dgm:prSet presAssocID="{820B062C-6B4F-4167-9DAA-47D5E6F000F0}" presName="vert1" presStyleCnt="0"/>
      <dgm:spPr/>
    </dgm:pt>
  </dgm:ptLst>
  <dgm:cxnLst>
    <dgm:cxn modelId="{D4658A24-57AB-4103-A1E8-53751C9C07A5}" srcId="{15B31C9C-6DE4-4F90-9AF6-A0621102C3CC}" destId="{04AA87D1-0F32-48D0-805B-305486F78E29}" srcOrd="2" destOrd="0" parTransId="{0AF3FEAF-0448-44D2-8B7A-0707E8B16CD3}" sibTransId="{56840D67-F521-4B00-AE0C-851DAA818F08}"/>
    <dgm:cxn modelId="{CB456533-4CE0-4A18-8839-0CA01C2325A4}" srcId="{15B31C9C-6DE4-4F90-9AF6-A0621102C3CC}" destId="{77BEE3BE-8BCD-495D-A255-AA24D895B048}" srcOrd="1" destOrd="0" parTransId="{B3C62C70-690E-42D3-8A06-CAD11E377558}" sibTransId="{281F5C00-23A6-4849-BD5D-ACE1FE6C70BF}"/>
    <dgm:cxn modelId="{530C3942-41C4-9E44-9478-129EC70D51B8}" type="presOf" srcId="{15B31C9C-6DE4-4F90-9AF6-A0621102C3CC}" destId="{B79B402D-400E-E848-B23F-632515EA4D7F}" srcOrd="0" destOrd="0" presId="urn:microsoft.com/office/officeart/2008/layout/LinedList"/>
    <dgm:cxn modelId="{12E16A6F-DCA4-3A4E-979B-CF751B4747C0}" type="presOf" srcId="{1EC3532B-54A4-4FF9-B25A-F22FAC549E48}" destId="{D819C25A-D391-584C-9E73-4039902CB0B4}" srcOrd="0" destOrd="0" presId="urn:microsoft.com/office/officeart/2008/layout/LinedList"/>
    <dgm:cxn modelId="{C4238750-FDE0-1D4E-8ABA-DE2F20E0666C}" type="presOf" srcId="{77BEE3BE-8BCD-495D-A255-AA24D895B048}" destId="{9CED55B6-389D-134E-9FF8-9FEC4A92CEFE}" srcOrd="0" destOrd="0" presId="urn:microsoft.com/office/officeart/2008/layout/LinedList"/>
    <dgm:cxn modelId="{EB9CD575-1487-6247-AE09-741219B11A07}" type="presOf" srcId="{04AA87D1-0F32-48D0-805B-305486F78E29}" destId="{49D82F8D-69D7-F14D-8714-A800BE9A6619}" srcOrd="0" destOrd="0" presId="urn:microsoft.com/office/officeart/2008/layout/LinedList"/>
    <dgm:cxn modelId="{E2730E9A-22B5-4CAE-9D9A-31022A3B430A}" srcId="{15B31C9C-6DE4-4F90-9AF6-A0621102C3CC}" destId="{1EC3532B-54A4-4FF9-B25A-F22FAC549E48}" srcOrd="0" destOrd="0" parTransId="{B9E6D10F-927A-45D4-A8D7-911070891DE5}" sibTransId="{1542C08C-8566-4806-A5EC-9EFD43E498BC}"/>
    <dgm:cxn modelId="{8F10A7BB-B1FA-437B-9CF6-62D9B7A8B848}" srcId="{15B31C9C-6DE4-4F90-9AF6-A0621102C3CC}" destId="{820B062C-6B4F-4167-9DAA-47D5E6F000F0}" srcOrd="3" destOrd="0" parTransId="{8CDFD626-946E-4CB5-AFAC-1396070B7703}" sibTransId="{B81EC4E0-82BB-4ABD-A9DA-941B603F9846}"/>
    <dgm:cxn modelId="{0F6F7DCE-0FBC-174A-8279-BD8E26AA734A}" type="presOf" srcId="{820B062C-6B4F-4167-9DAA-47D5E6F000F0}" destId="{C511518A-8D73-0C47-9EE5-777370765D68}" srcOrd="0" destOrd="0" presId="urn:microsoft.com/office/officeart/2008/layout/LinedList"/>
    <dgm:cxn modelId="{04D84A6A-C9CC-5B42-B3C7-E35834EBA553}" type="presParOf" srcId="{B79B402D-400E-E848-B23F-632515EA4D7F}" destId="{4E57FE89-3689-4A46-9706-FCAF56741DFF}" srcOrd="0" destOrd="0" presId="urn:microsoft.com/office/officeart/2008/layout/LinedList"/>
    <dgm:cxn modelId="{9699CA30-D3FD-9646-B827-2CA0B2D641F7}" type="presParOf" srcId="{B79B402D-400E-E848-B23F-632515EA4D7F}" destId="{C7464A80-F1BF-2547-81D2-AEE634D4C6C4}" srcOrd="1" destOrd="0" presId="urn:microsoft.com/office/officeart/2008/layout/LinedList"/>
    <dgm:cxn modelId="{92A6D883-524F-9B45-9D84-DD1F8C3D4006}" type="presParOf" srcId="{C7464A80-F1BF-2547-81D2-AEE634D4C6C4}" destId="{D819C25A-D391-584C-9E73-4039902CB0B4}" srcOrd="0" destOrd="0" presId="urn:microsoft.com/office/officeart/2008/layout/LinedList"/>
    <dgm:cxn modelId="{6DD94725-04BA-F04B-B87A-393923FEEC54}" type="presParOf" srcId="{C7464A80-F1BF-2547-81D2-AEE634D4C6C4}" destId="{924598DA-5D15-8E40-99B7-6C5E4CC62406}" srcOrd="1" destOrd="0" presId="urn:microsoft.com/office/officeart/2008/layout/LinedList"/>
    <dgm:cxn modelId="{02EDCF98-C610-274B-842E-3FC966E389C3}" type="presParOf" srcId="{B79B402D-400E-E848-B23F-632515EA4D7F}" destId="{76B917E7-D4F4-B841-9FCF-9E9CCEFA1D7C}" srcOrd="2" destOrd="0" presId="urn:microsoft.com/office/officeart/2008/layout/LinedList"/>
    <dgm:cxn modelId="{4E7A4718-D698-3749-A146-2C7C2920EAD9}" type="presParOf" srcId="{B79B402D-400E-E848-B23F-632515EA4D7F}" destId="{429F06F0-966A-1141-BCB4-790D73F1D6B0}" srcOrd="3" destOrd="0" presId="urn:microsoft.com/office/officeart/2008/layout/LinedList"/>
    <dgm:cxn modelId="{B64D440B-2E51-504C-9499-907079799C48}" type="presParOf" srcId="{429F06F0-966A-1141-BCB4-790D73F1D6B0}" destId="{9CED55B6-389D-134E-9FF8-9FEC4A92CEFE}" srcOrd="0" destOrd="0" presId="urn:microsoft.com/office/officeart/2008/layout/LinedList"/>
    <dgm:cxn modelId="{939C1061-6600-ED48-BE27-648C18C4F3CE}" type="presParOf" srcId="{429F06F0-966A-1141-BCB4-790D73F1D6B0}" destId="{97DE3553-1CB7-0143-92C2-C19E3ABDC68D}" srcOrd="1" destOrd="0" presId="urn:microsoft.com/office/officeart/2008/layout/LinedList"/>
    <dgm:cxn modelId="{585734F2-D507-EC49-81CF-8D0891F1B754}" type="presParOf" srcId="{B79B402D-400E-E848-B23F-632515EA4D7F}" destId="{22254431-7B86-9541-9EAD-67A73231E761}" srcOrd="4" destOrd="0" presId="urn:microsoft.com/office/officeart/2008/layout/LinedList"/>
    <dgm:cxn modelId="{7418A387-EC5B-1241-AF5D-6648A37B9BA3}" type="presParOf" srcId="{B79B402D-400E-E848-B23F-632515EA4D7F}" destId="{F8E75D9A-78B8-9741-88ED-80E3886B01E9}" srcOrd="5" destOrd="0" presId="urn:microsoft.com/office/officeart/2008/layout/LinedList"/>
    <dgm:cxn modelId="{48B2260C-8DDB-B249-8BE0-9AA6CBA2D383}" type="presParOf" srcId="{F8E75D9A-78B8-9741-88ED-80E3886B01E9}" destId="{49D82F8D-69D7-F14D-8714-A800BE9A6619}" srcOrd="0" destOrd="0" presId="urn:microsoft.com/office/officeart/2008/layout/LinedList"/>
    <dgm:cxn modelId="{58DA0BEB-D863-174E-AD1F-5D8B8A127292}" type="presParOf" srcId="{F8E75D9A-78B8-9741-88ED-80E3886B01E9}" destId="{FBF52679-7855-3C47-B851-A492C4A7949C}" srcOrd="1" destOrd="0" presId="urn:microsoft.com/office/officeart/2008/layout/LinedList"/>
    <dgm:cxn modelId="{329F37FB-E772-F94A-9E54-49E79F3AFDA1}" type="presParOf" srcId="{B79B402D-400E-E848-B23F-632515EA4D7F}" destId="{C2D63859-E040-174A-AEF1-4BB75F74CB12}" srcOrd="6" destOrd="0" presId="urn:microsoft.com/office/officeart/2008/layout/LinedList"/>
    <dgm:cxn modelId="{73F24842-72FF-BD42-97B7-F8A9B977183D}" type="presParOf" srcId="{B79B402D-400E-E848-B23F-632515EA4D7F}" destId="{A18E0633-6EB1-EF4F-B1A5-70A70B4EFE8F}" srcOrd="7" destOrd="0" presId="urn:microsoft.com/office/officeart/2008/layout/LinedList"/>
    <dgm:cxn modelId="{6A44BBAC-84D4-3545-8FAB-530278D2CB7C}" type="presParOf" srcId="{A18E0633-6EB1-EF4F-B1A5-70A70B4EFE8F}" destId="{C511518A-8D73-0C47-9EE5-777370765D68}" srcOrd="0" destOrd="0" presId="urn:microsoft.com/office/officeart/2008/layout/LinedList"/>
    <dgm:cxn modelId="{DC2181CB-7C16-8F49-9B0E-B98190F25630}" type="presParOf" srcId="{A18E0633-6EB1-EF4F-B1A5-70A70B4EFE8F}" destId="{93F78542-3900-C34D-98BA-1EEB0EC85C2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336026-E5B6-4941-8FDC-D478C5B67625}">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F9DA5-8E59-F841-9213-9BF1CDC5ABBF}">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IB Curriculum is internationally aligned and recognized</a:t>
          </a:r>
        </a:p>
      </dsp:txBody>
      <dsp:txXfrm>
        <a:off x="0" y="2703"/>
        <a:ext cx="6900512" cy="1843578"/>
      </dsp:txXfrm>
    </dsp:sp>
    <dsp:sp modelId="{1A7A9BA7-0295-2C46-A6AC-7242EC5DC018}">
      <dsp:nvSpPr>
        <dsp:cNvPr id="0" name=""/>
        <dsp:cNvSpPr/>
      </dsp:nvSpPr>
      <dsp:spPr>
        <a:xfrm>
          <a:off x="0" y="1846281"/>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771F09-6104-1D40-A9B0-128E0DDD3DD1}">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IB Diploma candidates test in six subject areas and the DP Core which includes creativity, activity, service, the extended essay, and theory of knowledge</a:t>
          </a:r>
        </a:p>
      </dsp:txBody>
      <dsp:txXfrm>
        <a:off x="0" y="1846281"/>
        <a:ext cx="6900512" cy="1843578"/>
      </dsp:txXfrm>
    </dsp:sp>
    <dsp:sp modelId="{C7D7BF89-E818-464B-A321-A3D046EB5996}">
      <dsp:nvSpPr>
        <dsp:cNvPr id="0" name=""/>
        <dsp:cNvSpPr/>
      </dsp:nvSpPr>
      <dsp:spPr>
        <a:xfrm>
          <a:off x="0" y="3689859"/>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A2C588-7075-1B4E-8708-260E9A2EDF3D}">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IB Assessments are externally monitored and scored providing more objective feedback </a:t>
          </a:r>
        </a:p>
      </dsp:txBody>
      <dsp:txXfrm>
        <a:off x="0" y="3689859"/>
        <a:ext cx="6900512" cy="18435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7FE89-3689-4A46-9706-FCAF56741DFF}">
      <dsp:nvSpPr>
        <dsp:cNvPr id="0" name=""/>
        <dsp:cNvSpPr/>
      </dsp:nvSpPr>
      <dsp:spPr>
        <a:xfrm>
          <a:off x="0" y="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19C25A-D391-584C-9E73-4039902CB0B4}">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Advanced Placement courses are specified courses approved by the College Board.</a:t>
          </a:r>
        </a:p>
      </dsp:txBody>
      <dsp:txXfrm>
        <a:off x="0" y="0"/>
        <a:ext cx="6900512" cy="1384035"/>
      </dsp:txXfrm>
    </dsp:sp>
    <dsp:sp modelId="{76B917E7-D4F4-B841-9FCF-9E9CCEFA1D7C}">
      <dsp:nvSpPr>
        <dsp:cNvPr id="0" name=""/>
        <dsp:cNvSpPr/>
      </dsp:nvSpPr>
      <dsp:spPr>
        <a:xfrm>
          <a:off x="0" y="1384035"/>
          <a:ext cx="6900512" cy="0"/>
        </a:xfrm>
        <a:prstGeom prst="line">
          <a:avLst/>
        </a:prstGeom>
        <a:solidFill>
          <a:schemeClr val="accent2">
            <a:hueOff val="-485121"/>
            <a:satOff val="-27976"/>
            <a:lumOff val="2876"/>
            <a:alphaOff val="0"/>
          </a:schemeClr>
        </a:solidFill>
        <a:ln w="12700" cap="flat" cmpd="sng" algn="ctr">
          <a:solidFill>
            <a:schemeClr val="accent2">
              <a:hueOff val="-485121"/>
              <a:satOff val="-27976"/>
              <a:lumOff val="28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ED55B6-389D-134E-9FF8-9FEC4A92CEFE}">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Student enrollment in AP courses in high school is shown to positively impact future student performance in college. </a:t>
          </a:r>
        </a:p>
      </dsp:txBody>
      <dsp:txXfrm>
        <a:off x="0" y="1384035"/>
        <a:ext cx="6900512" cy="1384035"/>
      </dsp:txXfrm>
    </dsp:sp>
    <dsp:sp modelId="{22254431-7B86-9541-9EAD-67A73231E761}">
      <dsp:nvSpPr>
        <dsp:cNvPr id="0" name=""/>
        <dsp:cNvSpPr/>
      </dsp:nvSpPr>
      <dsp:spPr>
        <a:xfrm>
          <a:off x="0" y="2768070"/>
          <a:ext cx="6900512" cy="0"/>
        </a:xfrm>
        <a:prstGeom prst="line">
          <a:avLst/>
        </a:prstGeom>
        <a:solidFill>
          <a:schemeClr val="accent2">
            <a:hueOff val="-970242"/>
            <a:satOff val="-55952"/>
            <a:lumOff val="5752"/>
            <a:alphaOff val="0"/>
          </a:schemeClr>
        </a:solidFill>
        <a:ln w="12700" cap="flat" cmpd="sng" algn="ctr">
          <a:solidFill>
            <a:schemeClr val="accent2">
              <a:hueOff val="-970242"/>
              <a:satOff val="-55952"/>
              <a:lumOff val="575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D82F8D-69D7-F14D-8714-A800BE9A6619}">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Our community highly values Advanced Placement courses and opportunities that align with AP courses.  </a:t>
          </a:r>
        </a:p>
      </dsp:txBody>
      <dsp:txXfrm>
        <a:off x="0" y="2768070"/>
        <a:ext cx="6900512" cy="1384035"/>
      </dsp:txXfrm>
    </dsp:sp>
    <dsp:sp modelId="{C2D63859-E040-174A-AEF1-4BB75F74CB12}">
      <dsp:nvSpPr>
        <dsp:cNvPr id="0" name=""/>
        <dsp:cNvSpPr/>
      </dsp:nvSpPr>
      <dsp:spPr>
        <a:xfrm>
          <a:off x="0" y="4152105"/>
          <a:ext cx="6900512"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11518A-8D73-0C47-9EE5-777370765D68}">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Though AP course participation can be beneficial for students, too many AP courses or a schedule that is saturated with AP courses may be detrimental to students. </a:t>
          </a:r>
        </a:p>
      </dsp:txBody>
      <dsp:txXfrm>
        <a:off x="0" y="4152105"/>
        <a:ext cx="6900512" cy="13840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0.08138</cdr:x>
      <cdr:y>0.49154</cdr:y>
    </cdr:from>
    <cdr:to>
      <cdr:x>0.41036</cdr:x>
      <cdr:y>0.54964</cdr:y>
    </cdr:to>
    <cdr:sp macro="" textlink="">
      <cdr:nvSpPr>
        <cdr:cNvPr id="3" name="TextBox 2">
          <a:extLst xmlns:a="http://schemas.openxmlformats.org/drawingml/2006/main">
            <a:ext uri="{FF2B5EF4-FFF2-40B4-BE49-F238E27FC236}">
              <a16:creationId xmlns:a16="http://schemas.microsoft.com/office/drawing/2014/main" id="{F04B942D-9D0E-3415-A4F1-D4A65392D393}"/>
            </a:ext>
          </a:extLst>
        </cdr:cNvPr>
        <cdr:cNvSpPr txBox="1"/>
      </cdr:nvSpPr>
      <cdr:spPr>
        <a:xfrm xmlns:a="http://schemas.openxmlformats.org/drawingml/2006/main">
          <a:off x="869990" y="3124200"/>
          <a:ext cx="3516924" cy="36927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2000" b="1" i="1" dirty="0"/>
            <a:t>Out-performing expectations </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59911136-90DF-E64A-8091-9B9186272129}" type="datetimeFigureOut">
              <a:rPr lang="en-US" smtClean="0"/>
              <a:t>11/14/2023</a:t>
            </a:fld>
            <a:endParaRPr lang="en-US"/>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DDD378E4-E749-6240-856B-B70C30FC4830}" type="slidenum">
              <a:rPr lang="en-US" smtClean="0"/>
              <a:t>‹#›</a:t>
            </a:fld>
            <a:endParaRPr lang="en-US"/>
          </a:p>
        </p:txBody>
      </p:sp>
    </p:spTree>
    <p:extLst>
      <p:ext uri="{BB962C8B-B14F-4D97-AF65-F5344CB8AC3E}">
        <p14:creationId xmlns:p14="http://schemas.microsoft.com/office/powerpoint/2010/main" val="3776145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D378E4-E749-6240-856B-B70C30FC4830}" type="slidenum">
              <a:rPr lang="en-US" smtClean="0"/>
              <a:t>1</a:t>
            </a:fld>
            <a:endParaRPr lang="en-US"/>
          </a:p>
        </p:txBody>
      </p:sp>
    </p:spTree>
    <p:extLst>
      <p:ext uri="{BB962C8B-B14F-4D97-AF65-F5344CB8AC3E}">
        <p14:creationId xmlns:p14="http://schemas.microsoft.com/office/powerpoint/2010/main" val="276619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D378E4-E749-6240-856B-B70C30FC4830}" type="slidenum">
              <a:rPr lang="en-US" smtClean="0"/>
              <a:t>2</a:t>
            </a:fld>
            <a:endParaRPr lang="en-US"/>
          </a:p>
        </p:txBody>
      </p:sp>
    </p:spTree>
    <p:extLst>
      <p:ext uri="{BB962C8B-B14F-4D97-AF65-F5344CB8AC3E}">
        <p14:creationId xmlns:p14="http://schemas.microsoft.com/office/powerpoint/2010/main" val="440311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Informing our work around ELA at the high school level </a:t>
            </a:r>
          </a:p>
          <a:p>
            <a:r>
              <a:rPr lang="en-US" dirty="0"/>
              <a:t>Common Lit Data </a:t>
            </a:r>
          </a:p>
          <a:p>
            <a:endParaRPr lang="en-US" dirty="0"/>
          </a:p>
        </p:txBody>
      </p:sp>
      <p:sp>
        <p:nvSpPr>
          <p:cNvPr id="4" name="Slide Number Placeholder 3"/>
          <p:cNvSpPr>
            <a:spLocks noGrp="1"/>
          </p:cNvSpPr>
          <p:nvPr>
            <p:ph type="sldNum" sz="quarter" idx="5"/>
          </p:nvPr>
        </p:nvSpPr>
        <p:spPr/>
        <p:txBody>
          <a:bodyPr/>
          <a:lstStyle/>
          <a:p>
            <a:fld id="{DDD378E4-E749-6240-856B-B70C30FC4830}" type="slidenum">
              <a:rPr lang="en-US" smtClean="0"/>
              <a:t>6</a:t>
            </a:fld>
            <a:endParaRPr lang="en-US"/>
          </a:p>
        </p:txBody>
      </p:sp>
    </p:spTree>
    <p:extLst>
      <p:ext uri="{BB962C8B-B14F-4D97-AF65-F5344CB8AC3E}">
        <p14:creationId xmlns:p14="http://schemas.microsoft.com/office/powerpoint/2010/main" val="1310139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D378E4-E749-6240-856B-B70C30FC4830}" type="slidenum">
              <a:rPr lang="en-US" smtClean="0"/>
              <a:t>12</a:t>
            </a:fld>
            <a:endParaRPr lang="en-US"/>
          </a:p>
        </p:txBody>
      </p:sp>
    </p:spTree>
    <p:extLst>
      <p:ext uri="{BB962C8B-B14F-4D97-AF65-F5344CB8AC3E}">
        <p14:creationId xmlns:p14="http://schemas.microsoft.com/office/powerpoint/2010/main" val="170776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D378E4-E749-6240-856B-B70C30FC4830}" type="slidenum">
              <a:rPr lang="en-US" smtClean="0"/>
              <a:t>23</a:t>
            </a:fld>
            <a:endParaRPr lang="en-US"/>
          </a:p>
        </p:txBody>
      </p:sp>
    </p:spTree>
    <p:extLst>
      <p:ext uri="{BB962C8B-B14F-4D97-AF65-F5344CB8AC3E}">
        <p14:creationId xmlns:p14="http://schemas.microsoft.com/office/powerpoint/2010/main" val="4027046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D378E4-E749-6240-856B-B70C30FC4830}" type="slidenum">
              <a:rPr lang="en-US" smtClean="0"/>
              <a:t>24</a:t>
            </a:fld>
            <a:endParaRPr lang="en-US"/>
          </a:p>
        </p:txBody>
      </p:sp>
    </p:spTree>
    <p:extLst>
      <p:ext uri="{BB962C8B-B14F-4D97-AF65-F5344CB8AC3E}">
        <p14:creationId xmlns:p14="http://schemas.microsoft.com/office/powerpoint/2010/main" val="2511454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D378E4-E749-6240-856B-B70C30FC4830}" type="slidenum">
              <a:rPr lang="en-US" smtClean="0"/>
              <a:t>26</a:t>
            </a:fld>
            <a:endParaRPr lang="en-US"/>
          </a:p>
        </p:txBody>
      </p:sp>
    </p:spTree>
    <p:extLst>
      <p:ext uri="{BB962C8B-B14F-4D97-AF65-F5344CB8AC3E}">
        <p14:creationId xmlns:p14="http://schemas.microsoft.com/office/powerpoint/2010/main" val="1388320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D378E4-E749-6240-856B-B70C30FC4830}" type="slidenum">
              <a:rPr lang="en-US" smtClean="0"/>
              <a:t>27</a:t>
            </a:fld>
            <a:endParaRPr lang="en-US"/>
          </a:p>
        </p:txBody>
      </p:sp>
    </p:spTree>
    <p:extLst>
      <p:ext uri="{BB962C8B-B14F-4D97-AF65-F5344CB8AC3E}">
        <p14:creationId xmlns:p14="http://schemas.microsoft.com/office/powerpoint/2010/main" val="3914418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D378E4-E749-6240-856B-B70C30FC4830}" type="slidenum">
              <a:rPr lang="en-US" smtClean="0"/>
              <a:t>28</a:t>
            </a:fld>
            <a:endParaRPr lang="en-US"/>
          </a:p>
        </p:txBody>
      </p:sp>
    </p:spTree>
    <p:extLst>
      <p:ext uri="{BB962C8B-B14F-4D97-AF65-F5344CB8AC3E}">
        <p14:creationId xmlns:p14="http://schemas.microsoft.com/office/powerpoint/2010/main" val="849602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D378E4-E749-6240-856B-B70C30FC4830}" type="slidenum">
              <a:rPr lang="en-US" smtClean="0"/>
              <a:t>32</a:t>
            </a:fld>
            <a:endParaRPr lang="en-US"/>
          </a:p>
        </p:txBody>
      </p:sp>
    </p:spTree>
    <p:extLst>
      <p:ext uri="{BB962C8B-B14F-4D97-AF65-F5344CB8AC3E}">
        <p14:creationId xmlns:p14="http://schemas.microsoft.com/office/powerpoint/2010/main" val="3218238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D378E4-E749-6240-856B-B70C30FC4830}" type="slidenum">
              <a:rPr lang="en-US" smtClean="0"/>
              <a:t>34</a:t>
            </a:fld>
            <a:endParaRPr lang="en-US"/>
          </a:p>
        </p:txBody>
      </p:sp>
    </p:spTree>
    <p:extLst>
      <p:ext uri="{BB962C8B-B14F-4D97-AF65-F5344CB8AC3E}">
        <p14:creationId xmlns:p14="http://schemas.microsoft.com/office/powerpoint/2010/main" val="1113324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F6805-61E6-DF3F-37A3-764802B6AF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AFFB84-0EE5-1D04-4DB5-42156C6B85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1CE52C-EF97-4DB5-BB92-22500702D951}"/>
              </a:ext>
            </a:extLst>
          </p:cNvPr>
          <p:cNvSpPr>
            <a:spLocks noGrp="1"/>
          </p:cNvSpPr>
          <p:nvPr>
            <p:ph type="dt" sz="half" idx="10"/>
          </p:nvPr>
        </p:nvSpPr>
        <p:spPr/>
        <p:txBody>
          <a:bodyPr/>
          <a:lstStyle/>
          <a:p>
            <a:fld id="{B04AE06A-4AF1-7341-AE55-724B8FD65727}" type="datetimeFigureOut">
              <a:rPr lang="en-US" smtClean="0"/>
              <a:t>11/14/2023</a:t>
            </a:fld>
            <a:endParaRPr lang="en-US"/>
          </a:p>
        </p:txBody>
      </p:sp>
      <p:sp>
        <p:nvSpPr>
          <p:cNvPr id="5" name="Footer Placeholder 4">
            <a:extLst>
              <a:ext uri="{FF2B5EF4-FFF2-40B4-BE49-F238E27FC236}">
                <a16:creationId xmlns:a16="http://schemas.microsoft.com/office/drawing/2014/main" id="{057F16EB-14B1-4754-372E-90C3EBE63B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4F3E94-501F-AE27-AE3E-7804CC467E4A}"/>
              </a:ext>
            </a:extLst>
          </p:cNvPr>
          <p:cNvSpPr>
            <a:spLocks noGrp="1"/>
          </p:cNvSpPr>
          <p:nvPr>
            <p:ph type="sldNum" sz="quarter" idx="12"/>
          </p:nvPr>
        </p:nvSpPr>
        <p:spPr/>
        <p:txBody>
          <a:bodyPr/>
          <a:lstStyle/>
          <a:p>
            <a:fld id="{C2E3680B-A903-994C-AD0A-D976B82CF330}" type="slidenum">
              <a:rPr lang="en-US" smtClean="0"/>
              <a:t>‹#›</a:t>
            </a:fld>
            <a:endParaRPr lang="en-US"/>
          </a:p>
        </p:txBody>
      </p:sp>
    </p:spTree>
    <p:extLst>
      <p:ext uri="{BB962C8B-B14F-4D97-AF65-F5344CB8AC3E}">
        <p14:creationId xmlns:p14="http://schemas.microsoft.com/office/powerpoint/2010/main" val="3698927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F61B3-4675-C014-8893-B6EC09495B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79F6AE-5435-B051-77AC-E610316FDF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5003D1-AD1E-7C48-2D71-B3E0A2ECD279}"/>
              </a:ext>
            </a:extLst>
          </p:cNvPr>
          <p:cNvSpPr>
            <a:spLocks noGrp="1"/>
          </p:cNvSpPr>
          <p:nvPr>
            <p:ph type="dt" sz="half" idx="10"/>
          </p:nvPr>
        </p:nvSpPr>
        <p:spPr/>
        <p:txBody>
          <a:bodyPr/>
          <a:lstStyle/>
          <a:p>
            <a:fld id="{B04AE06A-4AF1-7341-AE55-724B8FD65727}" type="datetimeFigureOut">
              <a:rPr lang="en-US" smtClean="0"/>
              <a:t>11/14/2023</a:t>
            </a:fld>
            <a:endParaRPr lang="en-US"/>
          </a:p>
        </p:txBody>
      </p:sp>
      <p:sp>
        <p:nvSpPr>
          <p:cNvPr id="5" name="Footer Placeholder 4">
            <a:extLst>
              <a:ext uri="{FF2B5EF4-FFF2-40B4-BE49-F238E27FC236}">
                <a16:creationId xmlns:a16="http://schemas.microsoft.com/office/drawing/2014/main" id="{1C7A54AD-889D-FD24-8696-C25E199B3A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E79E44-6412-A64B-A18C-A9DE20C0B0A5}"/>
              </a:ext>
            </a:extLst>
          </p:cNvPr>
          <p:cNvSpPr>
            <a:spLocks noGrp="1"/>
          </p:cNvSpPr>
          <p:nvPr>
            <p:ph type="sldNum" sz="quarter" idx="12"/>
          </p:nvPr>
        </p:nvSpPr>
        <p:spPr/>
        <p:txBody>
          <a:bodyPr/>
          <a:lstStyle/>
          <a:p>
            <a:fld id="{C2E3680B-A903-994C-AD0A-D976B82CF330}" type="slidenum">
              <a:rPr lang="en-US" smtClean="0"/>
              <a:t>‹#›</a:t>
            </a:fld>
            <a:endParaRPr lang="en-US"/>
          </a:p>
        </p:txBody>
      </p:sp>
    </p:spTree>
    <p:extLst>
      <p:ext uri="{BB962C8B-B14F-4D97-AF65-F5344CB8AC3E}">
        <p14:creationId xmlns:p14="http://schemas.microsoft.com/office/powerpoint/2010/main" val="985199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ECB16-27AC-B915-6E62-DA39A678C4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BEB249-6CEB-266E-EB18-9622C1FF1B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64311C-F5F1-4C74-5837-75321454A8F2}"/>
              </a:ext>
            </a:extLst>
          </p:cNvPr>
          <p:cNvSpPr>
            <a:spLocks noGrp="1"/>
          </p:cNvSpPr>
          <p:nvPr>
            <p:ph type="dt" sz="half" idx="10"/>
          </p:nvPr>
        </p:nvSpPr>
        <p:spPr/>
        <p:txBody>
          <a:bodyPr/>
          <a:lstStyle/>
          <a:p>
            <a:fld id="{B04AE06A-4AF1-7341-AE55-724B8FD65727}" type="datetimeFigureOut">
              <a:rPr lang="en-US" smtClean="0"/>
              <a:t>11/14/2023</a:t>
            </a:fld>
            <a:endParaRPr lang="en-US"/>
          </a:p>
        </p:txBody>
      </p:sp>
      <p:sp>
        <p:nvSpPr>
          <p:cNvPr id="5" name="Footer Placeholder 4">
            <a:extLst>
              <a:ext uri="{FF2B5EF4-FFF2-40B4-BE49-F238E27FC236}">
                <a16:creationId xmlns:a16="http://schemas.microsoft.com/office/drawing/2014/main" id="{253951BD-692E-7BD0-B06E-FBB2C6D83C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ADE7B9-243B-DA83-FF60-6FC40F0CF7CD}"/>
              </a:ext>
            </a:extLst>
          </p:cNvPr>
          <p:cNvSpPr>
            <a:spLocks noGrp="1"/>
          </p:cNvSpPr>
          <p:nvPr>
            <p:ph type="sldNum" sz="quarter" idx="12"/>
          </p:nvPr>
        </p:nvSpPr>
        <p:spPr/>
        <p:txBody>
          <a:bodyPr/>
          <a:lstStyle/>
          <a:p>
            <a:fld id="{C2E3680B-A903-994C-AD0A-D976B82CF330}" type="slidenum">
              <a:rPr lang="en-US" smtClean="0"/>
              <a:t>‹#›</a:t>
            </a:fld>
            <a:endParaRPr lang="en-US"/>
          </a:p>
        </p:txBody>
      </p:sp>
    </p:spTree>
    <p:extLst>
      <p:ext uri="{BB962C8B-B14F-4D97-AF65-F5344CB8AC3E}">
        <p14:creationId xmlns:p14="http://schemas.microsoft.com/office/powerpoint/2010/main" val="1355795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EA1D5-2EA0-97D0-51D1-427AC3E059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716E7B-91B4-9DC1-7269-5E14D65D12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B3945E-559D-7FBE-4EF0-59EF5E6167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A001F5-2DA4-B397-3099-06DF27021DE4}"/>
              </a:ext>
            </a:extLst>
          </p:cNvPr>
          <p:cNvSpPr>
            <a:spLocks noGrp="1"/>
          </p:cNvSpPr>
          <p:nvPr>
            <p:ph type="dt" sz="half" idx="10"/>
          </p:nvPr>
        </p:nvSpPr>
        <p:spPr/>
        <p:txBody>
          <a:bodyPr/>
          <a:lstStyle/>
          <a:p>
            <a:fld id="{B04AE06A-4AF1-7341-AE55-724B8FD65727}" type="datetimeFigureOut">
              <a:rPr lang="en-US" smtClean="0"/>
              <a:t>11/14/2023</a:t>
            </a:fld>
            <a:endParaRPr lang="en-US"/>
          </a:p>
        </p:txBody>
      </p:sp>
      <p:sp>
        <p:nvSpPr>
          <p:cNvPr id="6" name="Footer Placeholder 5">
            <a:extLst>
              <a:ext uri="{FF2B5EF4-FFF2-40B4-BE49-F238E27FC236}">
                <a16:creationId xmlns:a16="http://schemas.microsoft.com/office/drawing/2014/main" id="{D977684C-FCB7-ACAB-AB10-C8B6A61311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980143-87B8-6209-5882-66F918BBE3B6}"/>
              </a:ext>
            </a:extLst>
          </p:cNvPr>
          <p:cNvSpPr>
            <a:spLocks noGrp="1"/>
          </p:cNvSpPr>
          <p:nvPr>
            <p:ph type="sldNum" sz="quarter" idx="12"/>
          </p:nvPr>
        </p:nvSpPr>
        <p:spPr/>
        <p:txBody>
          <a:bodyPr/>
          <a:lstStyle/>
          <a:p>
            <a:fld id="{C2E3680B-A903-994C-AD0A-D976B82CF330}" type="slidenum">
              <a:rPr lang="en-US" smtClean="0"/>
              <a:t>‹#›</a:t>
            </a:fld>
            <a:endParaRPr lang="en-US"/>
          </a:p>
        </p:txBody>
      </p:sp>
    </p:spTree>
    <p:extLst>
      <p:ext uri="{BB962C8B-B14F-4D97-AF65-F5344CB8AC3E}">
        <p14:creationId xmlns:p14="http://schemas.microsoft.com/office/powerpoint/2010/main" val="393335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27C07-3CA4-E0DF-FCA0-B7CE783FDA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E281C1-AECE-D441-8A78-3FF5EF3D99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0B24A8-FC8D-F0A1-895C-C99A9B72D0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77EE7E-2548-E243-A7C4-8443DEA718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152F82-6155-7E43-A24A-3B32122DD1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9B51A5-9D7B-C30B-1DE0-144A89738DD4}"/>
              </a:ext>
            </a:extLst>
          </p:cNvPr>
          <p:cNvSpPr>
            <a:spLocks noGrp="1"/>
          </p:cNvSpPr>
          <p:nvPr>
            <p:ph type="dt" sz="half" idx="10"/>
          </p:nvPr>
        </p:nvSpPr>
        <p:spPr/>
        <p:txBody>
          <a:bodyPr/>
          <a:lstStyle/>
          <a:p>
            <a:fld id="{B04AE06A-4AF1-7341-AE55-724B8FD65727}" type="datetimeFigureOut">
              <a:rPr lang="en-US" smtClean="0"/>
              <a:t>11/14/2023</a:t>
            </a:fld>
            <a:endParaRPr lang="en-US"/>
          </a:p>
        </p:txBody>
      </p:sp>
      <p:sp>
        <p:nvSpPr>
          <p:cNvPr id="8" name="Footer Placeholder 7">
            <a:extLst>
              <a:ext uri="{FF2B5EF4-FFF2-40B4-BE49-F238E27FC236}">
                <a16:creationId xmlns:a16="http://schemas.microsoft.com/office/drawing/2014/main" id="{768FEAA9-3012-3D54-A45A-3AB8655EFA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9B1208-6B43-F9F1-2925-AB56ED5C3A71}"/>
              </a:ext>
            </a:extLst>
          </p:cNvPr>
          <p:cNvSpPr>
            <a:spLocks noGrp="1"/>
          </p:cNvSpPr>
          <p:nvPr>
            <p:ph type="sldNum" sz="quarter" idx="12"/>
          </p:nvPr>
        </p:nvSpPr>
        <p:spPr/>
        <p:txBody>
          <a:bodyPr/>
          <a:lstStyle/>
          <a:p>
            <a:fld id="{C2E3680B-A903-994C-AD0A-D976B82CF330}" type="slidenum">
              <a:rPr lang="en-US" smtClean="0"/>
              <a:t>‹#›</a:t>
            </a:fld>
            <a:endParaRPr lang="en-US"/>
          </a:p>
        </p:txBody>
      </p:sp>
    </p:spTree>
    <p:extLst>
      <p:ext uri="{BB962C8B-B14F-4D97-AF65-F5344CB8AC3E}">
        <p14:creationId xmlns:p14="http://schemas.microsoft.com/office/powerpoint/2010/main" val="2305789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1C21A-C851-5FDC-3141-EFBB98CA947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1AF08A0-1BA1-F9AE-470D-E00838D29A67}"/>
              </a:ext>
            </a:extLst>
          </p:cNvPr>
          <p:cNvSpPr>
            <a:spLocks noGrp="1"/>
          </p:cNvSpPr>
          <p:nvPr>
            <p:ph type="dt" sz="half" idx="10"/>
          </p:nvPr>
        </p:nvSpPr>
        <p:spPr/>
        <p:txBody>
          <a:bodyPr/>
          <a:lstStyle/>
          <a:p>
            <a:fld id="{B04AE06A-4AF1-7341-AE55-724B8FD65727}" type="datetimeFigureOut">
              <a:rPr lang="en-US" smtClean="0"/>
              <a:t>11/14/2023</a:t>
            </a:fld>
            <a:endParaRPr lang="en-US"/>
          </a:p>
        </p:txBody>
      </p:sp>
      <p:sp>
        <p:nvSpPr>
          <p:cNvPr id="4" name="Footer Placeholder 3">
            <a:extLst>
              <a:ext uri="{FF2B5EF4-FFF2-40B4-BE49-F238E27FC236}">
                <a16:creationId xmlns:a16="http://schemas.microsoft.com/office/drawing/2014/main" id="{4BEEAE2C-645F-291D-9699-989B2EC5AC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279575-845E-EDC3-954D-D28FD0372472}"/>
              </a:ext>
            </a:extLst>
          </p:cNvPr>
          <p:cNvSpPr>
            <a:spLocks noGrp="1"/>
          </p:cNvSpPr>
          <p:nvPr>
            <p:ph type="sldNum" sz="quarter" idx="12"/>
          </p:nvPr>
        </p:nvSpPr>
        <p:spPr/>
        <p:txBody>
          <a:bodyPr/>
          <a:lstStyle/>
          <a:p>
            <a:fld id="{C2E3680B-A903-994C-AD0A-D976B82CF330}" type="slidenum">
              <a:rPr lang="en-US" smtClean="0"/>
              <a:t>‹#›</a:t>
            </a:fld>
            <a:endParaRPr lang="en-US"/>
          </a:p>
        </p:txBody>
      </p:sp>
    </p:spTree>
    <p:extLst>
      <p:ext uri="{BB962C8B-B14F-4D97-AF65-F5344CB8AC3E}">
        <p14:creationId xmlns:p14="http://schemas.microsoft.com/office/powerpoint/2010/main" val="3026401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A93268-6DFF-8458-B365-90907E44854F}"/>
              </a:ext>
            </a:extLst>
          </p:cNvPr>
          <p:cNvSpPr>
            <a:spLocks noGrp="1"/>
          </p:cNvSpPr>
          <p:nvPr>
            <p:ph type="dt" sz="half" idx="10"/>
          </p:nvPr>
        </p:nvSpPr>
        <p:spPr/>
        <p:txBody>
          <a:bodyPr/>
          <a:lstStyle/>
          <a:p>
            <a:fld id="{B04AE06A-4AF1-7341-AE55-724B8FD65727}" type="datetimeFigureOut">
              <a:rPr lang="en-US" smtClean="0"/>
              <a:t>11/14/2023</a:t>
            </a:fld>
            <a:endParaRPr lang="en-US"/>
          </a:p>
        </p:txBody>
      </p:sp>
      <p:sp>
        <p:nvSpPr>
          <p:cNvPr id="3" name="Footer Placeholder 2">
            <a:extLst>
              <a:ext uri="{FF2B5EF4-FFF2-40B4-BE49-F238E27FC236}">
                <a16:creationId xmlns:a16="http://schemas.microsoft.com/office/drawing/2014/main" id="{0295263C-8A57-8AD7-50FE-E2FCB54785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EECBC8-52FB-E3C1-F2EC-87892CD36394}"/>
              </a:ext>
            </a:extLst>
          </p:cNvPr>
          <p:cNvSpPr>
            <a:spLocks noGrp="1"/>
          </p:cNvSpPr>
          <p:nvPr>
            <p:ph type="sldNum" sz="quarter" idx="12"/>
          </p:nvPr>
        </p:nvSpPr>
        <p:spPr/>
        <p:txBody>
          <a:bodyPr/>
          <a:lstStyle/>
          <a:p>
            <a:fld id="{C2E3680B-A903-994C-AD0A-D976B82CF330}" type="slidenum">
              <a:rPr lang="en-US" smtClean="0"/>
              <a:t>‹#›</a:t>
            </a:fld>
            <a:endParaRPr lang="en-US"/>
          </a:p>
        </p:txBody>
      </p:sp>
    </p:spTree>
    <p:extLst>
      <p:ext uri="{BB962C8B-B14F-4D97-AF65-F5344CB8AC3E}">
        <p14:creationId xmlns:p14="http://schemas.microsoft.com/office/powerpoint/2010/main" val="3465868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EDB7E-8AC7-DCFB-17B3-F775AB1DE8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9177EC-46C5-19C0-3117-42B67CCF72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EA688C-DF06-49DD-1364-864DF3BF6D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BB669D-DFDD-F952-590A-6C96043F3CFC}"/>
              </a:ext>
            </a:extLst>
          </p:cNvPr>
          <p:cNvSpPr>
            <a:spLocks noGrp="1"/>
          </p:cNvSpPr>
          <p:nvPr>
            <p:ph type="dt" sz="half" idx="10"/>
          </p:nvPr>
        </p:nvSpPr>
        <p:spPr/>
        <p:txBody>
          <a:bodyPr/>
          <a:lstStyle/>
          <a:p>
            <a:fld id="{B04AE06A-4AF1-7341-AE55-724B8FD65727}" type="datetimeFigureOut">
              <a:rPr lang="en-US" smtClean="0"/>
              <a:t>11/14/2023</a:t>
            </a:fld>
            <a:endParaRPr lang="en-US"/>
          </a:p>
        </p:txBody>
      </p:sp>
      <p:sp>
        <p:nvSpPr>
          <p:cNvPr id="6" name="Footer Placeholder 5">
            <a:extLst>
              <a:ext uri="{FF2B5EF4-FFF2-40B4-BE49-F238E27FC236}">
                <a16:creationId xmlns:a16="http://schemas.microsoft.com/office/drawing/2014/main" id="{5D16F3F3-A910-64F1-3FC9-124A69AB41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C6323F-7430-E08F-973E-DAA3F5E3BE9B}"/>
              </a:ext>
            </a:extLst>
          </p:cNvPr>
          <p:cNvSpPr>
            <a:spLocks noGrp="1"/>
          </p:cNvSpPr>
          <p:nvPr>
            <p:ph type="sldNum" sz="quarter" idx="12"/>
          </p:nvPr>
        </p:nvSpPr>
        <p:spPr/>
        <p:txBody>
          <a:bodyPr/>
          <a:lstStyle/>
          <a:p>
            <a:fld id="{C2E3680B-A903-994C-AD0A-D976B82CF330}" type="slidenum">
              <a:rPr lang="en-US" smtClean="0"/>
              <a:t>‹#›</a:t>
            </a:fld>
            <a:endParaRPr lang="en-US"/>
          </a:p>
        </p:txBody>
      </p:sp>
    </p:spTree>
    <p:extLst>
      <p:ext uri="{BB962C8B-B14F-4D97-AF65-F5344CB8AC3E}">
        <p14:creationId xmlns:p14="http://schemas.microsoft.com/office/powerpoint/2010/main" val="3590095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2EEB0-84CB-5FC7-1A5E-8AD90DD953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A74004-3FA7-ACA0-67B6-5D722956F3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12D8AF-061B-E678-C97A-90CBD19D21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F8BA44-7838-B57B-EE54-0D91CC086860}"/>
              </a:ext>
            </a:extLst>
          </p:cNvPr>
          <p:cNvSpPr>
            <a:spLocks noGrp="1"/>
          </p:cNvSpPr>
          <p:nvPr>
            <p:ph type="dt" sz="half" idx="10"/>
          </p:nvPr>
        </p:nvSpPr>
        <p:spPr/>
        <p:txBody>
          <a:bodyPr/>
          <a:lstStyle/>
          <a:p>
            <a:fld id="{B04AE06A-4AF1-7341-AE55-724B8FD65727}" type="datetimeFigureOut">
              <a:rPr lang="en-US" smtClean="0"/>
              <a:t>11/14/2023</a:t>
            </a:fld>
            <a:endParaRPr lang="en-US"/>
          </a:p>
        </p:txBody>
      </p:sp>
      <p:sp>
        <p:nvSpPr>
          <p:cNvPr id="6" name="Footer Placeholder 5">
            <a:extLst>
              <a:ext uri="{FF2B5EF4-FFF2-40B4-BE49-F238E27FC236}">
                <a16:creationId xmlns:a16="http://schemas.microsoft.com/office/drawing/2014/main" id="{0267C986-F261-4BF9-AD80-8BD5BEE221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DE0E1C-7736-8DA3-FCEA-64C468579DC5}"/>
              </a:ext>
            </a:extLst>
          </p:cNvPr>
          <p:cNvSpPr>
            <a:spLocks noGrp="1"/>
          </p:cNvSpPr>
          <p:nvPr>
            <p:ph type="sldNum" sz="quarter" idx="12"/>
          </p:nvPr>
        </p:nvSpPr>
        <p:spPr/>
        <p:txBody>
          <a:bodyPr/>
          <a:lstStyle/>
          <a:p>
            <a:fld id="{C2E3680B-A903-994C-AD0A-D976B82CF330}" type="slidenum">
              <a:rPr lang="en-US" smtClean="0"/>
              <a:t>‹#›</a:t>
            </a:fld>
            <a:endParaRPr lang="en-US"/>
          </a:p>
        </p:txBody>
      </p:sp>
    </p:spTree>
    <p:extLst>
      <p:ext uri="{BB962C8B-B14F-4D97-AF65-F5344CB8AC3E}">
        <p14:creationId xmlns:p14="http://schemas.microsoft.com/office/powerpoint/2010/main" val="3726278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8C783-1449-8D27-DA3C-1E21D3AA08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0847C0-B9C6-D3F3-2A0C-38544BC41D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E26C5D-795B-66D1-5239-ECB3D9654B84}"/>
              </a:ext>
            </a:extLst>
          </p:cNvPr>
          <p:cNvSpPr>
            <a:spLocks noGrp="1"/>
          </p:cNvSpPr>
          <p:nvPr>
            <p:ph type="dt" sz="half" idx="10"/>
          </p:nvPr>
        </p:nvSpPr>
        <p:spPr/>
        <p:txBody>
          <a:bodyPr/>
          <a:lstStyle/>
          <a:p>
            <a:fld id="{B04AE06A-4AF1-7341-AE55-724B8FD65727}" type="datetimeFigureOut">
              <a:rPr lang="en-US" smtClean="0"/>
              <a:t>11/14/2023</a:t>
            </a:fld>
            <a:endParaRPr lang="en-US"/>
          </a:p>
        </p:txBody>
      </p:sp>
      <p:sp>
        <p:nvSpPr>
          <p:cNvPr id="5" name="Footer Placeholder 4">
            <a:extLst>
              <a:ext uri="{FF2B5EF4-FFF2-40B4-BE49-F238E27FC236}">
                <a16:creationId xmlns:a16="http://schemas.microsoft.com/office/drawing/2014/main" id="{317D3D46-FAE6-DD83-8A77-4E880E24E6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B20344-7DE5-5B70-C37A-0C392E7F952A}"/>
              </a:ext>
            </a:extLst>
          </p:cNvPr>
          <p:cNvSpPr>
            <a:spLocks noGrp="1"/>
          </p:cNvSpPr>
          <p:nvPr>
            <p:ph type="sldNum" sz="quarter" idx="12"/>
          </p:nvPr>
        </p:nvSpPr>
        <p:spPr/>
        <p:txBody>
          <a:bodyPr/>
          <a:lstStyle/>
          <a:p>
            <a:fld id="{C2E3680B-A903-994C-AD0A-D976B82CF330}" type="slidenum">
              <a:rPr lang="en-US" smtClean="0"/>
              <a:t>‹#›</a:t>
            </a:fld>
            <a:endParaRPr lang="en-US"/>
          </a:p>
        </p:txBody>
      </p:sp>
    </p:spTree>
    <p:extLst>
      <p:ext uri="{BB962C8B-B14F-4D97-AF65-F5344CB8AC3E}">
        <p14:creationId xmlns:p14="http://schemas.microsoft.com/office/powerpoint/2010/main" val="1197766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9130C4-2340-9E76-BD83-899FC13350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0A6C7A-5283-B502-6F90-8C4DFCA38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407CD-576F-F046-2E57-F0B198AD0AB3}"/>
              </a:ext>
            </a:extLst>
          </p:cNvPr>
          <p:cNvSpPr>
            <a:spLocks noGrp="1"/>
          </p:cNvSpPr>
          <p:nvPr>
            <p:ph type="dt" sz="half" idx="10"/>
          </p:nvPr>
        </p:nvSpPr>
        <p:spPr/>
        <p:txBody>
          <a:bodyPr/>
          <a:lstStyle/>
          <a:p>
            <a:fld id="{B04AE06A-4AF1-7341-AE55-724B8FD65727}" type="datetimeFigureOut">
              <a:rPr lang="en-US" smtClean="0"/>
              <a:t>11/14/2023</a:t>
            </a:fld>
            <a:endParaRPr lang="en-US"/>
          </a:p>
        </p:txBody>
      </p:sp>
      <p:sp>
        <p:nvSpPr>
          <p:cNvPr id="5" name="Footer Placeholder 4">
            <a:extLst>
              <a:ext uri="{FF2B5EF4-FFF2-40B4-BE49-F238E27FC236}">
                <a16:creationId xmlns:a16="http://schemas.microsoft.com/office/drawing/2014/main" id="{7C26E019-6721-5B22-76FA-5D6C692A2A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C61966-B0DF-0944-EC04-E87485F90210}"/>
              </a:ext>
            </a:extLst>
          </p:cNvPr>
          <p:cNvSpPr>
            <a:spLocks noGrp="1"/>
          </p:cNvSpPr>
          <p:nvPr>
            <p:ph type="sldNum" sz="quarter" idx="12"/>
          </p:nvPr>
        </p:nvSpPr>
        <p:spPr/>
        <p:txBody>
          <a:bodyPr/>
          <a:lstStyle/>
          <a:p>
            <a:fld id="{C2E3680B-A903-994C-AD0A-D976B82CF330}" type="slidenum">
              <a:rPr lang="en-US" smtClean="0"/>
              <a:t>‹#›</a:t>
            </a:fld>
            <a:endParaRPr lang="en-US"/>
          </a:p>
        </p:txBody>
      </p:sp>
    </p:spTree>
    <p:extLst>
      <p:ext uri="{BB962C8B-B14F-4D97-AF65-F5344CB8AC3E}">
        <p14:creationId xmlns:p14="http://schemas.microsoft.com/office/powerpoint/2010/main" val="1903094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0089C2-E8F8-54C8-6DD7-DA9921A106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FB7153-13F1-8800-E4E0-EA38F663E1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7B33A-0D70-C129-9B7D-3D092D52BD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4AE06A-4AF1-7341-AE55-724B8FD65727}" type="datetimeFigureOut">
              <a:rPr lang="en-US" smtClean="0"/>
              <a:t>11/14/2023</a:t>
            </a:fld>
            <a:endParaRPr lang="en-US"/>
          </a:p>
        </p:txBody>
      </p:sp>
      <p:sp>
        <p:nvSpPr>
          <p:cNvPr id="5" name="Footer Placeholder 4">
            <a:extLst>
              <a:ext uri="{FF2B5EF4-FFF2-40B4-BE49-F238E27FC236}">
                <a16:creationId xmlns:a16="http://schemas.microsoft.com/office/drawing/2014/main" id="{E94E91A8-1D4C-3587-EC55-FF0211179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DD0717-D95B-1D1F-0CEA-2929C98281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E3680B-A903-994C-AD0A-D976B82CF330}" type="slidenum">
              <a:rPr lang="en-US" smtClean="0"/>
              <a:t>‹#›</a:t>
            </a:fld>
            <a:endParaRPr lang="en-US"/>
          </a:p>
        </p:txBody>
      </p:sp>
    </p:spTree>
    <p:extLst>
      <p:ext uri="{BB962C8B-B14F-4D97-AF65-F5344CB8AC3E}">
        <p14:creationId xmlns:p14="http://schemas.microsoft.com/office/powerpoint/2010/main" val="1167857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cid:image001.png@01DA16E7.B35B4310"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34CA8D8-5AEB-8495-9522-E210E5AAC5E2}"/>
              </a:ext>
            </a:extLst>
          </p:cNvPr>
          <p:cNvPicPr>
            <a:picLocks noChangeAspect="1"/>
          </p:cNvPicPr>
          <p:nvPr/>
        </p:nvPicPr>
        <p:blipFill rotWithShape="1">
          <a:blip r:embed="rId3"/>
          <a:srcRect t="7322" b="17678"/>
          <a:stretch/>
        </p:blipFill>
        <p:spPr>
          <a:xfrm>
            <a:off x="-3047" y="10"/>
            <a:ext cx="12191999" cy="6857990"/>
          </a:xfrm>
          <a:prstGeom prst="rect">
            <a:avLst/>
          </a:prstGeom>
        </p:spPr>
      </p:pic>
      <p:sp>
        <p:nvSpPr>
          <p:cNvPr id="38" name="Rectangle 37">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3502636-D0BB-B9E9-0F09-B1E0296C2D25}"/>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ormAutofit/>
          </a:bodyPr>
          <a:lstStyle/>
          <a:p>
            <a:r>
              <a:rPr lang="en-US" sz="5200">
                <a:solidFill>
                  <a:srgbClr val="FFFFFF"/>
                </a:solidFill>
              </a:rPr>
              <a:t>Student Assessment Data </a:t>
            </a:r>
          </a:p>
        </p:txBody>
      </p:sp>
      <p:sp>
        <p:nvSpPr>
          <p:cNvPr id="2" name="Subtitle 1">
            <a:extLst>
              <a:ext uri="{FF2B5EF4-FFF2-40B4-BE49-F238E27FC236}">
                <a16:creationId xmlns:a16="http://schemas.microsoft.com/office/drawing/2014/main" id="{093AC8F6-84C5-80F6-ECF7-5962A5FE6B67}"/>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US">
                <a:solidFill>
                  <a:srgbClr val="FFFFFF"/>
                </a:solidFill>
              </a:rPr>
              <a:t>Board Workshop</a:t>
            </a:r>
          </a:p>
          <a:p>
            <a:r>
              <a:rPr lang="en-US">
                <a:solidFill>
                  <a:srgbClr val="FFFFFF"/>
                </a:solidFill>
              </a:rPr>
              <a:t>November 2023 </a:t>
            </a:r>
          </a:p>
        </p:txBody>
      </p:sp>
    </p:spTree>
    <p:extLst>
      <p:ext uri="{BB962C8B-B14F-4D97-AF65-F5344CB8AC3E}">
        <p14:creationId xmlns:p14="http://schemas.microsoft.com/office/powerpoint/2010/main" val="4034859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54053FE-2A9A-DEE9-8B7A-10DF3C97FEE4}"/>
              </a:ext>
            </a:extLst>
          </p:cNvPr>
          <p:cNvSpPr>
            <a:spLocks noGrp="1"/>
          </p:cNvSpPr>
          <p:nvPr>
            <p:ph type="title"/>
          </p:nvPr>
        </p:nvSpPr>
        <p:spPr>
          <a:xfrm>
            <a:off x="5297762" y="329184"/>
            <a:ext cx="6251110" cy="1783080"/>
          </a:xfrm>
        </p:spPr>
        <p:txBody>
          <a:bodyPr anchor="b">
            <a:normAutofit/>
          </a:bodyPr>
          <a:lstStyle/>
          <a:p>
            <a:r>
              <a:rPr lang="en-US" sz="5400"/>
              <a:t>Reviewing Consistent Measures Over Time </a:t>
            </a:r>
          </a:p>
        </p:txBody>
      </p:sp>
      <p:pic>
        <p:nvPicPr>
          <p:cNvPr id="20" name="Picture 19" descr="Magnifying glass showing decling performance">
            <a:extLst>
              <a:ext uri="{FF2B5EF4-FFF2-40B4-BE49-F238E27FC236}">
                <a16:creationId xmlns:a16="http://schemas.microsoft.com/office/drawing/2014/main" id="{427EC463-94C9-3C1F-C0F7-563473A1D004}"/>
              </a:ext>
            </a:extLst>
          </p:cNvPr>
          <p:cNvPicPr>
            <a:picLocks noChangeAspect="1"/>
          </p:cNvPicPr>
          <p:nvPr/>
        </p:nvPicPr>
        <p:blipFill rotWithShape="1">
          <a:blip r:embed="rId3"/>
          <a:srcRect l="12053" r="42616"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1"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BCD8B868-F304-29A7-AE2B-1CF82977A4D7}"/>
              </a:ext>
            </a:extLst>
          </p:cNvPr>
          <p:cNvSpPr>
            <a:spLocks noGrp="1"/>
          </p:cNvSpPr>
          <p:nvPr>
            <p:ph idx="1"/>
          </p:nvPr>
        </p:nvSpPr>
        <p:spPr>
          <a:xfrm>
            <a:off x="5297762" y="2706624"/>
            <a:ext cx="6251110" cy="4030352"/>
          </a:xfrm>
        </p:spPr>
        <p:txBody>
          <a:bodyPr>
            <a:normAutofit fontScale="92500" lnSpcReduction="20000"/>
          </a:bodyPr>
          <a:lstStyle/>
          <a:p>
            <a:r>
              <a:rPr lang="en-US" sz="2400" dirty="0"/>
              <a:t>Standardized Assessment Data:</a:t>
            </a:r>
          </a:p>
          <a:p>
            <a:pPr lvl="1"/>
            <a:r>
              <a:rPr lang="en-US" dirty="0"/>
              <a:t>SAT Suite of Assessments </a:t>
            </a:r>
          </a:p>
          <a:p>
            <a:pPr lvl="2"/>
            <a:r>
              <a:rPr lang="en-US" sz="2400" dirty="0"/>
              <a:t>Scholastic Aptitude Test (SAT 11)</a:t>
            </a:r>
          </a:p>
          <a:p>
            <a:pPr lvl="2"/>
            <a:r>
              <a:rPr lang="en-US" sz="2400" dirty="0"/>
              <a:t>PSAT 8 </a:t>
            </a:r>
          </a:p>
          <a:p>
            <a:pPr lvl="1"/>
            <a:r>
              <a:rPr lang="en-US" dirty="0"/>
              <a:t>MSTEP 3-7 </a:t>
            </a:r>
          </a:p>
          <a:p>
            <a:r>
              <a:rPr lang="en-US" sz="2400" dirty="0"/>
              <a:t>Instructional/Benchmarking Data:</a:t>
            </a:r>
          </a:p>
          <a:p>
            <a:pPr lvl="1"/>
            <a:r>
              <a:rPr lang="en-US" dirty="0"/>
              <a:t>Fountas &amp; Pinnell (ELA K-5)</a:t>
            </a:r>
          </a:p>
          <a:p>
            <a:pPr lvl="1"/>
            <a:r>
              <a:rPr lang="en-US" dirty="0"/>
              <a:t>Common Lit (ELA 6-12)</a:t>
            </a:r>
          </a:p>
          <a:p>
            <a:pPr lvl="1"/>
            <a:r>
              <a:rPr lang="en-US" dirty="0"/>
              <a:t>NWEA – Math (6-Alg1)</a:t>
            </a:r>
          </a:p>
          <a:p>
            <a:r>
              <a:rPr lang="en-US" sz="2400" dirty="0"/>
              <a:t>Exit Data:</a:t>
            </a:r>
          </a:p>
          <a:p>
            <a:pPr lvl="1"/>
            <a:r>
              <a:rPr lang="en-US" dirty="0"/>
              <a:t>Advanced Placement Assessments </a:t>
            </a:r>
          </a:p>
          <a:p>
            <a:pPr lvl="1"/>
            <a:r>
              <a:rPr lang="en-US" dirty="0"/>
              <a:t>Graduation Rate</a:t>
            </a:r>
          </a:p>
        </p:txBody>
      </p:sp>
    </p:spTree>
    <p:extLst>
      <p:ext uri="{BB962C8B-B14F-4D97-AF65-F5344CB8AC3E}">
        <p14:creationId xmlns:p14="http://schemas.microsoft.com/office/powerpoint/2010/main" val="3831644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43C2DF-80C0-8C98-40D1-D35C762F80BC}"/>
              </a:ext>
            </a:extLst>
          </p:cNvPr>
          <p:cNvSpPr>
            <a:spLocks noGrp="1"/>
          </p:cNvSpPr>
          <p:nvPr>
            <p:ph type="title"/>
          </p:nvPr>
        </p:nvSpPr>
        <p:spPr>
          <a:xfrm>
            <a:off x="838200" y="365125"/>
            <a:ext cx="10515600" cy="1325563"/>
          </a:xfrm>
        </p:spPr>
        <p:txBody>
          <a:bodyPr>
            <a:normAutofit/>
          </a:bodyPr>
          <a:lstStyle/>
          <a:p>
            <a:r>
              <a:rPr lang="en-US" sz="5400"/>
              <a:t>SAT 11 </a:t>
            </a:r>
          </a:p>
        </p:txBody>
      </p:sp>
      <p:sp>
        <p:nvSpPr>
          <p:cNvPr id="15"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05DA9A3-3A08-76BE-413F-25F5C658EE06}"/>
              </a:ext>
            </a:extLst>
          </p:cNvPr>
          <p:cNvSpPr>
            <a:spLocks noGrp="1"/>
          </p:cNvSpPr>
          <p:nvPr>
            <p:ph idx="1"/>
          </p:nvPr>
        </p:nvSpPr>
        <p:spPr>
          <a:xfrm>
            <a:off x="838200" y="1929384"/>
            <a:ext cx="10515600" cy="4251960"/>
          </a:xfrm>
        </p:spPr>
        <p:txBody>
          <a:bodyPr>
            <a:normAutofit/>
          </a:bodyPr>
          <a:lstStyle/>
          <a:p>
            <a:r>
              <a:rPr lang="en-US" sz="2200" dirty="0"/>
              <a:t>Why SAT 11?</a:t>
            </a:r>
          </a:p>
          <a:p>
            <a:pPr lvl="1"/>
            <a:r>
              <a:rPr lang="en-US" sz="2200" dirty="0"/>
              <a:t>National norm-referenced assessment </a:t>
            </a:r>
          </a:p>
          <a:p>
            <a:pPr lvl="1"/>
            <a:r>
              <a:rPr lang="en-US" sz="2200" dirty="0"/>
              <a:t>Consistent content &amp; structure overtime (unlike MSTEP/MEAP variance)</a:t>
            </a:r>
          </a:p>
          <a:p>
            <a:pPr lvl="1"/>
            <a:r>
              <a:rPr lang="en-US" sz="2200" dirty="0"/>
              <a:t>Leading collegiate admissions assessments </a:t>
            </a:r>
          </a:p>
          <a:p>
            <a:pPr lvl="1"/>
            <a:r>
              <a:rPr lang="en-US" sz="2200" dirty="0"/>
              <a:t>Suite of assessments with linkages from grade 8-11</a:t>
            </a:r>
          </a:p>
          <a:p>
            <a:pPr lvl="1"/>
            <a:endParaRPr lang="en-US" sz="2200" dirty="0"/>
          </a:p>
          <a:p>
            <a:r>
              <a:rPr lang="en-US" sz="2200" dirty="0"/>
              <a:t>What does it show us?</a:t>
            </a:r>
          </a:p>
          <a:p>
            <a:pPr lvl="1"/>
            <a:r>
              <a:rPr lang="en-US" sz="2200" dirty="0"/>
              <a:t>Programmatic impact overtime </a:t>
            </a:r>
          </a:p>
          <a:p>
            <a:pPr lvl="1"/>
            <a:r>
              <a:rPr lang="en-US" sz="2200" dirty="0"/>
              <a:t>Comparison data state/county/school/student group </a:t>
            </a:r>
          </a:p>
          <a:p>
            <a:pPr lvl="1"/>
            <a:r>
              <a:rPr lang="en-US" sz="2200" dirty="0"/>
              <a:t>Transparency in our work ahead </a:t>
            </a:r>
          </a:p>
          <a:p>
            <a:pPr marL="457200" lvl="1" indent="0">
              <a:buNone/>
            </a:pPr>
            <a:endParaRPr lang="en-US" sz="2200" dirty="0"/>
          </a:p>
          <a:p>
            <a:pPr marL="457200" lvl="1" indent="0">
              <a:buNone/>
            </a:pPr>
            <a:endParaRPr lang="en-US" sz="2200" dirty="0"/>
          </a:p>
          <a:p>
            <a:pPr marL="457200" lvl="1" indent="0">
              <a:buNone/>
            </a:pPr>
            <a:endParaRPr lang="en-US" sz="2200" dirty="0"/>
          </a:p>
        </p:txBody>
      </p:sp>
    </p:spTree>
    <p:extLst>
      <p:ext uri="{BB962C8B-B14F-4D97-AF65-F5344CB8AC3E}">
        <p14:creationId xmlns:p14="http://schemas.microsoft.com/office/powerpoint/2010/main" val="1361934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3502636-D0BB-B9E9-0F09-B1E0296C2D25}"/>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a:t>SAT Grade 11 </a:t>
            </a:r>
          </a:p>
        </p:txBody>
      </p:sp>
      <p:sp>
        <p:nvSpPr>
          <p:cNvPr id="5" name="Text Placeholder 4">
            <a:extLst>
              <a:ext uri="{FF2B5EF4-FFF2-40B4-BE49-F238E27FC236}">
                <a16:creationId xmlns:a16="http://schemas.microsoft.com/office/drawing/2014/main" id="{217B7E4C-DDBC-BFB2-4AC2-95EAE555E17C}"/>
              </a:ext>
            </a:extLst>
          </p:cNvPr>
          <p:cNvSpPr>
            <a:spLocks noGrp="1"/>
          </p:cNvSpPr>
          <p:nvPr>
            <p:ph type="body" idx="1"/>
          </p:nvPr>
        </p:nvSpPr>
        <p:spPr>
          <a:xfrm>
            <a:off x="643467" y="5277684"/>
            <a:ext cx="4620584" cy="775494"/>
          </a:xfrm>
        </p:spPr>
        <p:txBody>
          <a:bodyPr vert="horz" lIns="91440" tIns="45720" rIns="91440" bIns="45720" rtlCol="0">
            <a:normAutofit/>
          </a:bodyPr>
          <a:lstStyle/>
          <a:p>
            <a:endParaRPr lang="en-US">
              <a:solidFill>
                <a:schemeClr val="tx1"/>
              </a:solidFill>
            </a:endParaRPr>
          </a:p>
        </p:txBody>
      </p:sp>
      <p:pic>
        <p:nvPicPr>
          <p:cNvPr id="7" name="Picture 6">
            <a:extLst>
              <a:ext uri="{FF2B5EF4-FFF2-40B4-BE49-F238E27FC236}">
                <a16:creationId xmlns:a16="http://schemas.microsoft.com/office/drawing/2014/main" id="{A34CA8D8-5AEB-8495-9522-E210E5AAC5E2}"/>
              </a:ext>
            </a:extLst>
          </p:cNvPr>
          <p:cNvPicPr>
            <a:picLocks noChangeAspect="1"/>
          </p:cNvPicPr>
          <p:nvPr/>
        </p:nvPicPr>
        <p:blipFill rotWithShape="1">
          <a:blip r:embed="rId2"/>
          <a:srcRect l="17395" r="17395"/>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852654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45347C5-D8AD-0CDF-3838-7D87D00D9256}"/>
              </a:ext>
            </a:extLst>
          </p:cNvPr>
          <p:cNvSpPr>
            <a:spLocks noChangeArrowheads="1"/>
          </p:cNvSpPr>
          <p:nvPr/>
        </p:nvSpPr>
        <p:spPr bwMode="auto">
          <a:xfrm>
            <a:off x="0" y="-1"/>
            <a:ext cx="1217728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4097" name="Picture 1">
            <a:extLst>
              <a:ext uri="{FF2B5EF4-FFF2-40B4-BE49-F238E27FC236}">
                <a16:creationId xmlns:a16="http://schemas.microsoft.com/office/drawing/2014/main" id="{6E9AD4D8-47EC-CCB4-C1CD-FC89F0B75EF9}"/>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962137" y="45718"/>
            <a:ext cx="10267726" cy="789197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CF3654C-2BEB-B70C-E6DD-8EA90DDBF944}"/>
              </a:ext>
            </a:extLst>
          </p:cNvPr>
          <p:cNvSpPr txBox="1"/>
          <p:nvPr/>
        </p:nvSpPr>
        <p:spPr>
          <a:xfrm>
            <a:off x="6088642" y="4726745"/>
            <a:ext cx="3221502" cy="369332"/>
          </a:xfrm>
          <a:prstGeom prst="rect">
            <a:avLst/>
          </a:prstGeom>
          <a:noFill/>
        </p:spPr>
        <p:txBody>
          <a:bodyPr wrap="square" rtlCol="0">
            <a:spAutoFit/>
          </a:bodyPr>
          <a:lstStyle/>
          <a:p>
            <a:r>
              <a:rPr lang="en-US" dirty="0"/>
              <a:t>Represents % SED by Building </a:t>
            </a:r>
          </a:p>
        </p:txBody>
      </p:sp>
    </p:spTree>
    <p:extLst>
      <p:ext uri="{BB962C8B-B14F-4D97-AF65-F5344CB8AC3E}">
        <p14:creationId xmlns:p14="http://schemas.microsoft.com/office/powerpoint/2010/main" val="284273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graph showing the performance of sat performance&#10;&#10;Description automatically generated">
            <a:extLst>
              <a:ext uri="{FF2B5EF4-FFF2-40B4-BE49-F238E27FC236}">
                <a16:creationId xmlns:a16="http://schemas.microsoft.com/office/drawing/2014/main" id="{F4776813-66DF-7E4B-98E6-C820399292B1}"/>
              </a:ext>
            </a:extLst>
          </p:cNvPr>
          <p:cNvPicPr>
            <a:picLocks noGrp="1" noChangeAspect="1"/>
          </p:cNvPicPr>
          <p:nvPr>
            <p:ph idx="1"/>
          </p:nvPr>
        </p:nvPicPr>
        <p:blipFill>
          <a:blip r:embed="rId3"/>
          <a:stretch>
            <a:fillRect/>
          </a:stretch>
        </p:blipFill>
        <p:spPr>
          <a:xfrm>
            <a:off x="1101969" y="197937"/>
            <a:ext cx="9988061" cy="6462125"/>
          </a:xfrm>
        </p:spPr>
      </p:pic>
      <p:sp>
        <p:nvSpPr>
          <p:cNvPr id="13" name="TextBox 12">
            <a:extLst>
              <a:ext uri="{FF2B5EF4-FFF2-40B4-BE49-F238E27FC236}">
                <a16:creationId xmlns:a16="http://schemas.microsoft.com/office/drawing/2014/main" id="{C380A687-0800-D6B9-D02B-CB728D021B93}"/>
              </a:ext>
            </a:extLst>
          </p:cNvPr>
          <p:cNvSpPr txBox="1"/>
          <p:nvPr/>
        </p:nvSpPr>
        <p:spPr>
          <a:xfrm>
            <a:off x="4600134" y="4473528"/>
            <a:ext cx="3221502" cy="369332"/>
          </a:xfrm>
          <a:prstGeom prst="rect">
            <a:avLst/>
          </a:prstGeom>
          <a:noFill/>
        </p:spPr>
        <p:txBody>
          <a:bodyPr wrap="square" rtlCol="0">
            <a:spAutoFit/>
          </a:bodyPr>
          <a:lstStyle/>
          <a:p>
            <a:r>
              <a:rPr lang="en-US" dirty="0"/>
              <a:t>Represents % SED by Building </a:t>
            </a:r>
          </a:p>
        </p:txBody>
      </p:sp>
    </p:spTree>
    <p:extLst>
      <p:ext uri="{BB962C8B-B14F-4D97-AF65-F5344CB8AC3E}">
        <p14:creationId xmlns:p14="http://schemas.microsoft.com/office/powerpoint/2010/main" val="733801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descr="A graph showing the number of students&#10;&#10;Description automatically generated">
            <a:extLst>
              <a:ext uri="{FF2B5EF4-FFF2-40B4-BE49-F238E27FC236}">
                <a16:creationId xmlns:a16="http://schemas.microsoft.com/office/drawing/2014/main" id="{967A9C9C-F5C3-2F91-1C10-D4379686687B}"/>
              </a:ext>
            </a:extLst>
          </p:cNvPr>
          <p:cNvPicPr>
            <a:picLocks noChangeAspect="1"/>
          </p:cNvPicPr>
          <p:nvPr/>
        </p:nvPicPr>
        <p:blipFill>
          <a:blip r:embed="rId2"/>
          <a:stretch>
            <a:fillRect/>
          </a:stretch>
        </p:blipFill>
        <p:spPr>
          <a:xfrm>
            <a:off x="1028700" y="107950"/>
            <a:ext cx="10239522" cy="6710864"/>
          </a:xfrm>
          <a:prstGeom prst="rect">
            <a:avLst/>
          </a:prstGeom>
        </p:spPr>
      </p:pic>
      <p:sp>
        <p:nvSpPr>
          <p:cNvPr id="8" name="TextBox 7">
            <a:extLst>
              <a:ext uri="{FF2B5EF4-FFF2-40B4-BE49-F238E27FC236}">
                <a16:creationId xmlns:a16="http://schemas.microsoft.com/office/drawing/2014/main" id="{50556956-9264-F794-3A2B-7217CFDAFB50}"/>
              </a:ext>
            </a:extLst>
          </p:cNvPr>
          <p:cNvSpPr txBox="1"/>
          <p:nvPr/>
        </p:nvSpPr>
        <p:spPr>
          <a:xfrm>
            <a:off x="4923691" y="4445391"/>
            <a:ext cx="3221502" cy="369332"/>
          </a:xfrm>
          <a:prstGeom prst="rect">
            <a:avLst/>
          </a:prstGeom>
          <a:noFill/>
        </p:spPr>
        <p:txBody>
          <a:bodyPr wrap="square" rtlCol="0">
            <a:spAutoFit/>
          </a:bodyPr>
          <a:lstStyle/>
          <a:p>
            <a:r>
              <a:rPr lang="en-US" dirty="0"/>
              <a:t>Represents % SED by Building </a:t>
            </a:r>
          </a:p>
        </p:txBody>
      </p:sp>
    </p:spTree>
    <p:extLst>
      <p:ext uri="{BB962C8B-B14F-4D97-AF65-F5344CB8AC3E}">
        <p14:creationId xmlns:p14="http://schemas.microsoft.com/office/powerpoint/2010/main" val="541129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showing the performance of a sat performance&#10;&#10;Description automatically generated">
            <a:extLst>
              <a:ext uri="{FF2B5EF4-FFF2-40B4-BE49-F238E27FC236}">
                <a16:creationId xmlns:a16="http://schemas.microsoft.com/office/drawing/2014/main" id="{1B848EE3-E62F-AEE2-D27D-A690D8C54CB9}"/>
              </a:ext>
            </a:extLst>
          </p:cNvPr>
          <p:cNvPicPr>
            <a:picLocks noChangeAspect="1"/>
          </p:cNvPicPr>
          <p:nvPr/>
        </p:nvPicPr>
        <p:blipFill>
          <a:blip r:embed="rId2"/>
          <a:stretch>
            <a:fillRect/>
          </a:stretch>
        </p:blipFill>
        <p:spPr>
          <a:xfrm>
            <a:off x="1028700" y="69849"/>
            <a:ext cx="10422402" cy="6909085"/>
          </a:xfrm>
          <a:prstGeom prst="rect">
            <a:avLst/>
          </a:prstGeom>
        </p:spPr>
      </p:pic>
      <p:sp>
        <p:nvSpPr>
          <p:cNvPr id="4" name="TextBox 3">
            <a:extLst>
              <a:ext uri="{FF2B5EF4-FFF2-40B4-BE49-F238E27FC236}">
                <a16:creationId xmlns:a16="http://schemas.microsoft.com/office/drawing/2014/main" id="{5548C66E-6712-E4F3-6732-04EE0325181E}"/>
              </a:ext>
            </a:extLst>
          </p:cNvPr>
          <p:cNvSpPr txBox="1"/>
          <p:nvPr/>
        </p:nvSpPr>
        <p:spPr>
          <a:xfrm>
            <a:off x="5148774" y="4487595"/>
            <a:ext cx="3221502" cy="369332"/>
          </a:xfrm>
          <a:prstGeom prst="rect">
            <a:avLst/>
          </a:prstGeom>
          <a:noFill/>
        </p:spPr>
        <p:txBody>
          <a:bodyPr wrap="square" rtlCol="0">
            <a:spAutoFit/>
          </a:bodyPr>
          <a:lstStyle/>
          <a:p>
            <a:r>
              <a:rPr lang="en-US" dirty="0"/>
              <a:t>Represents % SED by Building </a:t>
            </a:r>
          </a:p>
        </p:txBody>
      </p:sp>
    </p:spTree>
    <p:extLst>
      <p:ext uri="{BB962C8B-B14F-4D97-AF65-F5344CB8AC3E}">
        <p14:creationId xmlns:p14="http://schemas.microsoft.com/office/powerpoint/2010/main" val="3444198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3502636-D0BB-B9E9-0F09-B1E0296C2D25}"/>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a:t>Using Data to Inform Instruction</a:t>
            </a:r>
          </a:p>
        </p:txBody>
      </p:sp>
      <p:sp>
        <p:nvSpPr>
          <p:cNvPr id="5" name="Text Placeholder 4">
            <a:extLst>
              <a:ext uri="{FF2B5EF4-FFF2-40B4-BE49-F238E27FC236}">
                <a16:creationId xmlns:a16="http://schemas.microsoft.com/office/drawing/2014/main" id="{217B7E4C-DDBC-BFB2-4AC2-95EAE555E17C}"/>
              </a:ext>
            </a:extLst>
          </p:cNvPr>
          <p:cNvSpPr>
            <a:spLocks noGrp="1"/>
          </p:cNvSpPr>
          <p:nvPr>
            <p:ph type="body" idx="1"/>
          </p:nvPr>
        </p:nvSpPr>
        <p:spPr>
          <a:xfrm>
            <a:off x="643467" y="5277684"/>
            <a:ext cx="4620584" cy="775494"/>
          </a:xfrm>
        </p:spPr>
        <p:txBody>
          <a:bodyPr vert="horz" lIns="91440" tIns="45720" rIns="91440" bIns="45720" rtlCol="0">
            <a:normAutofit/>
          </a:bodyPr>
          <a:lstStyle/>
          <a:p>
            <a:endParaRPr lang="en-US">
              <a:solidFill>
                <a:schemeClr val="tx1"/>
              </a:solidFill>
            </a:endParaRPr>
          </a:p>
        </p:txBody>
      </p:sp>
      <p:pic>
        <p:nvPicPr>
          <p:cNvPr id="7" name="Picture 6">
            <a:extLst>
              <a:ext uri="{FF2B5EF4-FFF2-40B4-BE49-F238E27FC236}">
                <a16:creationId xmlns:a16="http://schemas.microsoft.com/office/drawing/2014/main" id="{A34CA8D8-5AEB-8495-9522-E210E5AAC5E2}"/>
              </a:ext>
            </a:extLst>
          </p:cNvPr>
          <p:cNvPicPr>
            <a:picLocks noChangeAspect="1"/>
          </p:cNvPicPr>
          <p:nvPr/>
        </p:nvPicPr>
        <p:blipFill rotWithShape="1">
          <a:blip r:embed="rId2"/>
          <a:srcRect l="17395" r="17395"/>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254330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CB74E20-A31F-4AAE-B9CF-CB09C33B3A4F}"/>
              </a:ext>
            </a:extLst>
          </p:cNvPr>
          <p:cNvSpPr>
            <a:spLocks noGrp="1"/>
          </p:cNvSpPr>
          <p:nvPr>
            <p:ph type="title"/>
          </p:nvPr>
        </p:nvSpPr>
        <p:spPr>
          <a:xfrm>
            <a:off x="838200" y="365125"/>
            <a:ext cx="10515600" cy="1325563"/>
          </a:xfrm>
        </p:spPr>
        <p:txBody>
          <a:bodyPr>
            <a:normAutofit/>
          </a:bodyPr>
          <a:lstStyle/>
          <a:p>
            <a:r>
              <a:rPr lang="en-US" sz="5400"/>
              <a:t>SAT/PSAT Subcategory Data</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033355D5-B2CF-F2A0-23AF-9D7434650B4E}"/>
              </a:ext>
            </a:extLst>
          </p:cNvPr>
          <p:cNvSpPr>
            <a:spLocks noGrp="1"/>
          </p:cNvSpPr>
          <p:nvPr>
            <p:ph idx="1"/>
          </p:nvPr>
        </p:nvSpPr>
        <p:spPr>
          <a:xfrm>
            <a:off x="838200" y="1929384"/>
            <a:ext cx="10515600" cy="4251960"/>
          </a:xfrm>
        </p:spPr>
        <p:txBody>
          <a:bodyPr>
            <a:normAutofit/>
          </a:bodyPr>
          <a:lstStyle/>
          <a:p>
            <a:r>
              <a:rPr lang="en-US" sz="2200"/>
              <a:t>Each assessment (SAT/EBRW) has subcategories that allow us to dig deeper into program assessment</a:t>
            </a:r>
          </a:p>
          <a:p>
            <a:r>
              <a:rPr lang="en-US" sz="2200"/>
              <a:t>We review this level of data to understand trends overtime in more narrow/focused areas of instruction </a:t>
            </a:r>
          </a:p>
          <a:p>
            <a:r>
              <a:rPr lang="en-US" sz="2200"/>
              <a:t>From the system level, this data is not useful for addressing specific student learning needs</a:t>
            </a:r>
          </a:p>
        </p:txBody>
      </p:sp>
    </p:spTree>
    <p:extLst>
      <p:ext uri="{BB962C8B-B14F-4D97-AF65-F5344CB8AC3E}">
        <p14:creationId xmlns:p14="http://schemas.microsoft.com/office/powerpoint/2010/main" val="3010547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FFD4F3-08BB-EA2C-8AEC-27758CC0CDE8}"/>
              </a:ext>
            </a:extLst>
          </p:cNvPr>
          <p:cNvSpPr>
            <a:spLocks noGrp="1"/>
          </p:cNvSpPr>
          <p:nvPr>
            <p:ph type="title"/>
          </p:nvPr>
        </p:nvSpPr>
        <p:spPr>
          <a:xfrm>
            <a:off x="838200" y="365125"/>
            <a:ext cx="10515600" cy="1325563"/>
          </a:xfrm>
        </p:spPr>
        <p:txBody>
          <a:bodyPr>
            <a:normAutofit/>
          </a:bodyPr>
          <a:lstStyle/>
          <a:p>
            <a:r>
              <a:rPr lang="en-US" sz="5400"/>
              <a:t>SAT Math Subcategory Definitions </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14CD14F-A120-DE6E-91CF-9295269A3FBD}"/>
              </a:ext>
            </a:extLst>
          </p:cNvPr>
          <p:cNvSpPr>
            <a:spLocks noGrp="1"/>
          </p:cNvSpPr>
          <p:nvPr>
            <p:ph idx="1"/>
          </p:nvPr>
        </p:nvSpPr>
        <p:spPr>
          <a:xfrm>
            <a:off x="838200" y="1929384"/>
            <a:ext cx="10515600" cy="4251960"/>
          </a:xfrm>
        </p:spPr>
        <p:txBody>
          <a:bodyPr>
            <a:normAutofit/>
          </a:bodyPr>
          <a:lstStyle/>
          <a:p>
            <a:r>
              <a:rPr lang="en-US" sz="2000" b="1">
                <a:effectLst/>
              </a:rPr>
              <a:t>Heart of Algebra </a:t>
            </a:r>
            <a:r>
              <a:rPr lang="en-US" sz="2000">
                <a:effectLst/>
              </a:rPr>
              <a:t>questions on the SAT Math Test focus on the mastery of linear equations, systems of linear equations, and linear functions. The ability to analyze and create linear equations, inequalities, and functions is essential for success in college and career, as is the ability to solve linear equations and systems fluently. </a:t>
            </a:r>
          </a:p>
          <a:p>
            <a:r>
              <a:rPr lang="en-US" sz="2000" b="1">
                <a:effectLst/>
              </a:rPr>
              <a:t>Passport to Advanced Math </a:t>
            </a:r>
            <a:r>
              <a:rPr lang="en-US" sz="2000">
                <a:effectLst/>
              </a:rPr>
              <a:t>questions include topics that are especially important for students to master </a:t>
            </a:r>
            <a:r>
              <a:rPr lang="en-US" sz="2000" i="1">
                <a:effectLst/>
              </a:rPr>
              <a:t>before </a:t>
            </a:r>
            <a:r>
              <a:rPr lang="en-US" sz="2000">
                <a:effectLst/>
              </a:rPr>
              <a:t>studying advanced math. Chief among these topics is the understanding of the structure of expressions and the ability to analyze, manipulate, and rewrite these expressions. These questions also include reasoning with more complex equations and interpreting and building functions. </a:t>
            </a:r>
          </a:p>
          <a:p>
            <a:r>
              <a:rPr lang="en-US" sz="2000" b="1" i="0" u="none" strike="noStrike">
                <a:effectLst/>
              </a:rPr>
              <a:t>Problem Solving and Data Analysis </a:t>
            </a:r>
            <a:r>
              <a:rPr lang="en-US" sz="2000" b="0" i="0" u="none" strike="noStrike">
                <a:effectLst/>
              </a:rPr>
              <a:t>includes using ratios, percentages, and proportional reasoning to solve problems in real-world situations, including science, social science, and other contexts. It also includes describing relationships shown graphically and analyzing statistical data. This group of skills is about being quantitatively literate and demonstrating a command of the math that resonates throughout college courses, career training programs, and everyday life. </a:t>
            </a:r>
          </a:p>
          <a:p>
            <a:pPr marL="0" indent="0">
              <a:buNone/>
            </a:pPr>
            <a:endParaRPr lang="en-US" sz="2000">
              <a:effectLst/>
              <a:latin typeface="Lexia"/>
            </a:endParaRPr>
          </a:p>
          <a:p>
            <a:endParaRPr lang="en-US" sz="2000"/>
          </a:p>
          <a:p>
            <a:endParaRPr lang="en-US" sz="2000"/>
          </a:p>
        </p:txBody>
      </p:sp>
    </p:spTree>
    <p:extLst>
      <p:ext uri="{BB962C8B-B14F-4D97-AF65-F5344CB8AC3E}">
        <p14:creationId xmlns:p14="http://schemas.microsoft.com/office/powerpoint/2010/main" val="1655033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28621-EA99-8336-44AF-6DFF88F9581B}"/>
              </a:ext>
            </a:extLst>
          </p:cNvPr>
          <p:cNvSpPr>
            <a:spLocks noGrp="1"/>
          </p:cNvSpPr>
          <p:nvPr>
            <p:ph type="title"/>
          </p:nvPr>
        </p:nvSpPr>
        <p:spPr>
          <a:xfrm>
            <a:off x="838200" y="136416"/>
            <a:ext cx="10515600" cy="1325563"/>
          </a:xfrm>
        </p:spPr>
        <p:txBody>
          <a:bodyPr/>
          <a:lstStyle/>
          <a:p>
            <a:pPr algn="ctr"/>
            <a:r>
              <a:rPr lang="en-US" dirty="0"/>
              <a:t>SAT Subcategory Comparison - Math </a:t>
            </a:r>
          </a:p>
        </p:txBody>
      </p:sp>
      <p:pic>
        <p:nvPicPr>
          <p:cNvPr id="9" name="Content Placeholder 8" descr="A graph showing the number of numbers and percentages&#10;&#10;Description automatically generated">
            <a:extLst>
              <a:ext uri="{FF2B5EF4-FFF2-40B4-BE49-F238E27FC236}">
                <a16:creationId xmlns:a16="http://schemas.microsoft.com/office/drawing/2014/main" id="{E307586E-125F-4710-E4E9-70A3625E75E4}"/>
              </a:ext>
            </a:extLst>
          </p:cNvPr>
          <p:cNvPicPr>
            <a:picLocks noGrp="1" noChangeAspect="1"/>
          </p:cNvPicPr>
          <p:nvPr>
            <p:ph idx="1"/>
          </p:nvPr>
        </p:nvPicPr>
        <p:blipFill>
          <a:blip r:embed="rId3"/>
          <a:stretch>
            <a:fillRect/>
          </a:stretch>
        </p:blipFill>
        <p:spPr>
          <a:xfrm>
            <a:off x="838200" y="1207610"/>
            <a:ext cx="10466165" cy="5100599"/>
          </a:xfrm>
        </p:spPr>
      </p:pic>
      <p:sp>
        <p:nvSpPr>
          <p:cNvPr id="10" name="TextBox 9">
            <a:extLst>
              <a:ext uri="{FF2B5EF4-FFF2-40B4-BE49-F238E27FC236}">
                <a16:creationId xmlns:a16="http://schemas.microsoft.com/office/drawing/2014/main" id="{6CCA86FA-E593-3333-9C64-10A231AB1DB7}"/>
              </a:ext>
            </a:extLst>
          </p:cNvPr>
          <p:cNvSpPr txBox="1"/>
          <p:nvPr/>
        </p:nvSpPr>
        <p:spPr>
          <a:xfrm>
            <a:off x="1730324" y="6308209"/>
            <a:ext cx="10170944" cy="369332"/>
          </a:xfrm>
          <a:prstGeom prst="rect">
            <a:avLst/>
          </a:prstGeom>
          <a:noFill/>
        </p:spPr>
        <p:txBody>
          <a:bodyPr wrap="square" rtlCol="0">
            <a:spAutoFit/>
          </a:bodyPr>
          <a:lstStyle/>
          <a:p>
            <a:r>
              <a:rPr lang="en-US" dirty="0"/>
              <a:t>Green: Proficient or Advanced            Yellow: Partially Proficient 	       Red: Not Proficient </a:t>
            </a:r>
          </a:p>
        </p:txBody>
      </p:sp>
    </p:spTree>
    <p:extLst>
      <p:ext uri="{BB962C8B-B14F-4D97-AF65-F5344CB8AC3E}">
        <p14:creationId xmlns:p14="http://schemas.microsoft.com/office/powerpoint/2010/main" val="3698163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9B78F0E-B666-9044-4E2B-B4B39714B515}"/>
              </a:ext>
            </a:extLst>
          </p:cNvPr>
          <p:cNvSpPr>
            <a:spLocks noGrp="1"/>
          </p:cNvSpPr>
          <p:nvPr>
            <p:ph type="title"/>
          </p:nvPr>
        </p:nvSpPr>
        <p:spPr>
          <a:xfrm>
            <a:off x="838200" y="365125"/>
            <a:ext cx="10515600" cy="1325563"/>
          </a:xfrm>
        </p:spPr>
        <p:txBody>
          <a:bodyPr>
            <a:normAutofit/>
          </a:bodyPr>
          <a:lstStyle/>
          <a:p>
            <a:r>
              <a:rPr lang="en-US" sz="4200"/>
              <a:t>SAT Evidence Based Reading and Writing  Subcategory Definitions </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305B0720-AC00-0593-B666-6B47A6EE1D6D}"/>
              </a:ext>
            </a:extLst>
          </p:cNvPr>
          <p:cNvSpPr>
            <a:spLocks noGrp="1"/>
          </p:cNvSpPr>
          <p:nvPr>
            <p:ph idx="1"/>
          </p:nvPr>
        </p:nvSpPr>
        <p:spPr>
          <a:xfrm>
            <a:off x="838200" y="1929384"/>
            <a:ext cx="10515600" cy="4251960"/>
          </a:xfrm>
        </p:spPr>
        <p:txBody>
          <a:bodyPr>
            <a:normAutofit/>
          </a:bodyPr>
          <a:lstStyle/>
          <a:p>
            <a:r>
              <a:rPr lang="en-US" sz="1700" b="1">
                <a:effectLst/>
                <a:latin typeface="Lexia"/>
              </a:rPr>
              <a:t>The Command of Evidence </a:t>
            </a:r>
            <a:r>
              <a:rPr lang="en-US" sz="1700">
                <a:effectLst/>
                <a:latin typeface="Lexia"/>
              </a:rPr>
              <a:t>category includes questions that focus on: The best evidence for a specified conclusion (Reading Test); Interpreting data presented in informational graphics (such as tables, graphs, and charts) and drawing connections between words and data (Reading Test, Writing and Language Test); Understanding how the author of an argument uses (or fails to use) evidence to support claims (Reading Test); Revising a passage to clarify main ideas, strengthen support, or sharpen focus (Writing and Language Test) </a:t>
            </a:r>
          </a:p>
          <a:p>
            <a:r>
              <a:rPr lang="en-US" sz="1700" b="1">
                <a:effectLst/>
                <a:latin typeface="Lexia"/>
              </a:rPr>
              <a:t>Expression of Ideas </a:t>
            </a:r>
            <a:r>
              <a:rPr lang="en-US" sz="1700">
                <a:effectLst/>
                <a:latin typeface="Lexia"/>
              </a:rPr>
              <a:t>questions on the Writing and Language Test focus on refining the substance of a writer’s message. Specifically, Expression of Ideas questions focus on topic development, organization, and effective language use in relation to the writer’s purpose. Collectively, these questions address rhetorical aspects of the passages on the test. When you answer the rhetorically oriented Expression of Ideas questions, you’re using your knowledge of and skill in writing to make each passage clearer, sharper, richer, and more engaging. </a:t>
            </a:r>
          </a:p>
          <a:p>
            <a:r>
              <a:rPr lang="en-US" sz="1700" b="1">
                <a:effectLst/>
                <a:latin typeface="Lexia"/>
              </a:rPr>
              <a:t>Standard English Conventions </a:t>
            </a:r>
            <a:r>
              <a:rPr lang="en-US" sz="1700">
                <a:effectLst/>
                <a:latin typeface="Lexia"/>
              </a:rPr>
              <a:t>questions require you to edit passages for sentence structure, usage, and punctuation.</a:t>
            </a:r>
          </a:p>
          <a:p>
            <a:r>
              <a:rPr lang="en-US" sz="1700" b="1">
                <a:effectLst/>
                <a:latin typeface="Lexia"/>
              </a:rPr>
              <a:t>Words in Context </a:t>
            </a:r>
            <a:r>
              <a:rPr lang="en-US" sz="1700">
                <a:effectLst/>
                <a:latin typeface="Lexia"/>
              </a:rPr>
              <a:t>asks you to consider both the meaning and role of words and phrases as they’re used in particular passages. You’ll be asked to think about how to make language use more effective. These questions focus on the following skills: Interpreting words and phrases in context (Reading Test)</a:t>
            </a:r>
            <a:r>
              <a:rPr lang="en-US" sz="1700">
                <a:latin typeface="Lexia"/>
              </a:rPr>
              <a:t>, </a:t>
            </a:r>
            <a:r>
              <a:rPr lang="en-US" sz="1700">
                <a:effectLst/>
                <a:latin typeface="Lexia"/>
              </a:rPr>
              <a:t>Analyzing word choice rhetorically (Reading Test), Making effective use of language (Writing and Language Test) </a:t>
            </a:r>
            <a:endParaRPr lang="en-US" sz="1700"/>
          </a:p>
          <a:p>
            <a:endParaRPr lang="en-US" sz="1700"/>
          </a:p>
          <a:p>
            <a:endParaRPr lang="en-US" sz="1700"/>
          </a:p>
          <a:p>
            <a:endParaRPr lang="en-US" sz="1700"/>
          </a:p>
          <a:p>
            <a:endParaRPr lang="en-US" sz="1700">
              <a:effectLst/>
            </a:endParaRPr>
          </a:p>
          <a:p>
            <a:endParaRPr lang="en-US" sz="1700"/>
          </a:p>
        </p:txBody>
      </p:sp>
    </p:spTree>
    <p:extLst>
      <p:ext uri="{BB962C8B-B14F-4D97-AF65-F5344CB8AC3E}">
        <p14:creationId xmlns:p14="http://schemas.microsoft.com/office/powerpoint/2010/main" val="4079982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76475-F7BC-0BF8-77A7-7F11316863D9}"/>
              </a:ext>
            </a:extLst>
          </p:cNvPr>
          <p:cNvSpPr>
            <a:spLocks noGrp="1"/>
          </p:cNvSpPr>
          <p:nvPr>
            <p:ph type="title"/>
          </p:nvPr>
        </p:nvSpPr>
        <p:spPr>
          <a:xfrm>
            <a:off x="838200" y="0"/>
            <a:ext cx="10515600" cy="1325563"/>
          </a:xfrm>
        </p:spPr>
        <p:txBody>
          <a:bodyPr/>
          <a:lstStyle/>
          <a:p>
            <a:pPr algn="ctr"/>
            <a:r>
              <a:rPr lang="en-US" dirty="0"/>
              <a:t>SAT Subcategory Comparison</a:t>
            </a:r>
            <a:br>
              <a:rPr lang="en-US" dirty="0"/>
            </a:br>
            <a:r>
              <a:rPr lang="en-US" dirty="0"/>
              <a:t>Evidence Based Reading &amp; Writing  </a:t>
            </a:r>
          </a:p>
        </p:txBody>
      </p:sp>
      <p:pic>
        <p:nvPicPr>
          <p:cNvPr id="9" name="Content Placeholder 8" descr="A graph showing different colored bars&#10;&#10;Description automatically generated">
            <a:extLst>
              <a:ext uri="{FF2B5EF4-FFF2-40B4-BE49-F238E27FC236}">
                <a16:creationId xmlns:a16="http://schemas.microsoft.com/office/drawing/2014/main" id="{520C433D-B7DC-F8EC-DE5D-F4096E737286}"/>
              </a:ext>
            </a:extLst>
          </p:cNvPr>
          <p:cNvPicPr>
            <a:picLocks noGrp="1" noChangeAspect="1"/>
          </p:cNvPicPr>
          <p:nvPr>
            <p:ph idx="1"/>
          </p:nvPr>
        </p:nvPicPr>
        <p:blipFill>
          <a:blip r:embed="rId2"/>
          <a:stretch>
            <a:fillRect/>
          </a:stretch>
        </p:blipFill>
        <p:spPr>
          <a:xfrm>
            <a:off x="838200" y="1233230"/>
            <a:ext cx="10515600" cy="5082090"/>
          </a:xfrm>
        </p:spPr>
      </p:pic>
      <p:sp>
        <p:nvSpPr>
          <p:cNvPr id="10" name="TextBox 9">
            <a:extLst>
              <a:ext uri="{FF2B5EF4-FFF2-40B4-BE49-F238E27FC236}">
                <a16:creationId xmlns:a16="http://schemas.microsoft.com/office/drawing/2014/main" id="{9B7D3501-CDEB-3128-B2AD-DB16DC8A19DC}"/>
              </a:ext>
            </a:extLst>
          </p:cNvPr>
          <p:cNvSpPr txBox="1"/>
          <p:nvPr/>
        </p:nvSpPr>
        <p:spPr>
          <a:xfrm>
            <a:off x="1561511" y="6315320"/>
            <a:ext cx="10170944" cy="369332"/>
          </a:xfrm>
          <a:prstGeom prst="rect">
            <a:avLst/>
          </a:prstGeom>
          <a:noFill/>
        </p:spPr>
        <p:txBody>
          <a:bodyPr wrap="square" rtlCol="0">
            <a:spAutoFit/>
          </a:bodyPr>
          <a:lstStyle/>
          <a:p>
            <a:r>
              <a:rPr lang="en-US" dirty="0"/>
              <a:t>Green: Proficient or Advanced            Yellow: Partially Proficient 	       Red: Not Proficient </a:t>
            </a:r>
          </a:p>
        </p:txBody>
      </p:sp>
    </p:spTree>
    <p:extLst>
      <p:ext uri="{BB962C8B-B14F-4D97-AF65-F5344CB8AC3E}">
        <p14:creationId xmlns:p14="http://schemas.microsoft.com/office/powerpoint/2010/main" val="3728329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502636-D0BB-B9E9-0F09-B1E0296C2D25}"/>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Math Benchmarking</a:t>
            </a:r>
          </a:p>
        </p:txBody>
      </p:sp>
      <p:sp>
        <p:nvSpPr>
          <p:cNvPr id="5" name="Text Placeholder 4">
            <a:extLst>
              <a:ext uri="{FF2B5EF4-FFF2-40B4-BE49-F238E27FC236}">
                <a16:creationId xmlns:a16="http://schemas.microsoft.com/office/drawing/2014/main" id="{217B7E4C-DDBC-BFB2-4AC2-95EAE555E17C}"/>
              </a:ext>
            </a:extLst>
          </p:cNvPr>
          <p:cNvSpPr>
            <a:spLocks noGrp="1"/>
          </p:cNvSpPr>
          <p:nvPr>
            <p:ph type="body" idx="1"/>
          </p:nvPr>
        </p:nvSpPr>
        <p:spPr>
          <a:xfrm>
            <a:off x="643467" y="5277684"/>
            <a:ext cx="4620584" cy="775494"/>
          </a:xfrm>
        </p:spPr>
        <p:txBody>
          <a:bodyPr vert="horz" lIns="91440" tIns="45720" rIns="91440" bIns="45720" rtlCol="0">
            <a:normAutofit/>
          </a:bodyPr>
          <a:lstStyle/>
          <a:p>
            <a:r>
              <a:rPr lang="en-US" dirty="0">
                <a:solidFill>
                  <a:schemeClr val="tx1"/>
                </a:solidFill>
              </a:rPr>
              <a:t>PSAT 8 &amp; Future NWEA</a:t>
            </a:r>
          </a:p>
        </p:txBody>
      </p:sp>
      <p:pic>
        <p:nvPicPr>
          <p:cNvPr id="7" name="Picture 6">
            <a:extLst>
              <a:ext uri="{FF2B5EF4-FFF2-40B4-BE49-F238E27FC236}">
                <a16:creationId xmlns:a16="http://schemas.microsoft.com/office/drawing/2014/main" id="{A34CA8D8-5AEB-8495-9522-E210E5AAC5E2}"/>
              </a:ext>
            </a:extLst>
          </p:cNvPr>
          <p:cNvPicPr>
            <a:picLocks noChangeAspect="1"/>
          </p:cNvPicPr>
          <p:nvPr/>
        </p:nvPicPr>
        <p:blipFill rotWithShape="1">
          <a:blip r:embed="rId2"/>
          <a:srcRect l="17395" r="17395"/>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270122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E5445C7-706A-55C6-073D-5BC6024DA7AB}"/>
              </a:ext>
            </a:extLst>
          </p:cNvPr>
          <p:cNvSpPr>
            <a:spLocks noGrp="1"/>
          </p:cNvSpPr>
          <p:nvPr>
            <p:ph type="title"/>
          </p:nvPr>
        </p:nvSpPr>
        <p:spPr>
          <a:xfrm>
            <a:off x="838200" y="365125"/>
            <a:ext cx="10515600" cy="1325563"/>
          </a:xfrm>
        </p:spPr>
        <p:txBody>
          <a:bodyPr>
            <a:normAutofit/>
          </a:bodyPr>
          <a:lstStyle/>
          <a:p>
            <a:r>
              <a:rPr lang="en-US" sz="5400"/>
              <a:t>PSAT 8 &amp; NWEA</a:t>
            </a:r>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327D7A9A-B0D6-A8A0-612C-85A7A191A95C}"/>
              </a:ext>
            </a:extLst>
          </p:cNvPr>
          <p:cNvSpPr>
            <a:spLocks noGrp="1"/>
          </p:cNvSpPr>
          <p:nvPr>
            <p:ph idx="1"/>
          </p:nvPr>
        </p:nvSpPr>
        <p:spPr>
          <a:xfrm>
            <a:off x="838200" y="1929384"/>
            <a:ext cx="10515600" cy="4251960"/>
          </a:xfrm>
        </p:spPr>
        <p:txBody>
          <a:bodyPr>
            <a:normAutofit/>
          </a:bodyPr>
          <a:lstStyle/>
          <a:p>
            <a:r>
              <a:rPr lang="en-US" sz="2200" dirty="0"/>
              <a:t>As we move forward with our new K-8 math curriculum, we will utilize PSAT 8 Math performance as one data set to help understand student growth over time.  </a:t>
            </a:r>
          </a:p>
          <a:p>
            <a:r>
              <a:rPr lang="en-US" sz="2200" dirty="0"/>
              <a:t>This winter we will introduce NWEA as a second data set for student performance in math.  NWEA will replace district created benchmark assessments.  NWEA assessments are given during the school day, during the student’s math class.  NWEA is a norm-reference, computer adaptive assessment that is given nationally.  </a:t>
            </a:r>
          </a:p>
          <a:p>
            <a:r>
              <a:rPr lang="en-US" sz="2200" dirty="0"/>
              <a:t>Engagement in program evaluation in partnership with Illustrative Math</a:t>
            </a:r>
          </a:p>
          <a:p>
            <a:endParaRPr lang="en-US" sz="2200" dirty="0"/>
          </a:p>
        </p:txBody>
      </p:sp>
    </p:spTree>
    <p:extLst>
      <p:ext uri="{BB962C8B-B14F-4D97-AF65-F5344CB8AC3E}">
        <p14:creationId xmlns:p14="http://schemas.microsoft.com/office/powerpoint/2010/main" val="2466138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63E15-175E-BF1C-D9CC-ABE5F29D3FC8}"/>
              </a:ext>
            </a:extLst>
          </p:cNvPr>
          <p:cNvSpPr>
            <a:spLocks noGrp="1"/>
          </p:cNvSpPr>
          <p:nvPr>
            <p:ph type="title"/>
          </p:nvPr>
        </p:nvSpPr>
        <p:spPr>
          <a:xfrm>
            <a:off x="838199" y="109342"/>
            <a:ext cx="10515600" cy="1325563"/>
          </a:xfrm>
        </p:spPr>
        <p:txBody>
          <a:bodyPr/>
          <a:lstStyle/>
          <a:p>
            <a:pPr algn="ctr"/>
            <a:r>
              <a:rPr lang="en-US" dirty="0"/>
              <a:t>PSAT 8 Subcategory Comparison - Math </a:t>
            </a:r>
          </a:p>
        </p:txBody>
      </p:sp>
      <p:pic>
        <p:nvPicPr>
          <p:cNvPr id="9" name="Content Placeholder 8" descr="A graph showing the number of problems&#10;&#10;Description automatically generated">
            <a:extLst>
              <a:ext uri="{FF2B5EF4-FFF2-40B4-BE49-F238E27FC236}">
                <a16:creationId xmlns:a16="http://schemas.microsoft.com/office/drawing/2014/main" id="{DE99909D-C637-837B-2EB3-3485AEA62E1B}"/>
              </a:ext>
            </a:extLst>
          </p:cNvPr>
          <p:cNvPicPr>
            <a:picLocks noGrp="1" noChangeAspect="1"/>
          </p:cNvPicPr>
          <p:nvPr>
            <p:ph idx="1"/>
          </p:nvPr>
        </p:nvPicPr>
        <p:blipFill>
          <a:blip r:embed="rId2"/>
          <a:stretch>
            <a:fillRect/>
          </a:stretch>
        </p:blipFill>
        <p:spPr>
          <a:xfrm>
            <a:off x="838199" y="1237957"/>
            <a:ext cx="10421277" cy="5057970"/>
          </a:xfrm>
        </p:spPr>
      </p:pic>
      <p:sp>
        <p:nvSpPr>
          <p:cNvPr id="10" name="TextBox 9">
            <a:extLst>
              <a:ext uri="{FF2B5EF4-FFF2-40B4-BE49-F238E27FC236}">
                <a16:creationId xmlns:a16="http://schemas.microsoft.com/office/drawing/2014/main" id="{80C3297B-ABEA-2CAF-6882-8153A48CCA75}"/>
              </a:ext>
            </a:extLst>
          </p:cNvPr>
          <p:cNvSpPr txBox="1"/>
          <p:nvPr/>
        </p:nvSpPr>
        <p:spPr>
          <a:xfrm>
            <a:off x="1589647" y="6295927"/>
            <a:ext cx="10170944" cy="369332"/>
          </a:xfrm>
          <a:prstGeom prst="rect">
            <a:avLst/>
          </a:prstGeom>
          <a:noFill/>
        </p:spPr>
        <p:txBody>
          <a:bodyPr wrap="square" rtlCol="0">
            <a:spAutoFit/>
          </a:bodyPr>
          <a:lstStyle/>
          <a:p>
            <a:r>
              <a:rPr lang="en-US" dirty="0"/>
              <a:t>Green: Proficient or Advanced            Yellow: Partially Proficient 	       Red: Not Proficient </a:t>
            </a:r>
          </a:p>
        </p:txBody>
      </p:sp>
    </p:spTree>
    <p:extLst>
      <p:ext uri="{BB962C8B-B14F-4D97-AF65-F5344CB8AC3E}">
        <p14:creationId xmlns:p14="http://schemas.microsoft.com/office/powerpoint/2010/main" val="4273154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0BA89-6058-E01F-3E75-0F175C562908}"/>
              </a:ext>
            </a:extLst>
          </p:cNvPr>
          <p:cNvSpPr>
            <a:spLocks noGrp="1"/>
          </p:cNvSpPr>
          <p:nvPr>
            <p:ph type="title"/>
          </p:nvPr>
        </p:nvSpPr>
        <p:spPr>
          <a:xfrm>
            <a:off x="838200" y="154109"/>
            <a:ext cx="10515600" cy="1325563"/>
          </a:xfrm>
        </p:spPr>
        <p:txBody>
          <a:bodyPr/>
          <a:lstStyle/>
          <a:p>
            <a:pPr algn="ctr"/>
            <a:r>
              <a:rPr lang="en-US" dirty="0"/>
              <a:t>PSAT 8 Subcategory Comparison</a:t>
            </a:r>
            <a:br>
              <a:rPr lang="en-US" dirty="0"/>
            </a:br>
            <a:r>
              <a:rPr lang="en-US" dirty="0"/>
              <a:t>Evidence Based Reading &amp; Writing </a:t>
            </a:r>
          </a:p>
        </p:txBody>
      </p:sp>
      <p:pic>
        <p:nvPicPr>
          <p:cNvPr id="9" name="Content Placeholder 8" descr="A graph showing different colored bars&#10;&#10;Description automatically generated">
            <a:extLst>
              <a:ext uri="{FF2B5EF4-FFF2-40B4-BE49-F238E27FC236}">
                <a16:creationId xmlns:a16="http://schemas.microsoft.com/office/drawing/2014/main" id="{CBE67FA2-2734-BC8D-F2BE-84C644D0E2CD}"/>
              </a:ext>
            </a:extLst>
          </p:cNvPr>
          <p:cNvPicPr>
            <a:picLocks noGrp="1" noChangeAspect="1"/>
          </p:cNvPicPr>
          <p:nvPr>
            <p:ph idx="1"/>
          </p:nvPr>
        </p:nvPicPr>
        <p:blipFill>
          <a:blip r:embed="rId2"/>
          <a:stretch>
            <a:fillRect/>
          </a:stretch>
        </p:blipFill>
        <p:spPr>
          <a:xfrm>
            <a:off x="838200" y="1479672"/>
            <a:ext cx="10331548" cy="5099716"/>
          </a:xfrm>
        </p:spPr>
      </p:pic>
      <p:sp>
        <p:nvSpPr>
          <p:cNvPr id="10" name="TextBox 9">
            <a:extLst>
              <a:ext uri="{FF2B5EF4-FFF2-40B4-BE49-F238E27FC236}">
                <a16:creationId xmlns:a16="http://schemas.microsoft.com/office/drawing/2014/main" id="{5768A408-46BF-E91C-50F2-7CF9109166D6}"/>
              </a:ext>
            </a:extLst>
          </p:cNvPr>
          <p:cNvSpPr txBox="1"/>
          <p:nvPr/>
        </p:nvSpPr>
        <p:spPr>
          <a:xfrm>
            <a:off x="1575579" y="6394722"/>
            <a:ext cx="10170944" cy="369332"/>
          </a:xfrm>
          <a:prstGeom prst="rect">
            <a:avLst/>
          </a:prstGeom>
          <a:noFill/>
        </p:spPr>
        <p:txBody>
          <a:bodyPr wrap="square" rtlCol="0">
            <a:spAutoFit/>
          </a:bodyPr>
          <a:lstStyle/>
          <a:p>
            <a:r>
              <a:rPr lang="en-US" dirty="0"/>
              <a:t>Green: Proficient or Advanced            Yellow: Partially Proficient 	       Red: Not Proficient </a:t>
            </a:r>
          </a:p>
        </p:txBody>
      </p:sp>
    </p:spTree>
    <p:extLst>
      <p:ext uri="{BB962C8B-B14F-4D97-AF65-F5344CB8AC3E}">
        <p14:creationId xmlns:p14="http://schemas.microsoft.com/office/powerpoint/2010/main" val="482343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502636-D0BB-B9E9-0F09-B1E0296C2D25}"/>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Oakland County Performance Data</a:t>
            </a:r>
          </a:p>
        </p:txBody>
      </p:sp>
      <p:sp>
        <p:nvSpPr>
          <p:cNvPr id="5" name="Text Placeholder 4">
            <a:extLst>
              <a:ext uri="{FF2B5EF4-FFF2-40B4-BE49-F238E27FC236}">
                <a16:creationId xmlns:a16="http://schemas.microsoft.com/office/drawing/2014/main" id="{217B7E4C-DDBC-BFB2-4AC2-95EAE555E17C}"/>
              </a:ext>
            </a:extLst>
          </p:cNvPr>
          <p:cNvSpPr>
            <a:spLocks noGrp="1"/>
          </p:cNvSpPr>
          <p:nvPr>
            <p:ph type="body" idx="1"/>
          </p:nvPr>
        </p:nvSpPr>
        <p:spPr>
          <a:xfrm>
            <a:off x="643467" y="5277684"/>
            <a:ext cx="4620584" cy="775494"/>
          </a:xfrm>
        </p:spPr>
        <p:txBody>
          <a:bodyPr vert="horz" lIns="91440" tIns="45720" rIns="91440" bIns="45720" rtlCol="0">
            <a:normAutofit/>
          </a:bodyPr>
          <a:lstStyle/>
          <a:p>
            <a:endParaRPr lang="en-US" dirty="0">
              <a:solidFill>
                <a:schemeClr val="tx1"/>
              </a:solidFill>
            </a:endParaRPr>
          </a:p>
        </p:txBody>
      </p:sp>
      <p:pic>
        <p:nvPicPr>
          <p:cNvPr id="7" name="Picture 6">
            <a:extLst>
              <a:ext uri="{FF2B5EF4-FFF2-40B4-BE49-F238E27FC236}">
                <a16:creationId xmlns:a16="http://schemas.microsoft.com/office/drawing/2014/main" id="{A34CA8D8-5AEB-8495-9522-E210E5AAC5E2}"/>
              </a:ext>
            </a:extLst>
          </p:cNvPr>
          <p:cNvPicPr>
            <a:picLocks noChangeAspect="1"/>
          </p:cNvPicPr>
          <p:nvPr/>
        </p:nvPicPr>
        <p:blipFill rotWithShape="1">
          <a:blip r:embed="rId2"/>
          <a:srcRect l="17395" r="17395"/>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319329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E5445C7-706A-55C6-073D-5BC6024DA7AB}"/>
              </a:ext>
            </a:extLst>
          </p:cNvPr>
          <p:cNvSpPr>
            <a:spLocks noGrp="1"/>
          </p:cNvSpPr>
          <p:nvPr>
            <p:ph type="title"/>
          </p:nvPr>
        </p:nvSpPr>
        <p:spPr>
          <a:xfrm>
            <a:off x="838200" y="365125"/>
            <a:ext cx="10515600" cy="1325563"/>
          </a:xfrm>
        </p:spPr>
        <p:txBody>
          <a:bodyPr>
            <a:normAutofit/>
          </a:bodyPr>
          <a:lstStyle/>
          <a:p>
            <a:r>
              <a:rPr lang="en-US" sz="5400" dirty="0"/>
              <a:t>MSTEP 3-8 </a:t>
            </a:r>
          </a:p>
        </p:txBody>
      </p:sp>
      <p:sp>
        <p:nvSpPr>
          <p:cNvPr id="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327D7A9A-B0D6-A8A0-612C-85A7A191A95C}"/>
              </a:ext>
            </a:extLst>
          </p:cNvPr>
          <p:cNvSpPr>
            <a:spLocks noGrp="1"/>
          </p:cNvSpPr>
          <p:nvPr>
            <p:ph idx="1"/>
          </p:nvPr>
        </p:nvSpPr>
        <p:spPr>
          <a:xfrm>
            <a:off x="838200" y="1929384"/>
            <a:ext cx="10515600" cy="4251960"/>
          </a:xfrm>
        </p:spPr>
        <p:txBody>
          <a:bodyPr>
            <a:normAutofit/>
          </a:bodyPr>
          <a:lstStyle/>
          <a:p>
            <a:r>
              <a:rPr lang="en-US" sz="2200" dirty="0"/>
              <a:t>MSTEP (3-7) and PSAT 8 ELA &amp; Math data allow us to track the performance of student cohorts overtime.  The pandemic has disrupted our data (19/20 and 20/21) sets.  We have a new baseline to grow from beginning with the spring 2022 assessments.  </a:t>
            </a:r>
          </a:p>
          <a:p>
            <a:r>
              <a:rPr lang="en-US" sz="2200" dirty="0"/>
              <a:t>We are able to use MSTEP data to see how we perform in comparison to other districts.  </a:t>
            </a:r>
          </a:p>
          <a:p>
            <a:r>
              <a:rPr lang="en-US" sz="2200" dirty="0"/>
              <a:t>MSTEP data is not as useful for program assessment as it only encompasses the last three years of elementary and the first two years of middle school.  </a:t>
            </a:r>
          </a:p>
          <a:p>
            <a:r>
              <a:rPr lang="en-US" sz="2200" dirty="0"/>
              <a:t>We are not able to drill down with the same level of consistency in MSTEP. </a:t>
            </a:r>
          </a:p>
          <a:p>
            <a:endParaRPr lang="en-US" sz="2200" dirty="0"/>
          </a:p>
          <a:p>
            <a:endParaRPr lang="en-US" sz="2200" dirty="0"/>
          </a:p>
        </p:txBody>
      </p:sp>
    </p:spTree>
    <p:extLst>
      <p:ext uri="{BB962C8B-B14F-4D97-AF65-F5344CB8AC3E}">
        <p14:creationId xmlns:p14="http://schemas.microsoft.com/office/powerpoint/2010/main" val="544925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lowchart: Document 20">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5677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55762A-FDDD-03A4-026D-307B48E357D5}"/>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Oakland County Performance </a:t>
            </a:r>
            <a:br>
              <a:rPr lang="en-US" sz="3200" kern="1200">
                <a:solidFill>
                  <a:srgbClr val="FFFFFF"/>
                </a:solidFill>
                <a:latin typeface="+mj-lt"/>
                <a:ea typeface="+mj-ea"/>
                <a:cs typeface="+mj-cs"/>
              </a:rPr>
            </a:br>
            <a:r>
              <a:rPr lang="en-US" sz="3200" kern="1200">
                <a:solidFill>
                  <a:srgbClr val="FFFFFF"/>
                </a:solidFill>
                <a:latin typeface="+mj-lt"/>
                <a:ea typeface="+mj-ea"/>
                <a:cs typeface="+mj-cs"/>
              </a:rPr>
              <a:t>ELA MSTEP 3-8</a:t>
            </a:r>
          </a:p>
        </p:txBody>
      </p:sp>
      <p:pic>
        <p:nvPicPr>
          <p:cNvPr id="11" name="Content Placeholder 10" descr="A graph of the number of individuals&#10;&#10;Description automatically generated with medium confidence">
            <a:extLst>
              <a:ext uri="{FF2B5EF4-FFF2-40B4-BE49-F238E27FC236}">
                <a16:creationId xmlns:a16="http://schemas.microsoft.com/office/drawing/2014/main" id="{2DBC7690-3D73-C11E-9D8D-872309885F04}"/>
              </a:ext>
            </a:extLst>
          </p:cNvPr>
          <p:cNvPicPr>
            <a:picLocks noGrp="1" noChangeAspect="1"/>
          </p:cNvPicPr>
          <p:nvPr>
            <p:ph idx="1"/>
          </p:nvPr>
        </p:nvPicPr>
        <p:blipFill>
          <a:blip r:embed="rId2"/>
          <a:stretch>
            <a:fillRect/>
          </a:stretch>
        </p:blipFill>
        <p:spPr>
          <a:xfrm>
            <a:off x="3917826" y="506437"/>
            <a:ext cx="8128001" cy="6035040"/>
          </a:xfrm>
          <a:prstGeom prst="rect">
            <a:avLst/>
          </a:prstGeom>
        </p:spPr>
      </p:pic>
    </p:spTree>
    <p:extLst>
      <p:ext uri="{BB962C8B-B14F-4D97-AF65-F5344CB8AC3E}">
        <p14:creationId xmlns:p14="http://schemas.microsoft.com/office/powerpoint/2010/main" val="3196432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Flowchart: Document 13">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645B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7735BC-49B1-C105-F7FD-7EACCEAB548A}"/>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Oakland County Performance </a:t>
            </a:r>
            <a:br>
              <a:rPr lang="en-US" sz="3200" kern="1200">
                <a:solidFill>
                  <a:srgbClr val="FFFFFF"/>
                </a:solidFill>
                <a:latin typeface="+mj-lt"/>
                <a:ea typeface="+mj-ea"/>
                <a:cs typeface="+mj-cs"/>
              </a:rPr>
            </a:br>
            <a:r>
              <a:rPr lang="en-US" sz="3200" kern="1200">
                <a:solidFill>
                  <a:srgbClr val="FFFFFF"/>
                </a:solidFill>
                <a:latin typeface="+mj-lt"/>
                <a:ea typeface="+mj-ea"/>
                <a:cs typeface="+mj-cs"/>
              </a:rPr>
              <a:t>Math MSTEP 3-8</a:t>
            </a:r>
          </a:p>
        </p:txBody>
      </p:sp>
      <p:pic>
        <p:nvPicPr>
          <p:cNvPr id="9" name="Content Placeholder 8" descr="A graph showing the number of the state of michigan&#10;&#10;Description automatically generated">
            <a:extLst>
              <a:ext uri="{FF2B5EF4-FFF2-40B4-BE49-F238E27FC236}">
                <a16:creationId xmlns:a16="http://schemas.microsoft.com/office/drawing/2014/main" id="{B5E68BB9-8888-874B-2312-0DEB808C264C}"/>
              </a:ext>
            </a:extLst>
          </p:cNvPr>
          <p:cNvPicPr>
            <a:picLocks noGrp="1" noChangeAspect="1"/>
          </p:cNvPicPr>
          <p:nvPr>
            <p:ph idx="1"/>
          </p:nvPr>
        </p:nvPicPr>
        <p:blipFill>
          <a:blip r:embed="rId2"/>
          <a:stretch>
            <a:fillRect/>
          </a:stretch>
        </p:blipFill>
        <p:spPr>
          <a:xfrm>
            <a:off x="3886200" y="611363"/>
            <a:ext cx="8463225" cy="6030048"/>
          </a:xfrm>
          <a:prstGeom prst="rect">
            <a:avLst/>
          </a:prstGeom>
        </p:spPr>
      </p:pic>
    </p:spTree>
    <p:extLst>
      <p:ext uri="{BB962C8B-B14F-4D97-AF65-F5344CB8AC3E}">
        <p14:creationId xmlns:p14="http://schemas.microsoft.com/office/powerpoint/2010/main" val="1839769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4861E-2BDC-753A-C43F-04DAAEC10163}"/>
              </a:ext>
            </a:extLst>
          </p:cNvPr>
          <p:cNvSpPr>
            <a:spLocks noGrp="1"/>
          </p:cNvSpPr>
          <p:nvPr>
            <p:ph type="title"/>
          </p:nvPr>
        </p:nvSpPr>
        <p:spPr>
          <a:xfrm>
            <a:off x="838199" y="280719"/>
            <a:ext cx="10515600" cy="1325563"/>
          </a:xfrm>
        </p:spPr>
        <p:txBody>
          <a:bodyPr/>
          <a:lstStyle/>
          <a:p>
            <a:pPr algn="ctr"/>
            <a:r>
              <a:rPr lang="en-US" sz="4400" dirty="0"/>
              <a:t>Oakland County Performance </a:t>
            </a:r>
            <a:br>
              <a:rPr lang="en-US" sz="4400" dirty="0"/>
            </a:br>
            <a:r>
              <a:rPr lang="en-US" sz="4400" dirty="0"/>
              <a:t>PSAT 8</a:t>
            </a:r>
            <a:endParaRPr lang="en-US" dirty="0"/>
          </a:p>
        </p:txBody>
      </p:sp>
      <p:pic>
        <p:nvPicPr>
          <p:cNvPr id="9" name="Content Placeholder 8" descr="A graph showing the growth of the country&#10;&#10;Description automatically generated with medium confidence">
            <a:extLst>
              <a:ext uri="{FF2B5EF4-FFF2-40B4-BE49-F238E27FC236}">
                <a16:creationId xmlns:a16="http://schemas.microsoft.com/office/drawing/2014/main" id="{9AA1FD19-DF78-9B80-81F6-B3E7BACE6985}"/>
              </a:ext>
            </a:extLst>
          </p:cNvPr>
          <p:cNvPicPr>
            <a:picLocks noGrp="1" noChangeAspect="1"/>
          </p:cNvPicPr>
          <p:nvPr>
            <p:ph idx="1"/>
          </p:nvPr>
        </p:nvPicPr>
        <p:blipFill>
          <a:blip r:embed="rId3"/>
          <a:stretch>
            <a:fillRect/>
          </a:stretch>
        </p:blipFill>
        <p:spPr>
          <a:xfrm>
            <a:off x="1137138" y="1476290"/>
            <a:ext cx="9917723" cy="5381710"/>
          </a:xfrm>
        </p:spPr>
      </p:pic>
    </p:spTree>
    <p:extLst>
      <p:ext uri="{BB962C8B-B14F-4D97-AF65-F5344CB8AC3E}">
        <p14:creationId xmlns:p14="http://schemas.microsoft.com/office/powerpoint/2010/main" val="4095956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EB7E5-4971-26FB-1B79-6D3F0C3D10DB}"/>
              </a:ext>
            </a:extLst>
          </p:cNvPr>
          <p:cNvSpPr>
            <a:spLocks noGrp="1"/>
          </p:cNvSpPr>
          <p:nvPr>
            <p:ph type="title"/>
          </p:nvPr>
        </p:nvSpPr>
        <p:spPr>
          <a:xfrm>
            <a:off x="838200" y="238515"/>
            <a:ext cx="10515600" cy="1325563"/>
          </a:xfrm>
        </p:spPr>
        <p:txBody>
          <a:bodyPr/>
          <a:lstStyle/>
          <a:p>
            <a:pPr algn="ctr"/>
            <a:r>
              <a:rPr lang="en-US" sz="4400" dirty="0"/>
              <a:t>Oakland County Performance </a:t>
            </a:r>
            <a:br>
              <a:rPr lang="en-US" sz="4400" dirty="0"/>
            </a:br>
            <a:r>
              <a:rPr lang="en-US" sz="4400" dirty="0"/>
              <a:t>SAT 11</a:t>
            </a:r>
            <a:endParaRPr lang="en-US" dirty="0"/>
          </a:p>
        </p:txBody>
      </p:sp>
      <p:pic>
        <p:nvPicPr>
          <p:cNvPr id="5" name="Content Placeholder 4" descr="A graph showing the growth of the company's company&#10;&#10;Description automatically generated">
            <a:extLst>
              <a:ext uri="{FF2B5EF4-FFF2-40B4-BE49-F238E27FC236}">
                <a16:creationId xmlns:a16="http://schemas.microsoft.com/office/drawing/2014/main" id="{A623DE93-8658-7976-AE0E-8FB5ABFB0A51}"/>
              </a:ext>
            </a:extLst>
          </p:cNvPr>
          <p:cNvPicPr>
            <a:picLocks noGrp="1" noChangeAspect="1"/>
          </p:cNvPicPr>
          <p:nvPr>
            <p:ph idx="1"/>
          </p:nvPr>
        </p:nvPicPr>
        <p:blipFill>
          <a:blip r:embed="rId3"/>
          <a:stretch>
            <a:fillRect/>
          </a:stretch>
        </p:blipFill>
        <p:spPr>
          <a:xfrm>
            <a:off x="1148049" y="1424390"/>
            <a:ext cx="9895902" cy="5433610"/>
          </a:xfrm>
        </p:spPr>
      </p:pic>
    </p:spTree>
    <p:extLst>
      <p:ext uri="{BB962C8B-B14F-4D97-AF65-F5344CB8AC3E}">
        <p14:creationId xmlns:p14="http://schemas.microsoft.com/office/powerpoint/2010/main" val="5982558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Flowchart: Document 20">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675B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F4C6BB-3C84-D70C-D61B-0A87D0958766}"/>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dirty="0">
                <a:solidFill>
                  <a:srgbClr val="FFFFFF"/>
                </a:solidFill>
                <a:latin typeface="+mj-lt"/>
                <a:ea typeface="+mj-ea"/>
                <a:cs typeface="+mj-cs"/>
              </a:rPr>
              <a:t>Oakland County Performance </a:t>
            </a:r>
            <a:br>
              <a:rPr lang="en-US" sz="3200" kern="1200" dirty="0">
                <a:solidFill>
                  <a:srgbClr val="FFFFFF"/>
                </a:solidFill>
                <a:latin typeface="+mj-lt"/>
                <a:ea typeface="+mj-ea"/>
                <a:cs typeface="+mj-cs"/>
              </a:rPr>
            </a:br>
            <a:r>
              <a:rPr lang="en-US" sz="3200" kern="1200" dirty="0">
                <a:solidFill>
                  <a:srgbClr val="FFFFFF"/>
                </a:solidFill>
                <a:latin typeface="+mj-lt"/>
                <a:ea typeface="+mj-ea"/>
                <a:cs typeface="+mj-cs"/>
              </a:rPr>
              <a:t>SAT 11 EBRW with ED</a:t>
            </a:r>
          </a:p>
        </p:txBody>
      </p:sp>
      <p:pic>
        <p:nvPicPr>
          <p:cNvPr id="11" name="Content Placeholder 10" descr="A graph of the number of people in the united states&#10;&#10;Description automatically generated">
            <a:extLst>
              <a:ext uri="{FF2B5EF4-FFF2-40B4-BE49-F238E27FC236}">
                <a16:creationId xmlns:a16="http://schemas.microsoft.com/office/drawing/2014/main" id="{CB0C8CE0-9FCE-BAB9-3158-8E4CF43ADC30}"/>
              </a:ext>
            </a:extLst>
          </p:cNvPr>
          <p:cNvPicPr>
            <a:picLocks noGrp="1" noChangeAspect="1"/>
          </p:cNvPicPr>
          <p:nvPr>
            <p:ph idx="1"/>
          </p:nvPr>
        </p:nvPicPr>
        <p:blipFill>
          <a:blip r:embed="rId2"/>
          <a:stretch>
            <a:fillRect/>
          </a:stretch>
        </p:blipFill>
        <p:spPr>
          <a:xfrm>
            <a:off x="3886200" y="490700"/>
            <a:ext cx="8338659" cy="6191454"/>
          </a:xfrm>
          <a:prstGeom prst="rect">
            <a:avLst/>
          </a:prstGeom>
        </p:spPr>
      </p:pic>
    </p:spTree>
    <p:extLst>
      <p:ext uri="{BB962C8B-B14F-4D97-AF65-F5344CB8AC3E}">
        <p14:creationId xmlns:p14="http://schemas.microsoft.com/office/powerpoint/2010/main" val="2774509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lowchart: Document 15">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675B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F4C6BB-3C84-D70C-D61B-0A87D0958766}"/>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dirty="0">
                <a:solidFill>
                  <a:srgbClr val="FFFFFF"/>
                </a:solidFill>
                <a:latin typeface="+mj-lt"/>
                <a:ea typeface="+mj-ea"/>
                <a:cs typeface="+mj-cs"/>
              </a:rPr>
              <a:t>Oakland County Performance </a:t>
            </a:r>
            <a:br>
              <a:rPr lang="en-US" sz="3200" kern="1200" dirty="0">
                <a:solidFill>
                  <a:srgbClr val="FFFFFF"/>
                </a:solidFill>
                <a:latin typeface="+mj-lt"/>
                <a:ea typeface="+mj-ea"/>
                <a:cs typeface="+mj-cs"/>
              </a:rPr>
            </a:br>
            <a:r>
              <a:rPr lang="en-US" sz="3200" kern="1200" dirty="0">
                <a:solidFill>
                  <a:srgbClr val="FFFFFF"/>
                </a:solidFill>
                <a:latin typeface="+mj-lt"/>
                <a:ea typeface="+mj-ea"/>
                <a:cs typeface="+mj-cs"/>
              </a:rPr>
              <a:t>SAT 11 Math with ED</a:t>
            </a:r>
          </a:p>
        </p:txBody>
      </p:sp>
      <p:pic>
        <p:nvPicPr>
          <p:cNvPr id="6" name="Content Placeholder 5" descr="A graph of the number of states&#10;&#10;Description automatically generated with medium confidence">
            <a:extLst>
              <a:ext uri="{FF2B5EF4-FFF2-40B4-BE49-F238E27FC236}">
                <a16:creationId xmlns:a16="http://schemas.microsoft.com/office/drawing/2014/main" id="{09F8E689-D668-B3DC-05DD-BF746255CEB5}"/>
              </a:ext>
            </a:extLst>
          </p:cNvPr>
          <p:cNvPicPr>
            <a:picLocks noGrp="1" noChangeAspect="1"/>
          </p:cNvPicPr>
          <p:nvPr>
            <p:ph idx="1"/>
          </p:nvPr>
        </p:nvPicPr>
        <p:blipFill>
          <a:blip r:embed="rId3"/>
          <a:stretch>
            <a:fillRect/>
          </a:stretch>
        </p:blipFill>
        <p:spPr>
          <a:xfrm>
            <a:off x="3886200" y="576775"/>
            <a:ext cx="8326031" cy="6162896"/>
          </a:xfrm>
        </p:spPr>
      </p:pic>
    </p:spTree>
    <p:extLst>
      <p:ext uri="{BB962C8B-B14F-4D97-AF65-F5344CB8AC3E}">
        <p14:creationId xmlns:p14="http://schemas.microsoft.com/office/powerpoint/2010/main" val="3304826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2033491F-62FC-4050-6776-9223E62E9DCF}"/>
              </a:ext>
            </a:extLst>
          </p:cNvPr>
          <p:cNvGraphicFramePr>
            <a:graphicFrameLocks noGrp="1"/>
          </p:cNvGraphicFramePr>
          <p:nvPr>
            <p:ph idx="1"/>
          </p:nvPr>
        </p:nvGraphicFramePr>
        <p:xfrm>
          <a:off x="663388" y="304800"/>
          <a:ext cx="10690412" cy="63559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528532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2033491F-62FC-4050-6776-9223E62E9DCF}"/>
              </a:ext>
            </a:extLst>
          </p:cNvPr>
          <p:cNvGraphicFramePr>
            <a:graphicFrameLocks noGrp="1"/>
          </p:cNvGraphicFramePr>
          <p:nvPr>
            <p:ph idx="1"/>
          </p:nvPr>
        </p:nvGraphicFramePr>
        <p:xfrm>
          <a:off x="663388" y="304800"/>
          <a:ext cx="10690412" cy="6355975"/>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712281BC-FAA2-A58E-028E-43FA66ACEF94}"/>
              </a:ext>
            </a:extLst>
          </p:cNvPr>
          <p:cNvSpPr txBox="1"/>
          <p:nvPr/>
        </p:nvSpPr>
        <p:spPr>
          <a:xfrm>
            <a:off x="1772528" y="3868615"/>
            <a:ext cx="3432517" cy="400110"/>
          </a:xfrm>
          <a:prstGeom prst="rect">
            <a:avLst/>
          </a:prstGeom>
          <a:noFill/>
        </p:spPr>
        <p:txBody>
          <a:bodyPr wrap="square" rtlCol="0">
            <a:spAutoFit/>
          </a:bodyPr>
          <a:lstStyle/>
          <a:p>
            <a:r>
              <a:rPr lang="en-US" sz="2000" b="1" i="1" dirty="0"/>
              <a:t>Out-performing expectations </a:t>
            </a:r>
          </a:p>
        </p:txBody>
      </p:sp>
    </p:spTree>
    <p:extLst>
      <p:ext uri="{BB962C8B-B14F-4D97-AF65-F5344CB8AC3E}">
        <p14:creationId xmlns:p14="http://schemas.microsoft.com/office/powerpoint/2010/main" val="311967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502636-D0BB-B9E9-0F09-B1E0296C2D25}"/>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Peer District Comparison Data </a:t>
            </a:r>
          </a:p>
        </p:txBody>
      </p:sp>
      <p:sp>
        <p:nvSpPr>
          <p:cNvPr id="5" name="Text Placeholder 4">
            <a:extLst>
              <a:ext uri="{FF2B5EF4-FFF2-40B4-BE49-F238E27FC236}">
                <a16:creationId xmlns:a16="http://schemas.microsoft.com/office/drawing/2014/main" id="{217B7E4C-DDBC-BFB2-4AC2-95EAE555E17C}"/>
              </a:ext>
            </a:extLst>
          </p:cNvPr>
          <p:cNvSpPr>
            <a:spLocks noGrp="1"/>
          </p:cNvSpPr>
          <p:nvPr>
            <p:ph type="body" idx="1"/>
          </p:nvPr>
        </p:nvSpPr>
        <p:spPr>
          <a:xfrm>
            <a:off x="643467" y="5277684"/>
            <a:ext cx="4620584" cy="775494"/>
          </a:xfrm>
        </p:spPr>
        <p:txBody>
          <a:bodyPr vert="horz" lIns="91440" tIns="45720" rIns="91440" bIns="45720" rtlCol="0">
            <a:normAutofit/>
          </a:bodyPr>
          <a:lstStyle/>
          <a:p>
            <a:endParaRPr lang="en-US" dirty="0">
              <a:solidFill>
                <a:schemeClr val="tx1"/>
              </a:solidFill>
            </a:endParaRPr>
          </a:p>
        </p:txBody>
      </p:sp>
      <p:pic>
        <p:nvPicPr>
          <p:cNvPr id="7" name="Picture 6">
            <a:extLst>
              <a:ext uri="{FF2B5EF4-FFF2-40B4-BE49-F238E27FC236}">
                <a16:creationId xmlns:a16="http://schemas.microsoft.com/office/drawing/2014/main" id="{A34CA8D8-5AEB-8495-9522-E210E5AAC5E2}"/>
              </a:ext>
            </a:extLst>
          </p:cNvPr>
          <p:cNvPicPr>
            <a:picLocks noChangeAspect="1"/>
          </p:cNvPicPr>
          <p:nvPr/>
        </p:nvPicPr>
        <p:blipFill rotWithShape="1">
          <a:blip r:embed="rId2"/>
          <a:srcRect l="17395" r="17395"/>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30805929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E5445C7-706A-55C6-073D-5BC6024DA7AB}"/>
              </a:ext>
            </a:extLst>
          </p:cNvPr>
          <p:cNvSpPr>
            <a:spLocks noGrp="1"/>
          </p:cNvSpPr>
          <p:nvPr>
            <p:ph type="title"/>
          </p:nvPr>
        </p:nvSpPr>
        <p:spPr>
          <a:xfrm>
            <a:off x="838200" y="365125"/>
            <a:ext cx="10515600" cy="1325563"/>
          </a:xfrm>
        </p:spPr>
        <p:txBody>
          <a:bodyPr>
            <a:normAutofit/>
          </a:bodyPr>
          <a:lstStyle/>
          <a:p>
            <a:r>
              <a:rPr lang="en-US" sz="5000" dirty="0"/>
              <a:t>How are “peer” districts selected?</a:t>
            </a:r>
          </a:p>
        </p:txBody>
      </p:sp>
      <p:sp>
        <p:nvSpPr>
          <p:cNvPr id="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327D7A9A-B0D6-A8A0-612C-85A7A191A95C}"/>
              </a:ext>
            </a:extLst>
          </p:cNvPr>
          <p:cNvSpPr>
            <a:spLocks noGrp="1"/>
          </p:cNvSpPr>
          <p:nvPr>
            <p:ph idx="1"/>
          </p:nvPr>
        </p:nvSpPr>
        <p:spPr>
          <a:xfrm>
            <a:off x="838200" y="1929384"/>
            <a:ext cx="10515600" cy="4251960"/>
          </a:xfrm>
        </p:spPr>
        <p:txBody>
          <a:bodyPr>
            <a:normAutofit/>
          </a:bodyPr>
          <a:lstStyle/>
          <a:p>
            <a:r>
              <a:rPr lang="en-US" sz="2200" dirty="0"/>
              <a:t>Comparison outside of Oakland County</a:t>
            </a:r>
          </a:p>
          <a:p>
            <a:pPr lvl="1"/>
            <a:r>
              <a:rPr lang="en-US" sz="2200" dirty="0"/>
              <a:t>Opportunity to reflect &amp; learn from others </a:t>
            </a:r>
          </a:p>
          <a:p>
            <a:r>
              <a:rPr lang="en-US" sz="2200" dirty="0"/>
              <a:t>Areas of similarity in these districts:</a:t>
            </a:r>
          </a:p>
          <a:p>
            <a:pPr lvl="1"/>
            <a:r>
              <a:rPr lang="en-US" sz="2200" dirty="0"/>
              <a:t>Size</a:t>
            </a:r>
          </a:p>
          <a:p>
            <a:pPr lvl="1"/>
            <a:r>
              <a:rPr lang="en-US" sz="2200" dirty="0"/>
              <a:t>Economics (per pupil) </a:t>
            </a:r>
          </a:p>
          <a:p>
            <a:pPr lvl="1"/>
            <a:r>
              <a:rPr lang="en-US" sz="2200" dirty="0"/>
              <a:t>Performance/Achievement</a:t>
            </a:r>
          </a:p>
          <a:p>
            <a:pPr lvl="1"/>
            <a:r>
              <a:rPr lang="en-US" sz="2200" dirty="0"/>
              <a:t>Community expectations </a:t>
            </a:r>
          </a:p>
          <a:p>
            <a:r>
              <a:rPr lang="en-US" sz="2200" dirty="0"/>
              <a:t>Areas of difference:</a:t>
            </a:r>
          </a:p>
          <a:p>
            <a:pPr lvl="1"/>
            <a:r>
              <a:rPr lang="en-US" sz="2200" dirty="0"/>
              <a:t>Student need (ELD, SES)</a:t>
            </a:r>
          </a:p>
          <a:p>
            <a:pPr lvl="1"/>
            <a:r>
              <a:rPr lang="en-US" sz="2200" dirty="0"/>
              <a:t>Demographics </a:t>
            </a:r>
          </a:p>
          <a:p>
            <a:pPr lvl="1"/>
            <a:endParaRPr lang="en-US" sz="2200" dirty="0"/>
          </a:p>
        </p:txBody>
      </p:sp>
    </p:spTree>
    <p:extLst>
      <p:ext uri="{BB962C8B-B14F-4D97-AF65-F5344CB8AC3E}">
        <p14:creationId xmlns:p14="http://schemas.microsoft.com/office/powerpoint/2010/main" val="3163483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FBC87-C0F6-CE97-FCD1-7DCC949BD6F1}"/>
              </a:ext>
            </a:extLst>
          </p:cNvPr>
          <p:cNvSpPr>
            <a:spLocks noGrp="1"/>
          </p:cNvSpPr>
          <p:nvPr>
            <p:ph type="title"/>
          </p:nvPr>
        </p:nvSpPr>
        <p:spPr/>
        <p:txBody>
          <a:bodyPr/>
          <a:lstStyle/>
          <a:p>
            <a:pPr algn="ctr"/>
            <a:r>
              <a:rPr lang="en-US" dirty="0"/>
              <a:t>Peer District Performance</a:t>
            </a:r>
            <a:br>
              <a:rPr lang="en-US" dirty="0"/>
            </a:br>
            <a:r>
              <a:rPr lang="en-US" dirty="0"/>
              <a:t>PSAT 8 &amp; SAT 11  </a:t>
            </a:r>
          </a:p>
        </p:txBody>
      </p:sp>
      <p:pic>
        <p:nvPicPr>
          <p:cNvPr id="5" name="Content Placeholder 4" descr="A graph of a number of students&#10;&#10;Description automatically generated with medium confidence">
            <a:extLst>
              <a:ext uri="{FF2B5EF4-FFF2-40B4-BE49-F238E27FC236}">
                <a16:creationId xmlns:a16="http://schemas.microsoft.com/office/drawing/2014/main" id="{38AE787E-6ACE-05BE-D522-9BEB32402193}"/>
              </a:ext>
            </a:extLst>
          </p:cNvPr>
          <p:cNvPicPr>
            <a:picLocks noGrp="1" noChangeAspect="1"/>
          </p:cNvPicPr>
          <p:nvPr>
            <p:ph idx="1"/>
          </p:nvPr>
        </p:nvPicPr>
        <p:blipFill>
          <a:blip r:embed="rId2"/>
          <a:stretch>
            <a:fillRect/>
          </a:stretch>
        </p:blipFill>
        <p:spPr>
          <a:xfrm>
            <a:off x="518900" y="1885072"/>
            <a:ext cx="11154199" cy="4853354"/>
          </a:xfrm>
        </p:spPr>
      </p:pic>
    </p:spTree>
    <p:extLst>
      <p:ext uri="{BB962C8B-B14F-4D97-AF65-F5344CB8AC3E}">
        <p14:creationId xmlns:p14="http://schemas.microsoft.com/office/powerpoint/2010/main" val="1620550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37F23-2A4C-65C7-E3AB-C6A5ABCB7B8C}"/>
              </a:ext>
            </a:extLst>
          </p:cNvPr>
          <p:cNvSpPr>
            <a:spLocks noGrp="1"/>
          </p:cNvSpPr>
          <p:nvPr>
            <p:ph type="title"/>
          </p:nvPr>
        </p:nvSpPr>
        <p:spPr/>
        <p:txBody>
          <a:bodyPr/>
          <a:lstStyle/>
          <a:p>
            <a:pPr algn="ctr"/>
            <a:r>
              <a:rPr lang="en-US" dirty="0"/>
              <a:t>Peer District Performance</a:t>
            </a:r>
            <a:br>
              <a:rPr lang="en-US" dirty="0"/>
            </a:br>
            <a:r>
              <a:rPr lang="en-US" dirty="0"/>
              <a:t>MSTEP 3-7</a:t>
            </a:r>
          </a:p>
        </p:txBody>
      </p:sp>
      <p:pic>
        <p:nvPicPr>
          <p:cNvPr id="5" name="Content Placeholder 4" descr="A graph of a number of students&#10;&#10;Description automatically generated with medium confidence">
            <a:extLst>
              <a:ext uri="{FF2B5EF4-FFF2-40B4-BE49-F238E27FC236}">
                <a16:creationId xmlns:a16="http://schemas.microsoft.com/office/drawing/2014/main" id="{FD126D2F-1D05-9E75-B0C1-EE5C2A5D69F9}"/>
              </a:ext>
            </a:extLst>
          </p:cNvPr>
          <p:cNvPicPr>
            <a:picLocks noGrp="1" noChangeAspect="1"/>
          </p:cNvPicPr>
          <p:nvPr>
            <p:ph idx="1"/>
          </p:nvPr>
        </p:nvPicPr>
        <p:blipFill>
          <a:blip r:embed="rId3"/>
          <a:stretch>
            <a:fillRect/>
          </a:stretch>
        </p:blipFill>
        <p:spPr>
          <a:xfrm>
            <a:off x="375370" y="1690688"/>
            <a:ext cx="11441260" cy="4946867"/>
          </a:xfrm>
        </p:spPr>
      </p:pic>
    </p:spTree>
    <p:extLst>
      <p:ext uri="{BB962C8B-B14F-4D97-AF65-F5344CB8AC3E}">
        <p14:creationId xmlns:p14="http://schemas.microsoft.com/office/powerpoint/2010/main" val="18840650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34CA8D8-5AEB-8495-9522-E210E5AAC5E2}"/>
              </a:ext>
            </a:extLst>
          </p:cNvPr>
          <p:cNvPicPr>
            <a:picLocks noChangeAspect="1"/>
          </p:cNvPicPr>
          <p:nvPr/>
        </p:nvPicPr>
        <p:blipFill rotWithShape="1">
          <a:blip r:embed="rId2"/>
          <a:srcRect t="7322" b="17678"/>
          <a:stretch/>
        </p:blipFill>
        <p:spPr>
          <a:xfrm>
            <a:off x="-3047" y="10"/>
            <a:ext cx="12191999" cy="6857990"/>
          </a:xfrm>
          <a:prstGeom prst="rect">
            <a:avLst/>
          </a:prstGeom>
        </p:spPr>
      </p:pic>
      <p:sp>
        <p:nvSpPr>
          <p:cNvPr id="19" name="Rectangle 18">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3502636-D0BB-B9E9-0F09-B1E0296C2D25}"/>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ormAutofit/>
          </a:bodyPr>
          <a:lstStyle/>
          <a:p>
            <a:r>
              <a:rPr lang="en-US" sz="5200" dirty="0">
                <a:solidFill>
                  <a:srgbClr val="FFFFFF"/>
                </a:solidFill>
              </a:rPr>
              <a:t>Celebrations </a:t>
            </a:r>
          </a:p>
        </p:txBody>
      </p:sp>
      <p:sp>
        <p:nvSpPr>
          <p:cNvPr id="2" name="Subtitle 1">
            <a:extLst>
              <a:ext uri="{FF2B5EF4-FFF2-40B4-BE49-F238E27FC236}">
                <a16:creationId xmlns:a16="http://schemas.microsoft.com/office/drawing/2014/main" id="{093AC8F6-84C5-80F6-ECF7-5962A5FE6B67}"/>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endParaRPr lang="en-US" dirty="0">
              <a:solidFill>
                <a:srgbClr val="FFFFFF"/>
              </a:solidFill>
            </a:endParaRPr>
          </a:p>
        </p:txBody>
      </p:sp>
    </p:spTree>
    <p:extLst>
      <p:ext uri="{BB962C8B-B14F-4D97-AF65-F5344CB8AC3E}">
        <p14:creationId xmlns:p14="http://schemas.microsoft.com/office/powerpoint/2010/main" val="1219244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E5445C7-706A-55C6-073D-5BC6024DA7AB}"/>
              </a:ext>
            </a:extLst>
          </p:cNvPr>
          <p:cNvSpPr>
            <a:spLocks noGrp="1"/>
          </p:cNvSpPr>
          <p:nvPr>
            <p:ph type="title"/>
          </p:nvPr>
        </p:nvSpPr>
        <p:spPr>
          <a:xfrm>
            <a:off x="635000" y="640823"/>
            <a:ext cx="3418659" cy="5583148"/>
          </a:xfrm>
        </p:spPr>
        <p:txBody>
          <a:bodyPr anchor="ctr">
            <a:normAutofit/>
          </a:bodyPr>
          <a:lstStyle/>
          <a:p>
            <a:r>
              <a:rPr lang="en-US" sz="4200"/>
              <a:t>International Baccalaureate Diploma Programme </a:t>
            </a:r>
          </a:p>
        </p:txBody>
      </p:sp>
      <p:sp>
        <p:nvSpPr>
          <p:cNvPr id="4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4">
            <a:extLst>
              <a:ext uri="{FF2B5EF4-FFF2-40B4-BE49-F238E27FC236}">
                <a16:creationId xmlns:a16="http://schemas.microsoft.com/office/drawing/2014/main" id="{E76DC383-326E-9CD5-6460-73A75EC3EAB4}"/>
              </a:ext>
            </a:extLst>
          </p:cNvPr>
          <p:cNvGraphicFramePr>
            <a:graphicFrameLocks noGrp="1"/>
          </p:cNvGraphicFramePr>
          <p:nvPr>
            <p:ph idx="1"/>
            <p:extLst>
              <p:ext uri="{D42A27DB-BD31-4B8C-83A1-F6EECF244321}">
                <p14:modId xmlns:p14="http://schemas.microsoft.com/office/powerpoint/2010/main" val="120220513"/>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87284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E5445C7-706A-55C6-073D-5BC6024DA7AB}"/>
              </a:ext>
            </a:extLst>
          </p:cNvPr>
          <p:cNvSpPr>
            <a:spLocks noGrp="1"/>
          </p:cNvSpPr>
          <p:nvPr>
            <p:ph type="title"/>
          </p:nvPr>
        </p:nvSpPr>
        <p:spPr>
          <a:xfrm>
            <a:off x="838200" y="365125"/>
            <a:ext cx="10515600" cy="1325563"/>
          </a:xfrm>
        </p:spPr>
        <p:txBody>
          <a:bodyPr>
            <a:normAutofit fontScale="90000"/>
          </a:bodyPr>
          <a:lstStyle/>
          <a:p>
            <a:r>
              <a:rPr lang="en-US" sz="5400" kern="1200" dirty="0">
                <a:solidFill>
                  <a:schemeClr val="tx1"/>
                </a:solidFill>
                <a:latin typeface="+mj-lt"/>
                <a:ea typeface="+mj-ea"/>
                <a:cs typeface="+mj-cs"/>
              </a:rPr>
              <a:t>International Academy East – </a:t>
            </a:r>
            <a:br>
              <a:rPr lang="en-US" sz="5400" kern="1200" dirty="0">
                <a:solidFill>
                  <a:schemeClr val="tx1"/>
                </a:solidFill>
                <a:latin typeface="+mj-lt"/>
                <a:ea typeface="+mj-ea"/>
                <a:cs typeface="+mj-cs"/>
              </a:rPr>
            </a:br>
            <a:r>
              <a:rPr lang="en-US" sz="5400" kern="1200" dirty="0">
                <a:solidFill>
                  <a:schemeClr val="tx1"/>
                </a:solidFill>
                <a:latin typeface="+mj-lt"/>
                <a:ea typeface="+mj-ea"/>
                <a:cs typeface="+mj-cs"/>
              </a:rPr>
              <a:t>IB Diploma Acquisition Rate </a:t>
            </a:r>
            <a:endParaRPr lang="en-US" sz="5400" dirty="0"/>
          </a:p>
        </p:txBody>
      </p:sp>
      <p:sp>
        <p:nvSpPr>
          <p:cNvPr id="1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ontent Placeholder 3">
            <a:extLst>
              <a:ext uri="{FF2B5EF4-FFF2-40B4-BE49-F238E27FC236}">
                <a16:creationId xmlns:a16="http://schemas.microsoft.com/office/drawing/2014/main" id="{30832DCB-15E8-6AAF-6171-DD1213188307}"/>
              </a:ext>
            </a:extLst>
          </p:cNvPr>
          <p:cNvGraphicFramePr>
            <a:graphicFrameLocks/>
          </p:cNvGraphicFramePr>
          <p:nvPr>
            <p:extLst>
              <p:ext uri="{D42A27DB-BD31-4B8C-83A1-F6EECF244321}">
                <p14:modId xmlns:p14="http://schemas.microsoft.com/office/powerpoint/2010/main" val="878873933"/>
              </p:ext>
            </p:extLst>
          </p:nvPr>
        </p:nvGraphicFramePr>
        <p:xfrm>
          <a:off x="1860922" y="2463565"/>
          <a:ext cx="8464057" cy="3838956"/>
        </p:xfrm>
        <a:graphic>
          <a:graphicData uri="http://schemas.openxmlformats.org/drawingml/2006/table">
            <a:tbl>
              <a:tblPr firstRow="1" bandRow="1"/>
              <a:tblGrid>
                <a:gridCol w="1903402">
                  <a:extLst>
                    <a:ext uri="{9D8B030D-6E8A-4147-A177-3AD203B41FA5}">
                      <a16:colId xmlns:a16="http://schemas.microsoft.com/office/drawing/2014/main" val="3819963274"/>
                    </a:ext>
                  </a:extLst>
                </a:gridCol>
                <a:gridCol w="6560655">
                  <a:extLst>
                    <a:ext uri="{9D8B030D-6E8A-4147-A177-3AD203B41FA5}">
                      <a16:colId xmlns:a16="http://schemas.microsoft.com/office/drawing/2014/main" val="2432374349"/>
                    </a:ext>
                  </a:extLst>
                </a:gridCol>
              </a:tblGrid>
              <a:tr h="639826">
                <a:tc>
                  <a:txBody>
                    <a:bodyPr/>
                    <a:lstStyle/>
                    <a:p>
                      <a:pPr algn="ctr" rtl="0" fontAlgn="b"/>
                      <a:r>
                        <a:rPr lang="en-US" sz="3300" b="1" dirty="0">
                          <a:effectLst/>
                        </a:rPr>
                        <a:t>Year</a:t>
                      </a:r>
                    </a:p>
                  </a:txBody>
                  <a:tcPr marL="52388" marR="52388" marT="34925" marB="34925"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3300" b="1" dirty="0">
                          <a:effectLst/>
                        </a:rPr>
                        <a:t>% Diploma Acquisition</a:t>
                      </a:r>
                    </a:p>
                  </a:txBody>
                  <a:tcPr marL="52388" marR="52388" marT="34925" marB="34925"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181509358"/>
                  </a:ext>
                </a:extLst>
              </a:tr>
              <a:tr h="639826">
                <a:tc>
                  <a:txBody>
                    <a:bodyPr/>
                    <a:lstStyle/>
                    <a:p>
                      <a:pPr algn="ctr" rtl="0" fontAlgn="b"/>
                      <a:r>
                        <a:rPr lang="en-US" sz="3300" dirty="0">
                          <a:effectLst/>
                        </a:rPr>
                        <a:t>2023</a:t>
                      </a:r>
                    </a:p>
                  </a:txBody>
                  <a:tcPr marL="52388" marR="52388" marT="34925" marB="34925"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3300" dirty="0">
                          <a:effectLst/>
                        </a:rPr>
                        <a:t>72%</a:t>
                      </a:r>
                    </a:p>
                  </a:txBody>
                  <a:tcPr marL="52388" marR="52388" marT="34925" marB="34925"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152635027"/>
                  </a:ext>
                </a:extLst>
              </a:tr>
              <a:tr h="639826">
                <a:tc>
                  <a:txBody>
                    <a:bodyPr/>
                    <a:lstStyle/>
                    <a:p>
                      <a:pPr algn="ctr" rtl="0" fontAlgn="b"/>
                      <a:r>
                        <a:rPr lang="en-US" sz="3300" dirty="0">
                          <a:effectLst/>
                        </a:rPr>
                        <a:t>2022</a:t>
                      </a:r>
                    </a:p>
                  </a:txBody>
                  <a:tcPr marL="52388" marR="52388" marT="34925" marB="34925"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3300" dirty="0">
                          <a:effectLst/>
                        </a:rPr>
                        <a:t>88%</a:t>
                      </a:r>
                    </a:p>
                  </a:txBody>
                  <a:tcPr marL="52388" marR="52388" marT="34925" marB="34925"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479889389"/>
                  </a:ext>
                </a:extLst>
              </a:tr>
              <a:tr h="639826">
                <a:tc>
                  <a:txBody>
                    <a:bodyPr/>
                    <a:lstStyle/>
                    <a:p>
                      <a:pPr algn="ctr" rtl="0" fontAlgn="b"/>
                      <a:r>
                        <a:rPr lang="en-US" sz="3300" dirty="0">
                          <a:effectLst/>
                        </a:rPr>
                        <a:t>2021</a:t>
                      </a:r>
                    </a:p>
                  </a:txBody>
                  <a:tcPr marL="52388" marR="52388" marT="34925" marB="34925"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3300" dirty="0">
                          <a:effectLst/>
                        </a:rPr>
                        <a:t>87%</a:t>
                      </a:r>
                    </a:p>
                  </a:txBody>
                  <a:tcPr marL="52388" marR="52388" marT="34925" marB="34925"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3026890844"/>
                  </a:ext>
                </a:extLst>
              </a:tr>
              <a:tr h="639826">
                <a:tc>
                  <a:txBody>
                    <a:bodyPr/>
                    <a:lstStyle/>
                    <a:p>
                      <a:pPr algn="ctr" rtl="0" fontAlgn="b"/>
                      <a:r>
                        <a:rPr lang="en-US" sz="3300" dirty="0">
                          <a:effectLst/>
                        </a:rPr>
                        <a:t>2020</a:t>
                      </a:r>
                    </a:p>
                  </a:txBody>
                  <a:tcPr marL="52388" marR="52388" marT="34925" marB="34925"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US" sz="3300" dirty="0">
                          <a:effectLst/>
                        </a:rPr>
                        <a:t>90%</a:t>
                      </a:r>
                    </a:p>
                  </a:txBody>
                  <a:tcPr marL="52388" marR="52388" marT="34925" marB="34925"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498582020"/>
                  </a:ext>
                </a:extLst>
              </a:tr>
              <a:tr h="639826">
                <a:tc>
                  <a:txBody>
                    <a:bodyPr/>
                    <a:lstStyle/>
                    <a:p>
                      <a:pPr algn="ctr" rtl="0" fontAlgn="b"/>
                      <a:r>
                        <a:rPr lang="en-US" sz="3300" dirty="0">
                          <a:effectLst/>
                        </a:rPr>
                        <a:t>2019</a:t>
                      </a:r>
                    </a:p>
                  </a:txBody>
                  <a:tcPr marL="52388" marR="52388" marT="34925" marB="34925"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b"/>
                      <a:r>
                        <a:rPr lang="en-US" sz="3300" dirty="0">
                          <a:effectLst/>
                        </a:rPr>
                        <a:t>82%</a:t>
                      </a:r>
                    </a:p>
                  </a:txBody>
                  <a:tcPr marL="52388" marR="52388" marT="34925" marB="34925"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279767"/>
                  </a:ext>
                </a:extLst>
              </a:tr>
            </a:tbl>
          </a:graphicData>
        </a:graphic>
      </p:graphicFrame>
      <p:sp>
        <p:nvSpPr>
          <p:cNvPr id="9" name="TextBox 8">
            <a:extLst>
              <a:ext uri="{FF2B5EF4-FFF2-40B4-BE49-F238E27FC236}">
                <a16:creationId xmlns:a16="http://schemas.microsoft.com/office/drawing/2014/main" id="{75107A57-17D9-BC1E-B8AF-3F5B6FF338CE}"/>
              </a:ext>
            </a:extLst>
          </p:cNvPr>
          <p:cNvSpPr txBox="1"/>
          <p:nvPr/>
        </p:nvSpPr>
        <p:spPr>
          <a:xfrm>
            <a:off x="1005136" y="1695661"/>
            <a:ext cx="10175630" cy="767904"/>
          </a:xfrm>
          <a:prstGeom prst="rect">
            <a:avLst/>
          </a:prstGeom>
        </p:spPr>
        <p:txBody>
          <a:bodyPr vert="horz" lIns="91440" tIns="45720" rIns="91440" bIns="45720" rtlCol="0" anchor="ctr">
            <a:normAutofit/>
          </a:bodyPr>
          <a:lstStyle/>
          <a:p>
            <a:pPr algn="ctr">
              <a:lnSpc>
                <a:spcPct val="90000"/>
              </a:lnSpc>
              <a:spcAft>
                <a:spcPts val="600"/>
              </a:spcAft>
            </a:pPr>
            <a:r>
              <a:rPr lang="en-US" sz="2000" dirty="0"/>
              <a:t>Global Acquisition Rate 75-78%</a:t>
            </a:r>
          </a:p>
        </p:txBody>
      </p:sp>
    </p:spTree>
    <p:extLst>
      <p:ext uri="{BB962C8B-B14F-4D97-AF65-F5344CB8AC3E}">
        <p14:creationId xmlns:p14="http://schemas.microsoft.com/office/powerpoint/2010/main" val="2606493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E5445C7-706A-55C6-073D-5BC6024DA7AB}"/>
              </a:ext>
            </a:extLst>
          </p:cNvPr>
          <p:cNvSpPr>
            <a:spLocks noGrp="1"/>
          </p:cNvSpPr>
          <p:nvPr>
            <p:ph type="title"/>
          </p:nvPr>
        </p:nvSpPr>
        <p:spPr>
          <a:xfrm>
            <a:off x="635000" y="640823"/>
            <a:ext cx="3418659" cy="5583148"/>
          </a:xfrm>
        </p:spPr>
        <p:txBody>
          <a:bodyPr anchor="ctr">
            <a:normAutofit/>
          </a:bodyPr>
          <a:lstStyle/>
          <a:p>
            <a:r>
              <a:rPr lang="en-US" sz="5400" dirty="0"/>
              <a:t>Advanced Placement Courses </a:t>
            </a:r>
          </a:p>
        </p:txBody>
      </p:sp>
      <p:sp>
        <p:nvSpPr>
          <p:cNvPr id="13"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ontent Placeholder 4">
            <a:extLst>
              <a:ext uri="{FF2B5EF4-FFF2-40B4-BE49-F238E27FC236}">
                <a16:creationId xmlns:a16="http://schemas.microsoft.com/office/drawing/2014/main" id="{E76DC383-326E-9CD5-6460-73A75EC3EAB4}"/>
              </a:ext>
            </a:extLst>
          </p:cNvPr>
          <p:cNvGraphicFramePr>
            <a:graphicFrameLocks noGrp="1"/>
          </p:cNvGraphicFramePr>
          <p:nvPr>
            <p:ph idx="1"/>
            <p:extLst>
              <p:ext uri="{D42A27DB-BD31-4B8C-83A1-F6EECF244321}">
                <p14:modId xmlns:p14="http://schemas.microsoft.com/office/powerpoint/2010/main" val="582565960"/>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96991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5FA331-0110-19B8-9869-1A7DF20F7E71}"/>
              </a:ext>
            </a:extLst>
          </p:cNvPr>
          <p:cNvSpPr>
            <a:spLocks noGrp="1"/>
          </p:cNvSpPr>
          <p:nvPr>
            <p:ph type="title"/>
          </p:nvPr>
        </p:nvSpPr>
        <p:spPr>
          <a:xfrm>
            <a:off x="177894" y="4410635"/>
            <a:ext cx="11280111" cy="2170558"/>
          </a:xfrm>
        </p:spPr>
        <p:txBody>
          <a:bodyPr vert="horz" lIns="91440" tIns="45720" rIns="91440" bIns="45720" rtlCol="0" anchor="b">
            <a:noAutofit/>
          </a:bodyPr>
          <a:lstStyle/>
          <a:p>
            <a:r>
              <a:rPr lang="en-US" sz="1600" b="1" u="sng"/>
              <a:t>College Culture</a:t>
            </a:r>
            <a:r>
              <a:rPr lang="en-US" sz="1600"/>
              <a:t>: Percent of students in the graduating class who took an AP exam at any point in high school, regardless of score. </a:t>
            </a:r>
            <a:br>
              <a:rPr lang="en-US" sz="1600"/>
            </a:br>
            <a:br>
              <a:rPr lang="en-US" sz="1600"/>
            </a:br>
            <a:r>
              <a:rPr lang="en-US" sz="1600" b="1" u="sng"/>
              <a:t>College Credit</a:t>
            </a:r>
            <a:r>
              <a:rPr lang="en-US" sz="1600" u="sng"/>
              <a:t>: </a:t>
            </a:r>
            <a:r>
              <a:rPr lang="en-US" sz="1600"/>
              <a:t>Percent of students in the graduating class who scored 3 or higher on any AP Exam in high school. </a:t>
            </a:r>
            <a:br>
              <a:rPr lang="en-US" sz="1600"/>
            </a:br>
            <a:br>
              <a:rPr lang="en-US" sz="1600"/>
            </a:br>
            <a:r>
              <a:rPr lang="en-US" sz="1600" b="1" u="sng"/>
              <a:t>College Optimization</a:t>
            </a:r>
            <a:r>
              <a:rPr lang="en-US" sz="1600" b="1"/>
              <a:t>: </a:t>
            </a:r>
            <a:r>
              <a:rPr lang="en-US" sz="1600"/>
              <a:t>Percent of students in the graduating class who took 5 or more AP Exams in high school, where at least 1 exam was taken in 9th or 10th grade.  Research finds that 6 or more APs do not improve college graduation rates beyond the optimal total of 5 such courses in high school.  The Honor Roll also recognizes schools that encourage students earlier on their AP journey so as not to overload them with AP courses their junior and senior years. </a:t>
            </a:r>
            <a:endParaRPr lang="en-US" sz="1600" dirty="0">
              <a:solidFill>
                <a:schemeClr val="tx2"/>
              </a:solidFill>
            </a:endParaRPr>
          </a:p>
        </p:txBody>
      </p:sp>
      <p:pic>
        <p:nvPicPr>
          <p:cNvPr id="9" name="Picture 8" descr="A table with different colors and text&#10;&#10;Description automatically generated">
            <a:extLst>
              <a:ext uri="{FF2B5EF4-FFF2-40B4-BE49-F238E27FC236}">
                <a16:creationId xmlns:a16="http://schemas.microsoft.com/office/drawing/2014/main" id="{AF5D01C5-168E-45A7-86CD-C5936006E1F7}"/>
              </a:ext>
            </a:extLst>
          </p:cNvPr>
          <p:cNvPicPr>
            <a:picLocks noChangeAspect="1"/>
          </p:cNvPicPr>
          <p:nvPr/>
        </p:nvPicPr>
        <p:blipFill>
          <a:blip r:embed="rId2"/>
          <a:stretch>
            <a:fillRect/>
          </a:stretch>
        </p:blipFill>
        <p:spPr>
          <a:xfrm>
            <a:off x="177894" y="1254509"/>
            <a:ext cx="9041406" cy="3300112"/>
          </a:xfrm>
          <a:prstGeom prst="rect">
            <a:avLst/>
          </a:prstGeom>
        </p:spPr>
      </p:pic>
      <p:pic>
        <p:nvPicPr>
          <p:cNvPr id="13" name="Content Placeholder 12" descr="A screenshot of a cell phone&#10;&#10;Description automatically generated">
            <a:extLst>
              <a:ext uri="{FF2B5EF4-FFF2-40B4-BE49-F238E27FC236}">
                <a16:creationId xmlns:a16="http://schemas.microsoft.com/office/drawing/2014/main" id="{855FC988-1CE4-45AE-4130-265CC2C1967A}"/>
              </a:ext>
            </a:extLst>
          </p:cNvPr>
          <p:cNvPicPr>
            <a:picLocks noGrp="1" noChangeAspect="1"/>
          </p:cNvPicPr>
          <p:nvPr>
            <p:ph idx="1"/>
          </p:nvPr>
        </p:nvPicPr>
        <p:blipFill>
          <a:blip r:embed="rId3"/>
          <a:stretch>
            <a:fillRect/>
          </a:stretch>
        </p:blipFill>
        <p:spPr>
          <a:xfrm>
            <a:off x="9202771" y="1272863"/>
            <a:ext cx="2811335" cy="3281758"/>
          </a:xfrm>
        </p:spPr>
      </p:pic>
      <p:sp>
        <p:nvSpPr>
          <p:cNvPr id="14" name="TextBox 13">
            <a:extLst>
              <a:ext uri="{FF2B5EF4-FFF2-40B4-BE49-F238E27FC236}">
                <a16:creationId xmlns:a16="http://schemas.microsoft.com/office/drawing/2014/main" id="{8D8CA5B2-937E-26DD-083E-398F839A70B4}"/>
              </a:ext>
            </a:extLst>
          </p:cNvPr>
          <p:cNvSpPr txBox="1"/>
          <p:nvPr/>
        </p:nvSpPr>
        <p:spPr>
          <a:xfrm>
            <a:off x="297180" y="411480"/>
            <a:ext cx="3763666" cy="646331"/>
          </a:xfrm>
          <a:prstGeom prst="rect">
            <a:avLst/>
          </a:prstGeom>
          <a:noFill/>
        </p:spPr>
        <p:txBody>
          <a:bodyPr wrap="square" rtlCol="0">
            <a:spAutoFit/>
          </a:bodyPr>
          <a:lstStyle/>
          <a:p>
            <a:r>
              <a:rPr lang="en-US" sz="3600"/>
              <a:t>AP Honor Roll </a:t>
            </a:r>
            <a:endParaRPr lang="en-US" sz="3600" dirty="0"/>
          </a:p>
        </p:txBody>
      </p:sp>
      <p:sp>
        <p:nvSpPr>
          <p:cNvPr id="15" name="TextBox 14">
            <a:extLst>
              <a:ext uri="{FF2B5EF4-FFF2-40B4-BE49-F238E27FC236}">
                <a16:creationId xmlns:a16="http://schemas.microsoft.com/office/drawing/2014/main" id="{9A65481F-7981-2CA1-3583-6F37D3060732}"/>
              </a:ext>
            </a:extLst>
          </p:cNvPr>
          <p:cNvSpPr txBox="1"/>
          <p:nvPr/>
        </p:nvSpPr>
        <p:spPr>
          <a:xfrm>
            <a:off x="6858000" y="734645"/>
            <a:ext cx="2099229" cy="369332"/>
          </a:xfrm>
          <a:prstGeom prst="rect">
            <a:avLst/>
          </a:prstGeom>
          <a:noFill/>
        </p:spPr>
        <p:txBody>
          <a:bodyPr wrap="none" rtlCol="0">
            <a:spAutoFit/>
          </a:bodyPr>
          <a:lstStyle/>
          <a:p>
            <a:r>
              <a:rPr lang="en-US"/>
              <a:t>Athens High School  </a:t>
            </a:r>
            <a:endParaRPr lang="en-US" dirty="0"/>
          </a:p>
        </p:txBody>
      </p:sp>
      <p:sp>
        <p:nvSpPr>
          <p:cNvPr id="16" name="TextBox 15">
            <a:extLst>
              <a:ext uri="{FF2B5EF4-FFF2-40B4-BE49-F238E27FC236}">
                <a16:creationId xmlns:a16="http://schemas.microsoft.com/office/drawing/2014/main" id="{52E24CF1-2DD1-8DD0-3098-D6AF669D834F}"/>
              </a:ext>
            </a:extLst>
          </p:cNvPr>
          <p:cNvSpPr txBox="1"/>
          <p:nvPr/>
        </p:nvSpPr>
        <p:spPr>
          <a:xfrm>
            <a:off x="9612628" y="688479"/>
            <a:ext cx="1845377" cy="369332"/>
          </a:xfrm>
          <a:prstGeom prst="rect">
            <a:avLst/>
          </a:prstGeom>
          <a:noFill/>
        </p:spPr>
        <p:txBody>
          <a:bodyPr wrap="none" rtlCol="0">
            <a:spAutoFit/>
          </a:bodyPr>
          <a:lstStyle/>
          <a:p>
            <a:r>
              <a:rPr lang="en-US"/>
              <a:t>Troy High School  </a:t>
            </a:r>
            <a:endParaRPr lang="en-US" dirty="0"/>
          </a:p>
        </p:txBody>
      </p:sp>
    </p:spTree>
    <p:extLst>
      <p:ext uri="{BB962C8B-B14F-4D97-AF65-F5344CB8AC3E}">
        <p14:creationId xmlns:p14="http://schemas.microsoft.com/office/powerpoint/2010/main" val="4055852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E5445C7-706A-55C6-073D-5BC6024DA7AB}"/>
              </a:ext>
            </a:extLst>
          </p:cNvPr>
          <p:cNvSpPr>
            <a:spLocks noGrp="1"/>
          </p:cNvSpPr>
          <p:nvPr>
            <p:ph type="title"/>
          </p:nvPr>
        </p:nvSpPr>
        <p:spPr>
          <a:xfrm>
            <a:off x="838200" y="365125"/>
            <a:ext cx="10515600" cy="1325563"/>
          </a:xfrm>
        </p:spPr>
        <p:txBody>
          <a:bodyPr>
            <a:normAutofit/>
          </a:bodyPr>
          <a:lstStyle/>
          <a:p>
            <a:r>
              <a:rPr lang="en-US" sz="4200" dirty="0"/>
              <a:t>Graduation Rate – </a:t>
            </a:r>
            <a:br>
              <a:rPr lang="en-US" sz="4200" dirty="0"/>
            </a:br>
            <a:r>
              <a:rPr lang="en-US" sz="4200" dirty="0"/>
              <a:t>Troy College and Career High School </a:t>
            </a:r>
          </a:p>
        </p:txBody>
      </p:sp>
      <p:sp>
        <p:nvSpPr>
          <p:cNvPr id="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327D7A9A-B0D6-A8A0-612C-85A7A191A95C}"/>
              </a:ext>
            </a:extLst>
          </p:cNvPr>
          <p:cNvSpPr>
            <a:spLocks noGrp="1"/>
          </p:cNvSpPr>
          <p:nvPr>
            <p:ph idx="1"/>
          </p:nvPr>
        </p:nvSpPr>
        <p:spPr>
          <a:xfrm>
            <a:off x="838200" y="1929384"/>
            <a:ext cx="10515600" cy="4251960"/>
          </a:xfrm>
        </p:spPr>
        <p:txBody>
          <a:bodyPr>
            <a:normAutofit/>
          </a:bodyPr>
          <a:lstStyle/>
          <a:p>
            <a:r>
              <a:rPr lang="en-US" sz="2200" dirty="0"/>
              <a:t>Over the last 4 years we have committed resources to reimagining the programming at TCCHS.</a:t>
            </a:r>
          </a:p>
          <a:p>
            <a:r>
              <a:rPr lang="en-US" sz="2200" dirty="0"/>
              <a:t>New facility, new leadership, new vision</a:t>
            </a:r>
          </a:p>
          <a:p>
            <a:r>
              <a:rPr lang="en-US" sz="2200" dirty="0"/>
              <a:t>Focus on belonging and flexibility in curriculum</a:t>
            </a:r>
          </a:p>
          <a:p>
            <a:r>
              <a:rPr lang="en-US" sz="2200" dirty="0"/>
              <a:t>Elevation of student voice and choice </a:t>
            </a:r>
          </a:p>
          <a:p>
            <a:r>
              <a:rPr lang="en-US" sz="2200" dirty="0"/>
              <a:t>Opportunity to learn and grow in a smaller, adaptive, supportive environment </a:t>
            </a:r>
          </a:p>
          <a:p>
            <a:endParaRPr lang="en-US" sz="2200" dirty="0"/>
          </a:p>
          <a:p>
            <a:endParaRPr lang="en-US" sz="2200" dirty="0"/>
          </a:p>
        </p:txBody>
      </p:sp>
    </p:spTree>
    <p:extLst>
      <p:ext uri="{BB962C8B-B14F-4D97-AF65-F5344CB8AC3E}">
        <p14:creationId xmlns:p14="http://schemas.microsoft.com/office/powerpoint/2010/main" val="26827221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1">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0CB8AC-4D1A-A16C-8C3A-23A8A6A86C37}"/>
              </a:ext>
            </a:extLst>
          </p:cNvPr>
          <p:cNvSpPr>
            <a:spLocks noGrp="1"/>
          </p:cNvSpPr>
          <p:nvPr>
            <p:ph type="title"/>
          </p:nvPr>
        </p:nvSpPr>
        <p:spPr>
          <a:xfrm>
            <a:off x="1255058" y="6006020"/>
            <a:ext cx="9681882" cy="739880"/>
          </a:xfrm>
        </p:spPr>
        <p:txBody>
          <a:bodyPr vert="horz" lIns="91440" tIns="45720" rIns="91440" bIns="45720" rtlCol="0" anchor="b">
            <a:normAutofit fontScale="90000"/>
          </a:bodyPr>
          <a:lstStyle/>
          <a:p>
            <a:pPr algn="ctr"/>
            <a:r>
              <a:rPr lang="en-US" sz="2700" kern="1200" dirty="0">
                <a:solidFill>
                  <a:schemeClr val="tx1">
                    <a:lumMod val="85000"/>
                    <a:lumOff val="15000"/>
                  </a:schemeClr>
                </a:solidFill>
                <a:latin typeface="+mj-lt"/>
                <a:ea typeface="+mj-ea"/>
                <a:cs typeface="+mj-cs"/>
              </a:rPr>
              <a:t>Troy College and Career High School:</a:t>
            </a:r>
            <a:br>
              <a:rPr lang="en-US" sz="2700" kern="1200" dirty="0">
                <a:solidFill>
                  <a:schemeClr val="tx1">
                    <a:lumMod val="85000"/>
                    <a:lumOff val="15000"/>
                  </a:schemeClr>
                </a:solidFill>
                <a:latin typeface="+mj-lt"/>
                <a:ea typeface="+mj-ea"/>
                <a:cs typeface="+mj-cs"/>
              </a:rPr>
            </a:br>
            <a:br>
              <a:rPr lang="en-US" sz="2700" kern="1200" dirty="0">
                <a:solidFill>
                  <a:schemeClr val="tx1">
                    <a:lumMod val="85000"/>
                    <a:lumOff val="15000"/>
                  </a:schemeClr>
                </a:solidFill>
                <a:latin typeface="+mj-lt"/>
                <a:ea typeface="+mj-ea"/>
                <a:cs typeface="+mj-cs"/>
              </a:rPr>
            </a:br>
            <a:r>
              <a:rPr lang="en-US" sz="2700" kern="1200" dirty="0">
                <a:solidFill>
                  <a:schemeClr val="tx1">
                    <a:lumMod val="85000"/>
                    <a:lumOff val="15000"/>
                  </a:schemeClr>
                </a:solidFill>
                <a:latin typeface="+mj-lt"/>
                <a:ea typeface="+mj-ea"/>
                <a:cs typeface="+mj-cs"/>
              </a:rPr>
              <a:t>From 2017/18 to 2021/22</a:t>
            </a:r>
            <a:br>
              <a:rPr lang="en-US" sz="2700" kern="1200" dirty="0">
                <a:solidFill>
                  <a:schemeClr val="tx1">
                    <a:lumMod val="85000"/>
                    <a:lumOff val="15000"/>
                  </a:schemeClr>
                </a:solidFill>
                <a:latin typeface="+mj-lt"/>
                <a:ea typeface="+mj-ea"/>
                <a:cs typeface="+mj-cs"/>
              </a:rPr>
            </a:br>
            <a:r>
              <a:rPr lang="en-US" sz="2700" dirty="0">
                <a:solidFill>
                  <a:schemeClr val="tx1">
                    <a:lumMod val="85000"/>
                    <a:lumOff val="15000"/>
                  </a:schemeClr>
                </a:solidFill>
              </a:rPr>
              <a:t>4</a:t>
            </a:r>
            <a:r>
              <a:rPr lang="en-US" sz="2700" kern="1200" dirty="0">
                <a:solidFill>
                  <a:schemeClr val="tx1">
                    <a:lumMod val="85000"/>
                    <a:lumOff val="15000"/>
                  </a:schemeClr>
                </a:solidFill>
                <a:latin typeface="+mj-lt"/>
                <a:ea typeface="+mj-ea"/>
                <a:cs typeface="+mj-cs"/>
              </a:rPr>
              <a:t>-year graduation rate increased from 38% to 63%  </a:t>
            </a:r>
            <a:br>
              <a:rPr lang="en-US" sz="2700" kern="1200" dirty="0">
                <a:solidFill>
                  <a:schemeClr val="tx1">
                    <a:lumMod val="85000"/>
                    <a:lumOff val="15000"/>
                  </a:schemeClr>
                </a:solidFill>
                <a:latin typeface="+mj-lt"/>
                <a:ea typeface="+mj-ea"/>
                <a:cs typeface="+mj-cs"/>
              </a:rPr>
            </a:br>
            <a:r>
              <a:rPr lang="en-US" sz="2700" kern="1200" dirty="0">
                <a:solidFill>
                  <a:schemeClr val="tx1">
                    <a:lumMod val="85000"/>
                    <a:lumOff val="15000"/>
                  </a:schemeClr>
                </a:solidFill>
                <a:latin typeface="+mj-lt"/>
                <a:ea typeface="+mj-ea"/>
                <a:cs typeface="+mj-cs"/>
              </a:rPr>
              <a:t>Student drop out rate decreased from 23% to 3%</a:t>
            </a:r>
            <a:br>
              <a:rPr lang="en-US" sz="900" kern="1200" dirty="0">
                <a:solidFill>
                  <a:schemeClr val="tx1">
                    <a:lumMod val="85000"/>
                    <a:lumOff val="15000"/>
                  </a:schemeClr>
                </a:solidFill>
                <a:latin typeface="+mj-lt"/>
                <a:ea typeface="+mj-ea"/>
                <a:cs typeface="+mj-cs"/>
              </a:rPr>
            </a:br>
            <a:endParaRPr lang="en-US" sz="900" kern="1200" dirty="0">
              <a:solidFill>
                <a:schemeClr val="tx1">
                  <a:lumMod val="85000"/>
                  <a:lumOff val="15000"/>
                </a:schemeClr>
              </a:solidFill>
              <a:latin typeface="+mj-lt"/>
              <a:ea typeface="+mj-ea"/>
              <a:cs typeface="+mj-cs"/>
            </a:endParaRPr>
          </a:p>
        </p:txBody>
      </p:sp>
      <p:pic>
        <p:nvPicPr>
          <p:cNvPr id="5" name="Content Placeholder 4" descr="A graph of a graph showing the amount of dropout rate&#10;&#10;Description automatically generated">
            <a:extLst>
              <a:ext uri="{FF2B5EF4-FFF2-40B4-BE49-F238E27FC236}">
                <a16:creationId xmlns:a16="http://schemas.microsoft.com/office/drawing/2014/main" id="{40B0E646-6112-555A-8380-BCE7A471B35E}"/>
              </a:ext>
            </a:extLst>
          </p:cNvPr>
          <p:cNvPicPr>
            <a:picLocks noGrp="1" noChangeAspect="1"/>
          </p:cNvPicPr>
          <p:nvPr>
            <p:ph idx="1"/>
          </p:nvPr>
        </p:nvPicPr>
        <p:blipFill>
          <a:blip r:embed="rId2"/>
          <a:stretch>
            <a:fillRect/>
          </a:stretch>
        </p:blipFill>
        <p:spPr>
          <a:xfrm>
            <a:off x="1301866" y="178083"/>
            <a:ext cx="9588265" cy="4650309"/>
          </a:xfrm>
          <a:prstGeom prst="rect">
            <a:avLst/>
          </a:prstGeom>
        </p:spPr>
      </p:pic>
    </p:spTree>
    <p:extLst>
      <p:ext uri="{BB962C8B-B14F-4D97-AF65-F5344CB8AC3E}">
        <p14:creationId xmlns:p14="http://schemas.microsoft.com/office/powerpoint/2010/main" val="3006510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15946</TotalTime>
  <Words>1597</Words>
  <Application>Microsoft Office PowerPoint</Application>
  <PresentationFormat>Widescreen</PresentationFormat>
  <Paragraphs>143</Paragraphs>
  <Slides>39</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Lexia</vt:lpstr>
      <vt:lpstr>Office Theme</vt:lpstr>
      <vt:lpstr>Student Assessment Data </vt:lpstr>
      <vt:lpstr>Reviewing Consistent Measures Over Time </vt:lpstr>
      <vt:lpstr>SAT 11 </vt:lpstr>
      <vt:lpstr>SAT Grade 11 </vt:lpstr>
      <vt:lpstr>PowerPoint Presentation</vt:lpstr>
      <vt:lpstr>PowerPoint Presentation</vt:lpstr>
      <vt:lpstr>PowerPoint Presentation</vt:lpstr>
      <vt:lpstr>PowerPoint Presentation</vt:lpstr>
      <vt:lpstr>Using Data to Inform Instruction</vt:lpstr>
      <vt:lpstr>SAT/PSAT Subcategory Data</vt:lpstr>
      <vt:lpstr>SAT Math Subcategory Definitions </vt:lpstr>
      <vt:lpstr>SAT Subcategory Comparison - Math </vt:lpstr>
      <vt:lpstr>SAT Evidence Based Reading and Writing  Subcategory Definitions </vt:lpstr>
      <vt:lpstr>SAT Subcategory Comparison Evidence Based Reading &amp; Writing  </vt:lpstr>
      <vt:lpstr>Math Benchmarking</vt:lpstr>
      <vt:lpstr>PSAT 8 &amp; NWEA</vt:lpstr>
      <vt:lpstr>PSAT 8 Subcategory Comparison - Math </vt:lpstr>
      <vt:lpstr>PSAT 8 Subcategory Comparison Evidence Based Reading &amp; Writing </vt:lpstr>
      <vt:lpstr>Oakland County Performance Data</vt:lpstr>
      <vt:lpstr>MSTEP 3-8 </vt:lpstr>
      <vt:lpstr>Oakland County Performance  ELA MSTEP 3-8</vt:lpstr>
      <vt:lpstr>Oakland County Performance  Math MSTEP 3-8</vt:lpstr>
      <vt:lpstr>Oakland County Performance  PSAT 8</vt:lpstr>
      <vt:lpstr>Oakland County Performance  SAT 11</vt:lpstr>
      <vt:lpstr>Oakland County Performance  SAT 11 EBRW with ED</vt:lpstr>
      <vt:lpstr>Oakland County Performance  SAT 11 Math with ED</vt:lpstr>
      <vt:lpstr>PowerPoint Presentation</vt:lpstr>
      <vt:lpstr>PowerPoint Presentation</vt:lpstr>
      <vt:lpstr>Peer District Comparison Data </vt:lpstr>
      <vt:lpstr>How are “peer” districts selected?</vt:lpstr>
      <vt:lpstr>Peer District Performance PSAT 8 &amp; SAT 11  </vt:lpstr>
      <vt:lpstr>Peer District Performance MSTEP 3-7</vt:lpstr>
      <vt:lpstr>Celebrations </vt:lpstr>
      <vt:lpstr>International Baccalaureate Diploma Programme </vt:lpstr>
      <vt:lpstr>International Academy East –  IB Diploma Acquisition Rate </vt:lpstr>
      <vt:lpstr>Advanced Placement Courses </vt:lpstr>
      <vt:lpstr>College Culture: Percent of students in the graduating class who took an AP exam at any point in high school, regardless of score.   College Credit: Percent of students in the graduating class who scored 3 or higher on any AP Exam in high school.   College Optimization: Percent of students in the graduating class who took 5 or more AP Exams in high school, where at least 1 exam was taken in 9th or 10th grade.  Research finds that 6 or more APs do not improve college graduation rates beyond the optimal total of 5 such courses in high school.  The Honor Roll also recognizes schools that encourage students earlier on their AP journey so as not to overload them with AP courses their junior and senior years. </vt:lpstr>
      <vt:lpstr>Graduation Rate –  Troy College and Career High School </vt:lpstr>
      <vt:lpstr>Troy College and Career High School:  From 2017/18 to 2021/22 4-year graduation rate increased from 38% to 63%   Student drop out rate decreased from 23% to 3%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Culture: Percent of students in the graduating class who took an AP exam at any point in high school, regardless of score.   College Credit: Percent of students in the graduating class who scored 3 or higher on any AP Exam in high school.   College Optimization: Percent of students in the graduating class who took 5 or more AP Exams in high school, where at least 1 exam was taken in 9th or 10th grade.  Research finds that 6 or more APs do not improve college graduation rates beyond the optimal total of 5 such courses in high school.  The Honor Roll also recognizes schools that encourage students earlier on their AP journey so as not to overload them with AP courses their junior and senior years.</dc:title>
  <dc:creator>DiPilato, Christine</dc:creator>
  <cp:lastModifiedBy>Holmes, Judy</cp:lastModifiedBy>
  <cp:revision>6</cp:revision>
  <cp:lastPrinted>2023-11-14T21:33:11Z</cp:lastPrinted>
  <dcterms:created xsi:type="dcterms:W3CDTF">2023-11-03T18:14:21Z</dcterms:created>
  <dcterms:modified xsi:type="dcterms:W3CDTF">2023-11-14T21:33:22Z</dcterms:modified>
</cp:coreProperties>
</file>